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Validation Accuracy %</c:v>
                </c:pt>
              </c:strCache>
            </c:strRef>
          </c:tx>
          <c:spPr>
            <a:solidFill>
              <a:srgbClr val="3B82F6"/>
            </a:solidFill>
            <a:effectLst/>
          </c:spPr>
          <c:invertIfNegative val="0"/>
          <c:dPt>
            <c:idx val="0"/>
            <c:invertIfNegative val="0"/>
            <c:bubble3D val="0"/>
            <c:extLst>
              <c:ext xmlns:c16="http://schemas.microsoft.com/office/drawing/2014/chart" uri="{C3380CC4-5D6E-409C-BE32-E72D297353CC}">
                <c16:uniqueId val="{00000001-B864-40D9-80CA-5EA9D8628490}"/>
              </c:ext>
            </c:extLst>
          </c:dPt>
          <c:dPt>
            <c:idx val="1"/>
            <c:invertIfNegative val="0"/>
            <c:bubble3D val="0"/>
            <c:spPr>
              <a:solidFill>
                <a:srgbClr val="6366F1"/>
              </a:solidFill>
              <a:effectLst/>
            </c:spPr>
            <c:extLst>
              <c:ext xmlns:c16="http://schemas.microsoft.com/office/drawing/2014/chart" uri="{C3380CC4-5D6E-409C-BE32-E72D297353CC}">
                <c16:uniqueId val="{00000003-B864-40D9-80CA-5EA9D8628490}"/>
              </c:ext>
            </c:extLst>
          </c:dPt>
          <c:dPt>
            <c:idx val="2"/>
            <c:invertIfNegative val="0"/>
            <c:bubble3D val="0"/>
            <c:spPr>
              <a:solidFill>
                <a:srgbClr val="10B981"/>
              </a:solidFill>
              <a:effectLst/>
            </c:spPr>
            <c:extLst>
              <c:ext xmlns:c16="http://schemas.microsoft.com/office/drawing/2014/chart" uri="{C3380CC4-5D6E-409C-BE32-E72D297353CC}">
                <c16:uniqueId val="{00000005-B864-40D9-80CA-5EA9D8628490}"/>
              </c:ext>
            </c:extLst>
          </c:dPt>
          <c:dPt>
            <c:idx val="3"/>
            <c:invertIfNegative val="0"/>
            <c:bubble3D val="0"/>
            <c:spPr>
              <a:solidFill>
                <a:srgbClr val="0EA5E9"/>
              </a:solidFill>
              <a:effectLst/>
            </c:spPr>
            <c:extLst>
              <c:ext xmlns:c16="http://schemas.microsoft.com/office/drawing/2014/chart" uri="{C3380CC4-5D6E-409C-BE32-E72D297353CC}">
                <c16:uniqueId val="{00000007-B864-40D9-80CA-5EA9D8628490}"/>
              </c:ext>
            </c:extLst>
          </c:dPt>
          <c:dLbls>
            <c:numFmt formatCode="#,##0" sourceLinked="0"/>
            <c:spPr>
              <a:noFill/>
              <a:ln>
                <a:noFill/>
              </a:ln>
              <a:effectLst/>
            </c:spPr>
            <c:txPr>
              <a:bodyPr/>
              <a:lstStyle/>
              <a:p>
                <a:pPr>
                  <a:defRPr sz="800" b="0" i="0" u="none" strike="noStrike">
                    <a:solidFill>
                      <a:srgbClr val="1E293B"/>
                    </a:solidFill>
                    <a:latin typeface="Arial"/>
                  </a:defRPr>
                </a:pPr>
                <a:endParaRPr lang="en-U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SVM
(RBF)</c:v>
                </c:pt>
                <c:pt idx="2">
                  <c:v>Random
Forest</c:v>
                </c:pt>
                <c:pt idx="3">
                  <c:v>XGBoost</c:v>
                </c:pt>
              </c:strCache>
            </c:strRef>
          </c:cat>
          <c:val>
            <c:numRef>
              <c:f>Sheet1!$B$2:$B$5</c:f>
              <c:numCache>
                <c:formatCode>General</c:formatCode>
                <c:ptCount val="4"/>
                <c:pt idx="0">
                  <c:v>89.15</c:v>
                </c:pt>
                <c:pt idx="1">
                  <c:v>97.26</c:v>
                </c:pt>
                <c:pt idx="2">
                  <c:v>99.82</c:v>
                </c:pt>
                <c:pt idx="3">
                  <c:v>99.88</c:v>
                </c:pt>
              </c:numCache>
            </c:numRef>
          </c:val>
          <c:extLst>
            <c:ext xmlns:c16="http://schemas.microsoft.com/office/drawing/2014/chart" uri="{C3380CC4-5D6E-409C-BE32-E72D297353CC}">
              <c16:uniqueId val="{00000008-B864-40D9-80CA-5EA9D862849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G"/>
          </a:p>
        </c:txPr>
        <c:crossAx val="2094734552"/>
        <c:crosses val="autoZero"/>
        <c:auto val="1"/>
        <c:lblAlgn val="ctr"/>
        <c:lblOffset val="100"/>
        <c:noMultiLvlLbl val="1"/>
      </c:catAx>
      <c:valAx>
        <c:axId val="2094734552"/>
        <c:scaling>
          <c:orientation val="minMax"/>
          <c:max val="101"/>
          <c:min val="8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G"/>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F1-Weighted</c:v>
                </c:pt>
              </c:strCache>
            </c:strRef>
          </c:tx>
          <c:spPr>
            <a:solidFill>
              <a:srgbClr val="64748B"/>
            </a:solidFill>
            <a:effectLst/>
          </c:spPr>
          <c:invertIfNegative val="0"/>
          <c:dPt>
            <c:idx val="0"/>
            <c:invertIfNegative val="0"/>
            <c:bubble3D val="0"/>
            <c:extLst>
              <c:ext xmlns:c16="http://schemas.microsoft.com/office/drawing/2014/chart" uri="{C3380CC4-5D6E-409C-BE32-E72D297353CC}">
                <c16:uniqueId val="{00000001-D92F-4E20-8510-3ADC47624C42}"/>
              </c:ext>
            </c:extLst>
          </c:dPt>
          <c:dPt>
            <c:idx val="1"/>
            <c:invertIfNegative val="0"/>
            <c:bubble3D val="0"/>
            <c:spPr>
              <a:solidFill>
                <a:srgbClr val="0EA5E9"/>
              </a:solidFill>
              <a:effectLst/>
            </c:spPr>
            <c:extLst>
              <c:ext xmlns:c16="http://schemas.microsoft.com/office/drawing/2014/chart" uri="{C3380CC4-5D6E-409C-BE32-E72D297353CC}">
                <c16:uniqueId val="{00000003-D92F-4E20-8510-3ADC47624C42}"/>
              </c:ext>
            </c:extLst>
          </c:dPt>
          <c:dPt>
            <c:idx val="2"/>
            <c:invertIfNegative val="0"/>
            <c:bubble3D val="0"/>
            <c:spPr>
              <a:solidFill>
                <a:srgbClr val="10B981"/>
              </a:solidFill>
              <a:effectLst/>
            </c:spPr>
            <c:extLst>
              <c:ext xmlns:c16="http://schemas.microsoft.com/office/drawing/2014/chart" uri="{C3380CC4-5D6E-409C-BE32-E72D297353CC}">
                <c16:uniqueId val="{00000005-D92F-4E20-8510-3ADC47624C42}"/>
              </c:ext>
            </c:extLst>
          </c:dPt>
          <c:dLbls>
            <c:numFmt formatCode="#,##0" sourceLinked="0"/>
            <c:spPr>
              <a:noFill/>
              <a:ln>
                <a:noFill/>
              </a:ln>
              <a:effectLst/>
            </c:spPr>
            <c:txPr>
              <a:bodyPr/>
              <a:lstStyle/>
              <a:p>
                <a:pPr>
                  <a:defRPr sz="900" b="0" i="0" u="none" strike="noStrike">
                    <a:solidFill>
                      <a:srgbClr val="1E293B"/>
                    </a:solidFill>
                    <a:latin typeface="Arial"/>
                  </a:defRPr>
                </a:pPr>
                <a:endParaRPr lang="en-U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XGBoost</c:v>
                </c:pt>
                <c:pt idx="2">
                  <c:v>Random
Forest</c:v>
                </c:pt>
              </c:strCache>
            </c:strRef>
          </c:cat>
          <c:val>
            <c:numRef>
              <c:f>Sheet1!$B$2:$B$4</c:f>
              <c:numCache>
                <c:formatCode>General</c:formatCode>
                <c:ptCount val="3"/>
                <c:pt idx="0">
                  <c:v>0.90200000000000002</c:v>
                </c:pt>
                <c:pt idx="1">
                  <c:v>0.99250000000000005</c:v>
                </c:pt>
                <c:pt idx="2">
                  <c:v>0.99299999999999999</c:v>
                </c:pt>
              </c:numCache>
            </c:numRef>
          </c:val>
          <c:extLst>
            <c:ext xmlns:c16="http://schemas.microsoft.com/office/drawing/2014/chart" uri="{C3380CC4-5D6E-409C-BE32-E72D297353CC}">
              <c16:uniqueId val="{00000006-D92F-4E20-8510-3ADC47624C42}"/>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G"/>
          </a:p>
        </c:txPr>
        <c:crossAx val="2094734552"/>
        <c:crosses val="autoZero"/>
        <c:auto val="1"/>
        <c:lblAlgn val="ctr"/>
        <c:lblOffset val="100"/>
        <c:noMultiLvlLbl val="1"/>
      </c:catAx>
      <c:valAx>
        <c:axId val="2094734552"/>
        <c:scaling>
          <c:orientation val="minMax"/>
          <c:max val="1.02"/>
          <c:min val="0.8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G"/>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0EA5E9"/>
            </a:solidFill>
            <a:effectLst/>
          </c:spPr>
          <c:invertIfNegative val="0"/>
          <c:dLbls>
            <c:numFmt formatCode="#,##0" sourceLinked="0"/>
            <c:spPr>
              <a:noFill/>
              <a:ln>
                <a:noFill/>
              </a:ln>
              <a:effectLst/>
            </c:spPr>
            <c:txPr>
              <a:bodyPr/>
              <a:lstStyle/>
              <a:p>
                <a:pPr>
                  <a:defRPr sz="700" b="0" i="0" u="none" strike="noStrike">
                    <a:solidFill>
                      <a:srgbClr val="1E293B"/>
                    </a:solidFill>
                    <a:latin typeface="Arial"/>
                  </a:defRPr>
                </a:pPr>
                <a:endParaRPr lang="en-U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src_bytes</c:v>
                </c:pt>
                <c:pt idx="1">
                  <c:v>service</c:v>
                </c:pt>
                <c:pt idx="2">
                  <c:v>dst_bytes</c:v>
                </c:pt>
                <c:pt idx="3">
                  <c:v>dst_host_srv_count</c:v>
                </c:pt>
                <c:pt idx="4">
                  <c:v>logged_in</c:v>
                </c:pt>
                <c:pt idx="5">
                  <c:v>count</c:v>
                </c:pt>
                <c:pt idx="6">
                  <c:v>serror_rate</c:v>
                </c:pt>
                <c:pt idx="7">
                  <c:v>same_srv_rate</c:v>
                </c:pt>
                <c:pt idx="8">
                  <c:v>dst_host_count</c:v>
                </c:pt>
                <c:pt idx="9">
                  <c:v>dst_host_serror_rate</c:v>
                </c:pt>
                <c:pt idx="10">
                  <c:v>diff_srv_rate</c:v>
                </c:pt>
                <c:pt idx="11">
                  <c:v>flag</c:v>
                </c:pt>
              </c:strCache>
            </c:strRef>
          </c:cat>
          <c:val>
            <c:numRef>
              <c:f>Sheet1!$B$2:$B$13</c:f>
              <c:numCache>
                <c:formatCode>General</c:formatCode>
                <c:ptCount val="12"/>
                <c:pt idx="0">
                  <c:v>0.14799999999999999</c:v>
                </c:pt>
                <c:pt idx="1">
                  <c:v>0.105</c:v>
                </c:pt>
                <c:pt idx="2">
                  <c:v>0.10100000000000001</c:v>
                </c:pt>
                <c:pt idx="3">
                  <c:v>0.1</c:v>
                </c:pt>
                <c:pt idx="4">
                  <c:v>0.06</c:v>
                </c:pt>
                <c:pt idx="5">
                  <c:v>5.5E-2</c:v>
                </c:pt>
                <c:pt idx="6">
                  <c:v>5.1999999999999998E-2</c:v>
                </c:pt>
                <c:pt idx="7">
                  <c:v>4.8000000000000001E-2</c:v>
                </c:pt>
                <c:pt idx="8">
                  <c:v>4.3999999999999997E-2</c:v>
                </c:pt>
                <c:pt idx="9">
                  <c:v>4.1000000000000002E-2</c:v>
                </c:pt>
                <c:pt idx="10">
                  <c:v>3.7999999999999999E-2</c:v>
                </c:pt>
                <c:pt idx="11">
                  <c:v>3.5000000000000003E-2</c:v>
                </c:pt>
              </c:numCache>
            </c:numRef>
          </c:val>
          <c:extLst>
            <c:ext xmlns:c16="http://schemas.microsoft.com/office/drawing/2014/chart" uri="{C3380CC4-5D6E-409C-BE32-E72D297353CC}">
              <c16:uniqueId val="{00000000-05E7-4365-976D-BADCC7904DC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4155"/>
                </a:solidFill>
                <a:latin typeface="Arial"/>
              </a:defRPr>
            </a:pPr>
            <a:endParaRPr lang="en-UG"/>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G"/>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202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EA5E9"/>
          </a:solidFill>
          <a:ln/>
        </p:spPr>
      </p:sp>
      <p:sp>
        <p:nvSpPr>
          <p:cNvPr id="4" name="Text 2"/>
          <p:cNvSpPr/>
          <p:nvPr/>
        </p:nvSpPr>
        <p:spPr>
          <a:xfrm>
            <a:off x="274320" y="1306629"/>
            <a:ext cx="8229600" cy="2743200"/>
          </a:xfrm>
          <a:prstGeom prst="rect">
            <a:avLst/>
          </a:prstGeom>
          <a:noFill/>
          <a:ln/>
        </p:spPr>
        <p:txBody>
          <a:bodyPr wrap="square" rtlCol="0" anchor="ctr"/>
          <a:lstStyle/>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Hybrid Machine Learning-Based</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Network Intrusion Detection</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&amp; Risk Scoring System</a:t>
            </a:r>
            <a:endParaRPr lang="en-US" sz="4400" dirty="0"/>
          </a:p>
        </p:txBody>
      </p:sp>
      <p:sp>
        <p:nvSpPr>
          <p:cNvPr id="5" name="Shape 3"/>
          <p:cNvSpPr/>
          <p:nvPr/>
        </p:nvSpPr>
        <p:spPr>
          <a:xfrm>
            <a:off x="365760" y="4179771"/>
            <a:ext cx="2743200" cy="45720"/>
          </a:xfrm>
          <a:prstGeom prst="rect">
            <a:avLst/>
          </a:prstGeom>
          <a:solidFill>
            <a:srgbClr val="0EA5E9"/>
          </a:solidFill>
          <a:ln/>
        </p:spPr>
      </p:sp>
      <p:sp>
        <p:nvSpPr>
          <p:cNvPr id="6" name="Text 4"/>
          <p:cNvSpPr/>
          <p:nvPr/>
        </p:nvSpPr>
        <p:spPr>
          <a:xfrm>
            <a:off x="365760" y="4179771"/>
            <a:ext cx="8229600" cy="1737360"/>
          </a:xfrm>
          <a:prstGeom prst="rect">
            <a:avLst/>
          </a:prstGeom>
          <a:noFill/>
          <a:ln/>
        </p:spPr>
        <p:txBody>
          <a:bodyPr wrap="square" rtlCol="0" anchor="ctr"/>
          <a:lstStyle/>
          <a:p>
            <a:pPr marL="0" indent="0">
              <a:lnSpc>
                <a:spcPct val="150000"/>
              </a:lnSpc>
              <a:buNone/>
            </a:pPr>
            <a:r>
              <a:rPr lang="en-US" sz="1600" b="1" dirty="0">
                <a:solidFill>
                  <a:srgbClr val="0EA5E9"/>
                </a:solidFill>
                <a:latin typeface="Calibri" pitchFamily="34" charset="0"/>
                <a:ea typeface="Calibri" pitchFamily="34" charset="-122"/>
                <a:cs typeface="Calibri" pitchFamily="34" charset="-120"/>
              </a:rPr>
              <a:t>Dataset: </a:t>
            </a:r>
            <a:r>
              <a:rPr lang="en-US" sz="1600" dirty="0">
                <a:solidFill>
                  <a:srgbClr val="94A3B8"/>
                </a:solidFill>
                <a:latin typeface="Calibri" pitchFamily="34" charset="0"/>
                <a:ea typeface="Calibri" pitchFamily="34" charset="-122"/>
                <a:cs typeface="Calibri" pitchFamily="34" charset="-120"/>
              </a:rPr>
              <a:t>NSL-KDD (KDDTrain+.txt / KDDTest+.txt)
</a:t>
            </a:r>
            <a:r>
              <a:rPr lang="en-US" sz="1600" b="1" dirty="0">
                <a:solidFill>
                  <a:srgbClr val="0EA5E9"/>
                </a:solidFill>
                <a:latin typeface="Calibri" pitchFamily="34" charset="0"/>
                <a:ea typeface="Calibri" pitchFamily="34" charset="-122"/>
                <a:cs typeface="Calibri" pitchFamily="34" charset="-120"/>
              </a:rPr>
              <a:t>Approach: </a:t>
            </a:r>
            <a:r>
              <a:rPr lang="en-US" sz="1600" dirty="0">
                <a:solidFill>
                  <a:srgbClr val="94A3B8"/>
                </a:solidFill>
                <a:latin typeface="Calibri" pitchFamily="34" charset="0"/>
                <a:ea typeface="Calibri" pitchFamily="34" charset="-122"/>
                <a:cs typeface="Calibri" pitchFamily="34" charset="-120"/>
              </a:rPr>
              <a:t>Hybrid Supervised + Unsupervised ML
</a:t>
            </a:r>
            <a:r>
              <a:rPr lang="en-US" sz="1600" b="1" dirty="0">
                <a:solidFill>
                  <a:srgbClr val="0EA5E9"/>
                </a:solidFill>
                <a:latin typeface="Calibri" pitchFamily="34" charset="0"/>
                <a:ea typeface="Calibri" pitchFamily="34" charset="-122"/>
                <a:cs typeface="Calibri" pitchFamily="34" charset="-120"/>
              </a:rPr>
              <a:t>Tools: </a:t>
            </a:r>
            <a:r>
              <a:rPr lang="en-US" sz="1600" dirty="0">
                <a:solidFill>
                  <a:srgbClr val="94A3B8"/>
                </a:solidFill>
                <a:latin typeface="Calibri" pitchFamily="34" charset="0"/>
                <a:ea typeface="Calibri" pitchFamily="34" charset="-122"/>
                <a:cs typeface="Calibri" pitchFamily="34" charset="-120"/>
              </a:rPr>
              <a:t>Python · scikit-learn · XGBoost · Pandas · Matplotlib</a:t>
            </a:r>
            <a:endParaRPr lang="en-US" sz="1600" dirty="0"/>
          </a:p>
        </p:txBody>
      </p:sp>
      <p:sp>
        <p:nvSpPr>
          <p:cNvPr id="7" name="Shape 5"/>
          <p:cNvSpPr/>
          <p:nvPr/>
        </p:nvSpPr>
        <p:spPr>
          <a:xfrm>
            <a:off x="8778240" y="914400"/>
            <a:ext cx="2926080" cy="2926080"/>
          </a:xfrm>
          <a:prstGeom prst="ellipse">
            <a:avLst/>
          </a:prstGeom>
          <a:solidFill>
            <a:srgbClr val="0EA5E9">
              <a:alpha val="15000"/>
            </a:srgbClr>
          </a:solidFill>
          <a:ln/>
        </p:spPr>
      </p:sp>
      <p:sp>
        <p:nvSpPr>
          <p:cNvPr id="8" name="Shape 6"/>
          <p:cNvSpPr/>
          <p:nvPr/>
        </p:nvSpPr>
        <p:spPr>
          <a:xfrm>
            <a:off x="9052560" y="1188720"/>
            <a:ext cx="2377440" cy="2377440"/>
          </a:xfrm>
          <a:prstGeom prst="ellipse">
            <a:avLst/>
          </a:prstGeom>
          <a:solidFill>
            <a:srgbClr val="0EA5E9">
              <a:alpha val="30000"/>
            </a:srgbClr>
          </a:solidFill>
          <a:ln/>
        </p:spPr>
      </p:sp>
      <p:sp>
        <p:nvSpPr>
          <p:cNvPr id="9" name="Shape 7"/>
          <p:cNvSpPr/>
          <p:nvPr/>
        </p:nvSpPr>
        <p:spPr>
          <a:xfrm>
            <a:off x="9418320" y="1554480"/>
            <a:ext cx="1645920" cy="1828800"/>
          </a:xfrm>
          <a:prstGeom prst="roundRect">
            <a:avLst>
              <a:gd name="adj" fmla="val 16667"/>
            </a:avLst>
          </a:prstGeom>
          <a:solidFill>
            <a:srgbClr val="0EA5E9"/>
          </a:solidFill>
          <a:ln/>
        </p:spPr>
      </p:sp>
      <p:sp>
        <p:nvSpPr>
          <p:cNvPr id="10" name="Shape 8"/>
          <p:cNvSpPr/>
          <p:nvPr/>
        </p:nvSpPr>
        <p:spPr>
          <a:xfrm>
            <a:off x="9601200" y="1783080"/>
            <a:ext cx="1234440" cy="1371600"/>
          </a:xfrm>
          <a:prstGeom prst="roundRect">
            <a:avLst>
              <a:gd name="adj" fmla="val 14815"/>
            </a:avLst>
          </a:prstGeom>
          <a:solidFill>
            <a:srgbClr val="065A82"/>
          </a:solidFill>
          <a:ln/>
        </p:spPr>
      </p:sp>
      <p:sp>
        <p:nvSpPr>
          <p:cNvPr id="11" name="Text 9"/>
          <p:cNvSpPr/>
          <p:nvPr/>
        </p:nvSpPr>
        <p:spPr>
          <a:xfrm>
            <a:off x="9601200" y="1920240"/>
            <a:ext cx="1234440" cy="914400"/>
          </a:xfrm>
          <a:prstGeom prst="rect">
            <a:avLst/>
          </a:prstGeom>
          <a:noFill/>
          <a:ln/>
        </p:spPr>
        <p:txBody>
          <a:bodyPr wrap="square" rtlCol="0" anchor="ctr"/>
          <a:lstStyle/>
          <a:p>
            <a:pPr marL="0" indent="0" algn="ctr">
              <a:buNone/>
            </a:pPr>
            <a:r>
              <a:rPr lang="en-US" sz="3200" b="1" dirty="0">
                <a:solidFill>
                  <a:srgbClr val="FFFFFF"/>
                </a:solidFill>
              </a:rPr>
              <a:t>✓</a:t>
            </a:r>
            <a:endParaRPr lang="en-US" sz="3200" dirty="0"/>
          </a:p>
        </p:txBody>
      </p:sp>
      <p:sp>
        <p:nvSpPr>
          <p:cNvPr id="12" name="Text 10"/>
          <p:cNvSpPr/>
          <p:nvPr/>
        </p:nvSpPr>
        <p:spPr>
          <a:xfrm>
            <a:off x="4480560" y="777240"/>
            <a:ext cx="3657600" cy="274320"/>
          </a:xfrm>
          <a:prstGeom prst="rect">
            <a:avLst/>
          </a:prstGeom>
          <a:noFill/>
          <a:ln/>
        </p:spPr>
        <p:txBody>
          <a:bodyPr wrap="square" rtlCol="0" anchor="ctr"/>
          <a:lstStyle/>
          <a:p>
            <a:pPr marL="0" indent="0">
              <a:buNone/>
            </a:pPr>
            <a:r>
              <a:rPr lang="en-US" sz="4000" b="1" dirty="0">
                <a:solidFill>
                  <a:srgbClr val="94A3B8"/>
                </a:solidFill>
              </a:rPr>
              <a:t>GROUP B</a:t>
            </a:r>
            <a:endParaRPr lang="en-US"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01 · INTRODUCTION</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The Problem: Modern Networks Are Under Attack</a:t>
            </a:r>
            <a:endParaRPr lang="en-US" sz="2600" dirty="0"/>
          </a:p>
        </p:txBody>
      </p:sp>
      <p:sp>
        <p:nvSpPr>
          <p:cNvPr id="5" name="Shape 3"/>
          <p:cNvSpPr/>
          <p:nvPr/>
        </p:nvSpPr>
        <p:spPr>
          <a:xfrm>
            <a:off x="365760" y="1298448"/>
            <a:ext cx="5486400" cy="173736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1298448"/>
            <a:ext cx="64008" cy="1737360"/>
          </a:xfrm>
          <a:prstGeom prst="rect">
            <a:avLst/>
          </a:prstGeom>
          <a:solidFill>
            <a:srgbClr val="0EA5E9"/>
          </a:solidFill>
          <a:ln/>
        </p:spPr>
      </p:sp>
      <p:sp>
        <p:nvSpPr>
          <p:cNvPr id="7" name="Text 5"/>
          <p:cNvSpPr/>
          <p:nvPr/>
        </p:nvSpPr>
        <p:spPr>
          <a:xfrm>
            <a:off x="566928" y="1435608"/>
            <a:ext cx="5120640" cy="292608"/>
          </a:xfrm>
          <a:prstGeom prst="rect">
            <a:avLst/>
          </a:prstGeom>
          <a:noFill/>
          <a:ln/>
        </p:spPr>
        <p:txBody>
          <a:bodyPr wrap="square" rtlCol="0" anchor="ctr"/>
          <a:lstStyle/>
          <a:p>
            <a:pPr marL="0" indent="0">
              <a:buNone/>
            </a:pPr>
            <a:r>
              <a:rPr lang="en-US" b="1" dirty="0">
                <a:solidFill>
                  <a:srgbClr val="0A1628"/>
                </a:solidFill>
              </a:rPr>
              <a:t>The Threat Landscape</a:t>
            </a:r>
            <a:endParaRPr lang="en-US" dirty="0"/>
          </a:p>
        </p:txBody>
      </p:sp>
      <p:sp>
        <p:nvSpPr>
          <p:cNvPr id="8" name="Text 6"/>
          <p:cNvSpPr/>
          <p:nvPr/>
        </p:nvSpPr>
        <p:spPr>
          <a:xfrm>
            <a:off x="566928" y="1773936"/>
            <a:ext cx="5120640" cy="1097280"/>
          </a:xfrm>
          <a:prstGeom prst="rect">
            <a:avLst/>
          </a:prstGeom>
          <a:noFill/>
          <a:ln/>
        </p:spPr>
        <p:txBody>
          <a:bodyPr wrap="square" rtlCol="0" anchor="ctr"/>
          <a:lstStyle/>
          <a:p>
            <a:pPr marL="0" indent="0">
              <a:lnSpc>
                <a:spcPct val="130000"/>
              </a:lnSpc>
              <a:buNone/>
            </a:pPr>
            <a:r>
              <a:rPr lang="en-US" sz="1600" dirty="0">
                <a:solidFill>
                  <a:srgbClr val="334155"/>
                </a:solidFill>
              </a:rPr>
              <a:t>Cyberattacks cause financial losses, data theft, and disruption of essential services worldwide. The scale and sophistication of attacks continues to grow.</a:t>
            </a:r>
            <a:endParaRPr lang="en-US" sz="1600" dirty="0"/>
          </a:p>
        </p:txBody>
      </p:sp>
      <p:sp>
        <p:nvSpPr>
          <p:cNvPr id="9" name="Shape 7"/>
          <p:cNvSpPr/>
          <p:nvPr/>
        </p:nvSpPr>
        <p:spPr>
          <a:xfrm>
            <a:off x="6263640" y="1298448"/>
            <a:ext cx="5486400" cy="173736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6263640" y="1298448"/>
            <a:ext cx="64008" cy="1737360"/>
          </a:xfrm>
          <a:prstGeom prst="rect">
            <a:avLst/>
          </a:prstGeom>
          <a:solidFill>
            <a:srgbClr val="0EA5E9"/>
          </a:solidFill>
          <a:ln/>
        </p:spPr>
      </p:sp>
      <p:sp>
        <p:nvSpPr>
          <p:cNvPr id="11" name="Text 9"/>
          <p:cNvSpPr/>
          <p:nvPr/>
        </p:nvSpPr>
        <p:spPr>
          <a:xfrm>
            <a:off x="6464808" y="1435608"/>
            <a:ext cx="5120640" cy="292608"/>
          </a:xfrm>
          <a:prstGeom prst="rect">
            <a:avLst/>
          </a:prstGeom>
          <a:noFill/>
          <a:ln/>
        </p:spPr>
        <p:txBody>
          <a:bodyPr wrap="square" rtlCol="0" anchor="ctr"/>
          <a:lstStyle/>
          <a:p>
            <a:pPr marL="0" indent="0">
              <a:buNone/>
            </a:pPr>
            <a:r>
              <a:rPr lang="en-US" b="1" dirty="0">
                <a:solidFill>
                  <a:srgbClr val="0A1628"/>
                </a:solidFill>
              </a:rPr>
              <a:t>Signature-Based IDS Fail</a:t>
            </a:r>
            <a:endParaRPr lang="en-US" dirty="0"/>
          </a:p>
        </p:txBody>
      </p:sp>
      <p:sp>
        <p:nvSpPr>
          <p:cNvPr id="12" name="Text 10"/>
          <p:cNvSpPr/>
          <p:nvPr/>
        </p:nvSpPr>
        <p:spPr>
          <a:xfrm>
            <a:off x="6464808" y="1773936"/>
            <a:ext cx="5120640" cy="1097280"/>
          </a:xfrm>
          <a:prstGeom prst="rect">
            <a:avLst/>
          </a:prstGeom>
          <a:noFill/>
          <a:ln/>
        </p:spPr>
        <p:txBody>
          <a:bodyPr wrap="square" rtlCol="0" anchor="ctr"/>
          <a:lstStyle/>
          <a:p>
            <a:pPr marL="0" indent="0">
              <a:lnSpc>
                <a:spcPct val="130000"/>
              </a:lnSpc>
              <a:buNone/>
            </a:pPr>
            <a:r>
              <a:rPr lang="en-US" sz="1600" dirty="0">
                <a:solidFill>
                  <a:srgbClr val="334155"/>
                </a:solidFill>
              </a:rPr>
              <a:t>Traditional intrusion detection relies on known attack signatures. These fail completely against zero-day attacks  novel threats with no prior signature.</a:t>
            </a:r>
            <a:endParaRPr lang="en-US" sz="1600" dirty="0"/>
          </a:p>
        </p:txBody>
      </p:sp>
      <p:sp>
        <p:nvSpPr>
          <p:cNvPr id="13" name="Shape 11"/>
          <p:cNvSpPr/>
          <p:nvPr/>
        </p:nvSpPr>
        <p:spPr>
          <a:xfrm>
            <a:off x="365760" y="3310128"/>
            <a:ext cx="5486400" cy="1737360"/>
          </a:xfrm>
          <a:prstGeom prst="rect">
            <a:avLst/>
          </a:prstGeom>
          <a:solidFill>
            <a:srgbClr val="FFFFFF"/>
          </a:solidFill>
          <a:ln/>
          <a:effectLst>
            <a:outerShdw blurRad="101600" dist="38100" dir="8100000" algn="bl" rotWithShape="0">
              <a:srgbClr val="000000">
                <a:alpha val="12000"/>
              </a:srgbClr>
            </a:outerShdw>
          </a:effectLst>
        </p:spPr>
      </p:sp>
      <p:sp>
        <p:nvSpPr>
          <p:cNvPr id="14" name="Shape 12"/>
          <p:cNvSpPr/>
          <p:nvPr/>
        </p:nvSpPr>
        <p:spPr>
          <a:xfrm>
            <a:off x="365760" y="3310128"/>
            <a:ext cx="64008" cy="1737360"/>
          </a:xfrm>
          <a:prstGeom prst="rect">
            <a:avLst/>
          </a:prstGeom>
          <a:solidFill>
            <a:srgbClr val="0EA5E9"/>
          </a:solidFill>
          <a:ln/>
        </p:spPr>
      </p:sp>
      <p:sp>
        <p:nvSpPr>
          <p:cNvPr id="15" name="Text 13"/>
          <p:cNvSpPr/>
          <p:nvPr/>
        </p:nvSpPr>
        <p:spPr>
          <a:xfrm>
            <a:off x="566928" y="3447288"/>
            <a:ext cx="5120640" cy="292608"/>
          </a:xfrm>
          <a:prstGeom prst="rect">
            <a:avLst/>
          </a:prstGeom>
          <a:noFill/>
          <a:ln/>
        </p:spPr>
        <p:txBody>
          <a:bodyPr wrap="square" rtlCol="0" anchor="ctr"/>
          <a:lstStyle/>
          <a:p>
            <a:pPr marL="0" indent="0">
              <a:buNone/>
            </a:pPr>
            <a:r>
              <a:rPr lang="en-US" b="1" dirty="0">
                <a:solidFill>
                  <a:srgbClr val="0A1628"/>
                </a:solidFill>
              </a:rPr>
              <a:t>The Zero-Day Gap</a:t>
            </a:r>
            <a:endParaRPr lang="en-US" dirty="0"/>
          </a:p>
        </p:txBody>
      </p:sp>
      <p:sp>
        <p:nvSpPr>
          <p:cNvPr id="16" name="Text 14"/>
          <p:cNvSpPr/>
          <p:nvPr/>
        </p:nvSpPr>
        <p:spPr>
          <a:xfrm>
            <a:off x="566928" y="3785616"/>
            <a:ext cx="5120640" cy="1097280"/>
          </a:xfrm>
          <a:prstGeom prst="rect">
            <a:avLst/>
          </a:prstGeom>
          <a:noFill/>
          <a:ln/>
        </p:spPr>
        <p:txBody>
          <a:bodyPr wrap="square" rtlCol="0" anchor="ctr"/>
          <a:lstStyle/>
          <a:p>
            <a:pPr marL="0" indent="0">
              <a:lnSpc>
                <a:spcPct val="130000"/>
              </a:lnSpc>
              <a:buNone/>
            </a:pPr>
            <a:r>
              <a:rPr lang="en-US" sz="1600" dirty="0">
                <a:solidFill>
                  <a:srgbClr val="334155"/>
                </a:solidFill>
              </a:rPr>
              <a:t>New or modified attack techniques evade signature systems entirely. This is one of the most serious unsolved problems in network security today.</a:t>
            </a:r>
            <a:endParaRPr lang="en-US" sz="1600" dirty="0"/>
          </a:p>
        </p:txBody>
      </p:sp>
      <p:sp>
        <p:nvSpPr>
          <p:cNvPr id="17" name="Shape 15"/>
          <p:cNvSpPr/>
          <p:nvPr/>
        </p:nvSpPr>
        <p:spPr>
          <a:xfrm>
            <a:off x="6263640" y="3310128"/>
            <a:ext cx="5486400" cy="173736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6263640" y="3310128"/>
            <a:ext cx="64008" cy="1737360"/>
          </a:xfrm>
          <a:prstGeom prst="rect">
            <a:avLst/>
          </a:prstGeom>
          <a:solidFill>
            <a:srgbClr val="10B981"/>
          </a:solidFill>
          <a:ln/>
        </p:spPr>
      </p:sp>
      <p:sp>
        <p:nvSpPr>
          <p:cNvPr id="19" name="Text 17"/>
          <p:cNvSpPr/>
          <p:nvPr/>
        </p:nvSpPr>
        <p:spPr>
          <a:xfrm>
            <a:off x="6464808" y="3447288"/>
            <a:ext cx="5120640" cy="292608"/>
          </a:xfrm>
          <a:prstGeom prst="rect">
            <a:avLst/>
          </a:prstGeom>
          <a:noFill/>
          <a:ln/>
        </p:spPr>
        <p:txBody>
          <a:bodyPr wrap="square" rtlCol="0" anchor="ctr"/>
          <a:lstStyle/>
          <a:p>
            <a:pPr marL="0" indent="0">
              <a:buNone/>
            </a:pPr>
            <a:r>
              <a:rPr lang="en-US" b="1" dirty="0">
                <a:solidFill>
                  <a:srgbClr val="0A1628"/>
                </a:solidFill>
              </a:rPr>
              <a:t>Our Solution</a:t>
            </a:r>
            <a:endParaRPr lang="en-US" dirty="0"/>
          </a:p>
        </p:txBody>
      </p:sp>
      <p:sp>
        <p:nvSpPr>
          <p:cNvPr id="20" name="Text 18"/>
          <p:cNvSpPr/>
          <p:nvPr/>
        </p:nvSpPr>
        <p:spPr>
          <a:xfrm>
            <a:off x="6464808" y="3785616"/>
            <a:ext cx="5120640" cy="1097280"/>
          </a:xfrm>
          <a:prstGeom prst="rect">
            <a:avLst/>
          </a:prstGeom>
          <a:noFill/>
          <a:ln/>
        </p:spPr>
        <p:txBody>
          <a:bodyPr wrap="square" rtlCol="0" anchor="ctr"/>
          <a:lstStyle/>
          <a:p>
            <a:pPr marL="0" indent="0">
              <a:lnSpc>
                <a:spcPct val="130000"/>
              </a:lnSpc>
              <a:buNone/>
            </a:pPr>
            <a:r>
              <a:rPr lang="en-US" sz="1600" dirty="0">
                <a:solidFill>
                  <a:srgbClr val="334155"/>
                </a:solidFill>
              </a:rPr>
              <a:t>A Hybrid ML system combining supervised classification and unsupervised anomaly detection  detecting both known and unknown (zero-day) threats in real time.</a:t>
            </a:r>
            <a:endParaRPr lang="en-US" sz="1600" dirty="0"/>
          </a:p>
        </p:txBody>
      </p:sp>
      <p:sp>
        <p:nvSpPr>
          <p:cNvPr id="21" name="Text 19"/>
          <p:cNvSpPr/>
          <p:nvPr/>
        </p:nvSpPr>
        <p:spPr>
          <a:xfrm>
            <a:off x="365760" y="6263640"/>
            <a:ext cx="11430000" cy="274320"/>
          </a:xfrm>
          <a:prstGeom prst="rect">
            <a:avLst/>
          </a:prstGeom>
          <a:noFill/>
          <a:ln/>
        </p:spPr>
        <p:txBody>
          <a:bodyPr wrap="square" rtlCol="0" anchor="ctr"/>
          <a:lstStyle/>
          <a:p>
            <a:pPr marL="0" indent="0">
              <a:buNone/>
            </a:pPr>
            <a:r>
              <a:rPr lang="en-US" sz="1400" i="1" dirty="0">
                <a:solidFill>
                  <a:srgbClr val="94A3B8"/>
                </a:solidFill>
              </a:rPr>
              <a:t>Goal: Detect and classify network intrusions, assign risk levels, and flag zero-day threats automatically.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02 · DATASET</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NSL-KDD Dataset — 5 Attack Categories</a:t>
            </a:r>
            <a:endParaRPr lang="en-US" sz="2600" dirty="0"/>
          </a:p>
        </p:txBody>
      </p:sp>
      <p:sp>
        <p:nvSpPr>
          <p:cNvPr id="5" name="Shape 3"/>
          <p:cNvSpPr/>
          <p:nvPr/>
        </p:nvSpPr>
        <p:spPr>
          <a:xfrm>
            <a:off x="365760" y="1261872"/>
            <a:ext cx="5669280" cy="2240280"/>
          </a:xfrm>
          <a:prstGeom prst="rect">
            <a:avLst/>
          </a:prstGeom>
          <a:solidFill>
            <a:srgbClr val="0F1D2E"/>
          </a:solidFill>
          <a:ln/>
        </p:spPr>
      </p:sp>
      <p:sp>
        <p:nvSpPr>
          <p:cNvPr id="6" name="Text 4"/>
          <p:cNvSpPr/>
          <p:nvPr/>
        </p:nvSpPr>
        <p:spPr>
          <a:xfrm>
            <a:off x="475488" y="1335024"/>
            <a:ext cx="5449824" cy="2002536"/>
          </a:xfrm>
          <a:prstGeom prst="rect">
            <a:avLst/>
          </a:prstGeom>
          <a:noFill/>
          <a:ln/>
        </p:spPr>
        <p:txBody>
          <a:bodyPr wrap="square" rtlCol="0" anchor="t"/>
          <a:lstStyle/>
          <a:p>
            <a:pPr marL="0" indent="0">
              <a:buNone/>
            </a:pPr>
            <a:r>
              <a:rPr lang="en-US" sz="900" dirty="0">
                <a:solidFill>
                  <a:srgbClr val="7DD3FC"/>
                </a:solidFill>
                <a:latin typeface="Consolas" pitchFamily="34" charset="0"/>
                <a:ea typeface="Consolas" pitchFamily="34" charset="-122"/>
                <a:cs typeface="Consolas" pitchFamily="34" charset="-120"/>
              </a:rPr>
              <a:t>COL_NAMES = ['duration','protocol_type','service','flag','src_bytes','dst_bytes',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'land','wrong_fragment','urgent','hot','num_failed_logins','logged_in', ...]</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ATTACK_MAP =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'normal':'Normal',</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'neptune':'DoS', 'back':'DoS', 'land':'DoS', 'pod':'DoS', 'smurf':'DoS',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'ipsweep':'Probe', 'nmap':'Probe', 'portsweep':'Probe', 'satan':'Probe',</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'ftp_write':'R2L', 'guess_passwd':'R2L', 'imap':'R2L', ...  # 37 attack types total</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'buffer_overflow':'U2R', 'loadmodule':'U2R', 'rootkit':'U2R',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train_df = pd.read_csv('KDDTrain+.txt.zip', names=COL_NAMES)   # 125,973 records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test_df  = pd.read_csv('KDDTest+.txt.zip',  names=COL_NAMES)   # 22,544 records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train_df['attack_category'] = train_df['attack'].map(ATTACK_MAP)</a:t>
            </a:r>
            <a:endParaRPr lang="en-US" sz="900" dirty="0"/>
          </a:p>
        </p:txBody>
      </p:sp>
      <p:sp>
        <p:nvSpPr>
          <p:cNvPr id="7" name="Shape 5"/>
          <p:cNvSpPr/>
          <p:nvPr/>
        </p:nvSpPr>
        <p:spPr>
          <a:xfrm>
            <a:off x="6263640" y="1261872"/>
            <a:ext cx="5486400" cy="2148840"/>
          </a:xfrm>
          <a:prstGeom prst="rect">
            <a:avLst/>
          </a:prstGeom>
          <a:solidFill>
            <a:srgbClr val="FFFFFF"/>
          </a:solidFill>
          <a:ln/>
          <a:effectLst>
            <a:outerShdw blurRad="101600" dist="38100" dir="8100000" algn="bl" rotWithShape="0">
              <a:srgbClr val="000000">
                <a:alpha val="12000"/>
              </a:srgbClr>
            </a:outerShdw>
          </a:effectLst>
        </p:spPr>
      </p:sp>
      <p:sp>
        <p:nvSpPr>
          <p:cNvPr id="8" name="Text 6"/>
          <p:cNvSpPr/>
          <p:nvPr/>
        </p:nvSpPr>
        <p:spPr>
          <a:xfrm>
            <a:off x="6400800" y="1371600"/>
            <a:ext cx="5212080" cy="274320"/>
          </a:xfrm>
          <a:prstGeom prst="rect">
            <a:avLst/>
          </a:prstGeom>
          <a:noFill/>
          <a:ln/>
        </p:spPr>
        <p:txBody>
          <a:bodyPr wrap="square" rtlCol="0" anchor="ctr"/>
          <a:lstStyle/>
          <a:p>
            <a:pPr marL="0" indent="0">
              <a:buNone/>
            </a:pPr>
            <a:r>
              <a:rPr lang="en-US" b="1" dirty="0">
                <a:solidFill>
                  <a:srgbClr val="0A1628"/>
                </a:solidFill>
              </a:rPr>
              <a:t>Training Set Class Distribution</a:t>
            </a:r>
            <a:endParaRPr lang="en-US" dirty="0"/>
          </a:p>
        </p:txBody>
      </p:sp>
      <p:graphicFrame>
        <p:nvGraphicFramePr>
          <p:cNvPr id="9" name="Table 0"/>
          <p:cNvGraphicFramePr>
            <a:graphicFrameLocks noGrp="1"/>
          </p:cNvGraphicFramePr>
          <p:nvPr>
            <p:extLst>
              <p:ext uri="{D42A27DB-BD31-4B8C-83A1-F6EECF244321}">
                <p14:modId xmlns:p14="http://schemas.microsoft.com/office/powerpoint/2010/main" val="1781613189"/>
              </p:ext>
            </p:extLst>
          </p:nvPr>
        </p:nvGraphicFramePr>
        <p:xfrm>
          <a:off x="6400800" y="1737360"/>
          <a:ext cx="5212080" cy="1554480"/>
        </p:xfrm>
        <a:graphic>
          <a:graphicData uri="http://schemas.openxmlformats.org/drawingml/2006/table">
            <a:tbl>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0">
                <a:tc>
                  <a:txBody>
                    <a:bodyPr/>
                    <a:lstStyle/>
                    <a:p>
                      <a:pPr marL="0" indent="0" algn="ctr">
                        <a:buNone/>
                      </a:pPr>
                      <a:r>
                        <a:rPr lang="en-US" sz="1200" b="1" dirty="0">
                          <a:solidFill>
                            <a:srgbClr val="FFFFFF"/>
                          </a:solidFill>
                        </a:rPr>
                        <a:t>Class</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tc>
                  <a:txBody>
                    <a:bodyPr/>
                    <a:lstStyle/>
                    <a:p>
                      <a:pPr marL="0" indent="0" algn="ctr">
                        <a:buNone/>
                      </a:pPr>
                      <a:r>
                        <a:rPr lang="en-US" sz="1200" b="1" dirty="0">
                          <a:solidFill>
                            <a:srgbClr val="FFFFFF"/>
                          </a:solidFill>
                        </a:rPr>
                        <a:t>Train Records</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tc>
                  <a:txBody>
                    <a:bodyPr/>
                    <a:lstStyle/>
                    <a:p>
                      <a:pPr marL="0" indent="0" algn="ctr">
                        <a:buNone/>
                      </a:pPr>
                      <a:r>
                        <a:rPr lang="en-US" sz="1200" b="1" dirty="0">
                          <a:solidFill>
                            <a:srgbClr val="FFFFFF"/>
                          </a:solidFill>
                        </a:rPr>
                        <a:t>Test Records</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tc>
                  <a:txBody>
                    <a:bodyPr/>
                    <a:lstStyle/>
                    <a:p>
                      <a:pPr marL="0" indent="0" algn="ctr">
                        <a:buNone/>
                      </a:pPr>
                      <a:r>
                        <a:rPr lang="en-US" sz="1200" b="1" dirty="0">
                          <a:solidFill>
                            <a:srgbClr val="FFFFFF"/>
                          </a:solidFill>
                        </a:rPr>
                        <a:t>Type</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A1628"/>
                          </a:solidFill>
                        </a:rPr>
                        <a:t>Normal</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67,343 (53.5%)</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9,711</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Benign</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A1628"/>
                          </a:solidFill>
                        </a:rPr>
                        <a:t>DoS</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45,927 (36.5%)</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7,456</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Attack</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A1628"/>
                          </a:solidFill>
                        </a:rPr>
                        <a:t>Probe</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11,656 (9.3%)</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2,421</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Attack</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0A1628"/>
                          </a:solidFill>
                        </a:rPr>
                        <a:t>R2L</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995 (0.8%)</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2,889</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Attack</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EF4444"/>
                          </a:solidFill>
                        </a:rPr>
                        <a:t>U2R</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52 (0.04%)</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67</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Attack</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hape 7"/>
          <p:cNvSpPr/>
          <p:nvPr/>
        </p:nvSpPr>
        <p:spPr>
          <a:xfrm>
            <a:off x="365760" y="3566160"/>
            <a:ext cx="2560320" cy="1051560"/>
          </a:xfrm>
          <a:prstGeom prst="rect">
            <a:avLst/>
          </a:prstGeom>
          <a:solidFill>
            <a:srgbClr val="FFFFFF"/>
          </a:solidFill>
          <a:ln/>
          <a:effectLst>
            <a:outerShdw blurRad="101600" dist="38100" dir="8100000" algn="bl" rotWithShape="0">
              <a:srgbClr val="000000">
                <a:alpha val="12000"/>
              </a:srgbClr>
            </a:outerShdw>
          </a:effectLst>
        </p:spPr>
      </p:sp>
      <p:sp>
        <p:nvSpPr>
          <p:cNvPr id="11" name="Shape 8"/>
          <p:cNvSpPr/>
          <p:nvPr/>
        </p:nvSpPr>
        <p:spPr>
          <a:xfrm>
            <a:off x="365760" y="3566160"/>
            <a:ext cx="2560320" cy="54864"/>
          </a:xfrm>
          <a:prstGeom prst="rect">
            <a:avLst/>
          </a:prstGeom>
          <a:solidFill>
            <a:srgbClr val="0EA5E9"/>
          </a:solidFill>
          <a:ln/>
        </p:spPr>
      </p:sp>
      <p:sp>
        <p:nvSpPr>
          <p:cNvPr id="12" name="Text 9"/>
          <p:cNvSpPr/>
          <p:nvPr/>
        </p:nvSpPr>
        <p:spPr>
          <a:xfrm>
            <a:off x="457200" y="3749040"/>
            <a:ext cx="2377440" cy="502920"/>
          </a:xfrm>
          <a:prstGeom prst="rect">
            <a:avLst/>
          </a:prstGeom>
          <a:noFill/>
          <a:ln/>
        </p:spPr>
        <p:txBody>
          <a:bodyPr wrap="square" rtlCol="0" anchor="ctr"/>
          <a:lstStyle/>
          <a:p>
            <a:pPr marL="0" indent="0" algn="ctr">
              <a:buNone/>
            </a:pPr>
            <a:r>
              <a:rPr lang="en-US" sz="3200" b="1" dirty="0">
                <a:solidFill>
                  <a:srgbClr val="0EA5E9"/>
                </a:solidFill>
                <a:latin typeface="Calibri" pitchFamily="34" charset="0"/>
                <a:ea typeface="Calibri" pitchFamily="34" charset="-122"/>
                <a:cs typeface="Calibri" pitchFamily="34" charset="-120"/>
              </a:rPr>
              <a:t>125,973</a:t>
            </a:r>
            <a:endParaRPr lang="en-US" sz="3200" dirty="0"/>
          </a:p>
        </p:txBody>
      </p:sp>
      <p:sp>
        <p:nvSpPr>
          <p:cNvPr id="13" name="Text 10"/>
          <p:cNvSpPr/>
          <p:nvPr/>
        </p:nvSpPr>
        <p:spPr>
          <a:xfrm>
            <a:off x="457200" y="4224528"/>
            <a:ext cx="2377440" cy="274320"/>
          </a:xfrm>
          <a:prstGeom prst="rect">
            <a:avLst/>
          </a:prstGeom>
          <a:noFill/>
          <a:ln/>
        </p:spPr>
        <p:txBody>
          <a:bodyPr wrap="square" rtlCol="0" anchor="ctr"/>
          <a:lstStyle/>
          <a:p>
            <a:pPr marL="0" indent="0" algn="ctr">
              <a:buNone/>
            </a:pPr>
            <a:r>
              <a:rPr lang="en-US" sz="1000" dirty="0">
                <a:solidFill>
                  <a:srgbClr val="94A3B8"/>
                </a:solidFill>
              </a:rPr>
              <a:t>Training Records</a:t>
            </a:r>
            <a:endParaRPr lang="en-US" sz="1000" dirty="0"/>
          </a:p>
        </p:txBody>
      </p:sp>
      <p:sp>
        <p:nvSpPr>
          <p:cNvPr id="14" name="Shape 11"/>
          <p:cNvSpPr/>
          <p:nvPr/>
        </p:nvSpPr>
        <p:spPr>
          <a:xfrm>
            <a:off x="3218688" y="3566160"/>
            <a:ext cx="2560320" cy="1051560"/>
          </a:xfrm>
          <a:prstGeom prst="rect">
            <a:avLst/>
          </a:prstGeom>
          <a:solidFill>
            <a:srgbClr val="FFFFFF"/>
          </a:solidFill>
          <a:ln/>
          <a:effectLst>
            <a:outerShdw blurRad="101600" dist="38100" dir="8100000" algn="bl" rotWithShape="0">
              <a:srgbClr val="000000">
                <a:alpha val="12000"/>
              </a:srgbClr>
            </a:outerShdw>
          </a:effectLst>
        </p:spPr>
      </p:sp>
      <p:sp>
        <p:nvSpPr>
          <p:cNvPr id="15" name="Shape 12"/>
          <p:cNvSpPr/>
          <p:nvPr/>
        </p:nvSpPr>
        <p:spPr>
          <a:xfrm>
            <a:off x="3218688" y="3566160"/>
            <a:ext cx="2560320" cy="54864"/>
          </a:xfrm>
          <a:prstGeom prst="rect">
            <a:avLst/>
          </a:prstGeom>
          <a:solidFill>
            <a:srgbClr val="0D2447"/>
          </a:solidFill>
          <a:ln/>
        </p:spPr>
      </p:sp>
      <p:sp>
        <p:nvSpPr>
          <p:cNvPr id="16" name="Text 13"/>
          <p:cNvSpPr/>
          <p:nvPr/>
        </p:nvSpPr>
        <p:spPr>
          <a:xfrm>
            <a:off x="3310128" y="3749040"/>
            <a:ext cx="2377440" cy="502920"/>
          </a:xfrm>
          <a:prstGeom prst="rect">
            <a:avLst/>
          </a:prstGeom>
          <a:noFill/>
          <a:ln/>
        </p:spPr>
        <p:txBody>
          <a:bodyPr wrap="square" rtlCol="0" anchor="ctr"/>
          <a:lstStyle/>
          <a:p>
            <a:pPr marL="0" indent="0" algn="ctr">
              <a:buNone/>
            </a:pPr>
            <a:r>
              <a:rPr lang="en-US" sz="3200" b="1" dirty="0">
                <a:solidFill>
                  <a:srgbClr val="0D2447"/>
                </a:solidFill>
                <a:latin typeface="Calibri" pitchFamily="34" charset="0"/>
                <a:ea typeface="Calibri" pitchFamily="34" charset="-122"/>
                <a:cs typeface="Calibri" pitchFamily="34" charset="-120"/>
              </a:rPr>
              <a:t>22,544</a:t>
            </a:r>
            <a:endParaRPr lang="en-US" sz="3200" dirty="0"/>
          </a:p>
        </p:txBody>
      </p:sp>
      <p:sp>
        <p:nvSpPr>
          <p:cNvPr id="17" name="Text 14"/>
          <p:cNvSpPr/>
          <p:nvPr/>
        </p:nvSpPr>
        <p:spPr>
          <a:xfrm>
            <a:off x="3310128" y="4224528"/>
            <a:ext cx="2377440" cy="274320"/>
          </a:xfrm>
          <a:prstGeom prst="rect">
            <a:avLst/>
          </a:prstGeom>
          <a:noFill/>
          <a:ln/>
        </p:spPr>
        <p:txBody>
          <a:bodyPr wrap="square" rtlCol="0" anchor="ctr"/>
          <a:lstStyle/>
          <a:p>
            <a:pPr marL="0" indent="0" algn="ctr">
              <a:buNone/>
            </a:pPr>
            <a:r>
              <a:rPr lang="en-US" sz="1000" dirty="0">
                <a:solidFill>
                  <a:srgbClr val="94A3B8"/>
                </a:solidFill>
              </a:rPr>
              <a:t>Test Records</a:t>
            </a:r>
            <a:endParaRPr lang="en-US" sz="1000" dirty="0"/>
          </a:p>
        </p:txBody>
      </p:sp>
      <p:sp>
        <p:nvSpPr>
          <p:cNvPr id="18" name="Shape 15"/>
          <p:cNvSpPr/>
          <p:nvPr/>
        </p:nvSpPr>
        <p:spPr>
          <a:xfrm>
            <a:off x="6071616" y="3566160"/>
            <a:ext cx="2560320" cy="1051560"/>
          </a:xfrm>
          <a:prstGeom prst="rect">
            <a:avLst/>
          </a:prstGeom>
          <a:solidFill>
            <a:srgbClr val="FFFFFF"/>
          </a:solidFill>
          <a:ln/>
          <a:effectLst>
            <a:outerShdw blurRad="101600" dist="38100" dir="8100000" algn="bl" rotWithShape="0">
              <a:srgbClr val="000000">
                <a:alpha val="12000"/>
              </a:srgbClr>
            </a:outerShdw>
          </a:effectLst>
        </p:spPr>
      </p:sp>
      <p:sp>
        <p:nvSpPr>
          <p:cNvPr id="19" name="Shape 16"/>
          <p:cNvSpPr/>
          <p:nvPr/>
        </p:nvSpPr>
        <p:spPr>
          <a:xfrm>
            <a:off x="6071616" y="3566160"/>
            <a:ext cx="2560320" cy="54864"/>
          </a:xfrm>
          <a:prstGeom prst="rect">
            <a:avLst/>
          </a:prstGeom>
          <a:solidFill>
            <a:srgbClr val="10B981"/>
          </a:solidFill>
          <a:ln/>
        </p:spPr>
      </p:sp>
      <p:sp>
        <p:nvSpPr>
          <p:cNvPr id="20" name="Text 17"/>
          <p:cNvSpPr/>
          <p:nvPr/>
        </p:nvSpPr>
        <p:spPr>
          <a:xfrm>
            <a:off x="6163056" y="3749040"/>
            <a:ext cx="2377440" cy="502920"/>
          </a:xfrm>
          <a:prstGeom prst="rect">
            <a:avLst/>
          </a:prstGeom>
          <a:noFill/>
          <a:ln/>
        </p:spPr>
        <p:txBody>
          <a:bodyPr wrap="square" rtlCol="0" anchor="ctr"/>
          <a:lstStyle/>
          <a:p>
            <a:pPr marL="0" indent="0" algn="ctr">
              <a:buNone/>
            </a:pPr>
            <a:r>
              <a:rPr lang="en-US" sz="3200" b="1" dirty="0">
                <a:solidFill>
                  <a:srgbClr val="10B981"/>
                </a:solidFill>
                <a:latin typeface="Calibri" pitchFamily="34" charset="0"/>
                <a:ea typeface="Calibri" pitchFamily="34" charset="-122"/>
                <a:cs typeface="Calibri" pitchFamily="34" charset="-120"/>
              </a:rPr>
              <a:t>41</a:t>
            </a:r>
            <a:endParaRPr lang="en-US" sz="3200" dirty="0"/>
          </a:p>
        </p:txBody>
      </p:sp>
      <p:sp>
        <p:nvSpPr>
          <p:cNvPr id="21" name="Text 18"/>
          <p:cNvSpPr/>
          <p:nvPr/>
        </p:nvSpPr>
        <p:spPr>
          <a:xfrm>
            <a:off x="6163056" y="4224528"/>
            <a:ext cx="2377440" cy="274320"/>
          </a:xfrm>
          <a:prstGeom prst="rect">
            <a:avLst/>
          </a:prstGeom>
          <a:noFill/>
          <a:ln/>
        </p:spPr>
        <p:txBody>
          <a:bodyPr wrap="square" rtlCol="0" anchor="ctr"/>
          <a:lstStyle/>
          <a:p>
            <a:pPr marL="0" indent="0" algn="ctr">
              <a:buNone/>
            </a:pPr>
            <a:r>
              <a:rPr lang="en-US" sz="1000" dirty="0">
                <a:solidFill>
                  <a:srgbClr val="94A3B8"/>
                </a:solidFill>
              </a:rPr>
              <a:t>Network Features</a:t>
            </a:r>
            <a:endParaRPr lang="en-US" sz="1000" dirty="0"/>
          </a:p>
        </p:txBody>
      </p:sp>
      <p:sp>
        <p:nvSpPr>
          <p:cNvPr id="22" name="Shape 19"/>
          <p:cNvSpPr/>
          <p:nvPr/>
        </p:nvSpPr>
        <p:spPr>
          <a:xfrm>
            <a:off x="8833104" y="3547872"/>
            <a:ext cx="2560320" cy="1051560"/>
          </a:xfrm>
          <a:prstGeom prst="rect">
            <a:avLst/>
          </a:prstGeom>
          <a:solidFill>
            <a:srgbClr val="FFFFFF"/>
          </a:solidFill>
          <a:ln/>
          <a:effectLst>
            <a:outerShdw blurRad="101600" dist="38100" dir="8100000" algn="bl" rotWithShape="0">
              <a:srgbClr val="000000">
                <a:alpha val="12000"/>
              </a:srgbClr>
            </a:outerShdw>
          </a:effectLst>
        </p:spPr>
      </p:sp>
      <p:sp>
        <p:nvSpPr>
          <p:cNvPr id="23" name="Shape 20"/>
          <p:cNvSpPr/>
          <p:nvPr/>
        </p:nvSpPr>
        <p:spPr>
          <a:xfrm>
            <a:off x="8924544" y="3566160"/>
            <a:ext cx="2560320" cy="54864"/>
          </a:xfrm>
          <a:prstGeom prst="rect">
            <a:avLst/>
          </a:prstGeom>
          <a:solidFill>
            <a:srgbClr val="F59E0B"/>
          </a:solidFill>
          <a:ln/>
        </p:spPr>
      </p:sp>
      <p:sp>
        <p:nvSpPr>
          <p:cNvPr id="24" name="Text 21"/>
          <p:cNvSpPr/>
          <p:nvPr/>
        </p:nvSpPr>
        <p:spPr>
          <a:xfrm>
            <a:off x="9015984" y="3749040"/>
            <a:ext cx="2377440" cy="502920"/>
          </a:xfrm>
          <a:prstGeom prst="rect">
            <a:avLst/>
          </a:prstGeom>
          <a:noFill/>
          <a:ln/>
        </p:spPr>
        <p:txBody>
          <a:bodyPr wrap="square" rtlCol="0" anchor="ctr"/>
          <a:lstStyle/>
          <a:p>
            <a:pPr marL="0" indent="0" algn="ctr">
              <a:buNone/>
            </a:pPr>
            <a:r>
              <a:rPr lang="en-US" sz="3200" b="1" dirty="0">
                <a:solidFill>
                  <a:srgbClr val="F59E0B"/>
                </a:solidFill>
                <a:latin typeface="Calibri" pitchFamily="34" charset="0"/>
                <a:ea typeface="Calibri" pitchFamily="34" charset="-122"/>
                <a:cs typeface="Calibri" pitchFamily="34" charset="-120"/>
              </a:rPr>
              <a:t>5</a:t>
            </a:r>
            <a:endParaRPr lang="en-US" sz="3200" dirty="0"/>
          </a:p>
        </p:txBody>
      </p:sp>
      <p:sp>
        <p:nvSpPr>
          <p:cNvPr id="25" name="Text 22"/>
          <p:cNvSpPr/>
          <p:nvPr/>
        </p:nvSpPr>
        <p:spPr>
          <a:xfrm>
            <a:off x="9015984" y="4224528"/>
            <a:ext cx="2377440" cy="274320"/>
          </a:xfrm>
          <a:prstGeom prst="rect">
            <a:avLst/>
          </a:prstGeom>
          <a:noFill/>
          <a:ln/>
        </p:spPr>
        <p:txBody>
          <a:bodyPr wrap="square" rtlCol="0" anchor="ctr"/>
          <a:lstStyle/>
          <a:p>
            <a:pPr marL="0" indent="0" algn="ctr">
              <a:buNone/>
            </a:pPr>
            <a:r>
              <a:rPr lang="en-US" sz="1000" dirty="0">
                <a:solidFill>
                  <a:srgbClr val="94A3B8"/>
                </a:solidFill>
              </a:rPr>
              <a:t>Attack Classes</a:t>
            </a:r>
            <a:endParaRPr lang="en-US" sz="1000" dirty="0"/>
          </a:p>
        </p:txBody>
      </p:sp>
      <p:sp>
        <p:nvSpPr>
          <p:cNvPr id="26" name="Shape 23"/>
          <p:cNvSpPr/>
          <p:nvPr/>
        </p:nvSpPr>
        <p:spPr>
          <a:xfrm>
            <a:off x="365760" y="4754880"/>
            <a:ext cx="11430000" cy="1362456"/>
          </a:xfrm>
          <a:prstGeom prst="rect">
            <a:avLst/>
          </a:prstGeom>
          <a:solidFill>
            <a:srgbClr val="FFFFFF"/>
          </a:solidFill>
          <a:ln/>
          <a:effectLst>
            <a:outerShdw blurRad="101600" dist="38100" dir="8100000" algn="bl" rotWithShape="0">
              <a:srgbClr val="000000">
                <a:alpha val="12000"/>
              </a:srgbClr>
            </a:outerShdw>
          </a:effectLst>
        </p:spPr>
      </p:sp>
      <p:sp>
        <p:nvSpPr>
          <p:cNvPr id="27" name="Text 24"/>
          <p:cNvSpPr/>
          <p:nvPr/>
        </p:nvSpPr>
        <p:spPr>
          <a:xfrm>
            <a:off x="548640" y="4892040"/>
            <a:ext cx="2743200" cy="256032"/>
          </a:xfrm>
          <a:prstGeom prst="rect">
            <a:avLst/>
          </a:prstGeom>
          <a:noFill/>
          <a:ln/>
        </p:spPr>
        <p:txBody>
          <a:bodyPr wrap="square" rtlCol="0" anchor="ctr"/>
          <a:lstStyle/>
          <a:p>
            <a:pPr marL="0" indent="0">
              <a:buNone/>
            </a:pPr>
            <a:r>
              <a:rPr lang="en-US" sz="1600" b="1" dirty="0">
                <a:solidFill>
                  <a:srgbClr val="0A1628"/>
                </a:solidFill>
              </a:rPr>
              <a:t>41 Features per Record:</a:t>
            </a:r>
            <a:endParaRPr lang="en-US" sz="1600" dirty="0"/>
          </a:p>
        </p:txBody>
      </p:sp>
      <p:sp>
        <p:nvSpPr>
          <p:cNvPr id="28" name="Text 25"/>
          <p:cNvSpPr/>
          <p:nvPr/>
        </p:nvSpPr>
        <p:spPr>
          <a:xfrm>
            <a:off x="548640" y="5193792"/>
            <a:ext cx="11064240" cy="502920"/>
          </a:xfrm>
          <a:prstGeom prst="rect">
            <a:avLst/>
          </a:prstGeom>
          <a:noFill/>
          <a:ln/>
        </p:spPr>
        <p:txBody>
          <a:bodyPr wrap="square" rtlCol="0" anchor="ctr"/>
          <a:lstStyle/>
          <a:p>
            <a:pPr marL="0" indent="0">
              <a:lnSpc>
                <a:spcPct val="130000"/>
              </a:lnSpc>
              <a:buNone/>
            </a:pPr>
            <a:r>
              <a:rPr lang="en-US" sz="1400" dirty="0">
                <a:solidFill>
                  <a:srgbClr val="475569"/>
                </a:solidFill>
              </a:rPr>
              <a:t>Basic (1–9): duration, protocol_type, service, flag, src_bytes, dst_bytes  ·  Content (10–22): hot, num_failed_logins, logged_in, root_shell, num_root  ·  Traffic (23–31): count, srv_count, serror_rate, rerror_rate, same_srv_rate  ·  Host-based (32–41): dst_host_count, dst_host_srv_count, dst_host_serror_rate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03 · SOFTWARE &amp; METHODOLOGY</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Software Environment &amp; Research Workflow</a:t>
            </a:r>
            <a:endParaRPr lang="en-US" sz="2600" dirty="0"/>
          </a:p>
        </p:txBody>
      </p:sp>
      <p:sp>
        <p:nvSpPr>
          <p:cNvPr id="5" name="Shape 3"/>
          <p:cNvSpPr/>
          <p:nvPr/>
        </p:nvSpPr>
        <p:spPr>
          <a:xfrm>
            <a:off x="365760" y="1261872"/>
            <a:ext cx="5303520" cy="320040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1261872"/>
            <a:ext cx="5303520" cy="320040"/>
          </a:xfrm>
          <a:prstGeom prst="rect">
            <a:avLst/>
          </a:prstGeom>
          <a:solidFill>
            <a:srgbClr val="0D2447"/>
          </a:solidFill>
          <a:ln/>
        </p:spPr>
      </p:sp>
      <p:sp>
        <p:nvSpPr>
          <p:cNvPr id="7" name="Text 5"/>
          <p:cNvSpPr/>
          <p:nvPr/>
        </p:nvSpPr>
        <p:spPr>
          <a:xfrm>
            <a:off x="502920" y="1261872"/>
            <a:ext cx="5029200" cy="320040"/>
          </a:xfrm>
          <a:prstGeom prst="rect">
            <a:avLst/>
          </a:prstGeom>
          <a:noFill/>
          <a:ln/>
        </p:spPr>
        <p:txBody>
          <a:bodyPr wrap="square" rtlCol="0" anchor="ctr"/>
          <a:lstStyle/>
          <a:p>
            <a:pPr marL="0" indent="0">
              <a:buNone/>
            </a:pPr>
            <a:r>
              <a:rPr lang="en-US" sz="2000" b="1" dirty="0">
                <a:solidFill>
                  <a:srgbClr val="FFFFFF"/>
                </a:solidFill>
              </a:rPr>
              <a:t>Software Environment</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3336849846"/>
              </p:ext>
            </p:extLst>
          </p:nvPr>
        </p:nvGraphicFramePr>
        <p:xfrm>
          <a:off x="502920" y="1627632"/>
          <a:ext cx="5029200" cy="2519680"/>
        </p:xfrm>
        <a:graphic>
          <a:graphicData uri="http://schemas.openxmlformats.org/drawingml/2006/table">
            <a:tbl>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rPr>
                        <a:t>Component</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l">
                        <a:buNone/>
                      </a:pPr>
                      <a:r>
                        <a:rPr lang="en-US" sz="1400" b="1" dirty="0">
                          <a:solidFill>
                            <a:srgbClr val="FFFFFF"/>
                          </a:solidFill>
                        </a:rPr>
                        <a:t>Tool / Library</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A1628"/>
                          </a:solidFill>
                        </a:rPr>
                        <a:t>Programming Language</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A1628"/>
                          </a:solidFill>
                        </a:rPr>
                        <a:t>Python 3.13</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A1628"/>
                          </a:solidFill>
                        </a:rPr>
                        <a:t>Notebook Environment</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400" dirty="0">
                          <a:solidFill>
                            <a:srgbClr val="0A1628"/>
                          </a:solidFill>
                        </a:rPr>
                        <a:t>Jupyter Notebook / VS Code</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A1628"/>
                          </a:solidFill>
                        </a:rPr>
                        <a:t>Data Manipulation</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A1628"/>
                          </a:solidFill>
                        </a:rPr>
                        <a:t>pandas, numpy</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A1628"/>
                          </a:solidFill>
                        </a:rPr>
                        <a:t>Machine Learning</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400" dirty="0">
                          <a:solidFill>
                            <a:srgbClr val="0A1628"/>
                          </a:solidFill>
                        </a:rPr>
                        <a:t>scikit-learn</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A1628"/>
                          </a:solidFill>
                        </a:rPr>
                        <a:t>Gradient Boosting</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A1628"/>
                          </a:solidFill>
                        </a:rPr>
                        <a:t>XGBoost 3.2.0</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400" dirty="0">
                          <a:solidFill>
                            <a:srgbClr val="0A1628"/>
                          </a:solidFill>
                        </a:rPr>
                        <a:t>Visualisation</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400" dirty="0">
                          <a:solidFill>
                            <a:srgbClr val="0A1628"/>
                          </a:solidFill>
                        </a:rPr>
                        <a:t>matplotlib, seaborn</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0">
                <a:tc>
                  <a:txBody>
                    <a:bodyPr/>
                    <a:lstStyle/>
                    <a:p>
                      <a:pPr marL="0" indent="0" algn="l">
                        <a:buNone/>
                      </a:pPr>
                      <a:r>
                        <a:rPr lang="en-US" sz="1400" dirty="0">
                          <a:solidFill>
                            <a:srgbClr val="0A1628"/>
                          </a:solidFill>
                        </a:rPr>
                        <a:t>Model Saving</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A1628"/>
                          </a:solidFill>
                        </a:rPr>
                        <a:t>joblib</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6"/>
          <p:cNvSpPr/>
          <p:nvPr/>
        </p:nvSpPr>
        <p:spPr>
          <a:xfrm>
            <a:off x="365759" y="4572000"/>
            <a:ext cx="5326381" cy="2184400"/>
          </a:xfrm>
          <a:prstGeom prst="rect">
            <a:avLst/>
          </a:prstGeom>
          <a:solidFill>
            <a:srgbClr val="FFFFFF"/>
          </a:solidFill>
          <a:ln/>
          <a:effectLst>
            <a:outerShdw blurRad="101600" dist="38100" dir="8100000" algn="bl" rotWithShape="0">
              <a:srgbClr val="000000">
                <a:alpha val="12000"/>
              </a:srgbClr>
            </a:outerShdw>
          </a:effectLst>
        </p:spPr>
      </p:sp>
      <p:sp>
        <p:nvSpPr>
          <p:cNvPr id="10" name="Shape 7"/>
          <p:cNvSpPr/>
          <p:nvPr/>
        </p:nvSpPr>
        <p:spPr>
          <a:xfrm>
            <a:off x="365760" y="4572000"/>
            <a:ext cx="5303520" cy="320040"/>
          </a:xfrm>
          <a:prstGeom prst="rect">
            <a:avLst/>
          </a:prstGeom>
          <a:solidFill>
            <a:srgbClr val="0EA5E9"/>
          </a:solidFill>
          <a:ln/>
        </p:spPr>
      </p:sp>
      <p:sp>
        <p:nvSpPr>
          <p:cNvPr id="11" name="Text 8"/>
          <p:cNvSpPr/>
          <p:nvPr/>
        </p:nvSpPr>
        <p:spPr>
          <a:xfrm>
            <a:off x="502920" y="4572000"/>
            <a:ext cx="5029200" cy="320040"/>
          </a:xfrm>
          <a:prstGeom prst="rect">
            <a:avLst/>
          </a:prstGeom>
          <a:noFill/>
          <a:ln/>
        </p:spPr>
        <p:txBody>
          <a:bodyPr wrap="square" rtlCol="0" anchor="ctr"/>
          <a:lstStyle/>
          <a:p>
            <a:pPr marL="0" indent="0">
              <a:buNone/>
            </a:pPr>
            <a:r>
              <a:rPr lang="en-US" b="1" dirty="0">
                <a:solidFill>
                  <a:srgbClr val="FFFFFF"/>
                </a:solidFill>
              </a:rPr>
              <a:t>Evaluation Metrics Used</a:t>
            </a:r>
            <a:endParaRPr lang="en-US" dirty="0"/>
          </a:p>
        </p:txBody>
      </p:sp>
      <p:sp>
        <p:nvSpPr>
          <p:cNvPr id="12" name="Text 9"/>
          <p:cNvSpPr/>
          <p:nvPr/>
        </p:nvSpPr>
        <p:spPr>
          <a:xfrm>
            <a:off x="548640" y="4956048"/>
            <a:ext cx="1645920" cy="237744"/>
          </a:xfrm>
          <a:prstGeom prst="rect">
            <a:avLst/>
          </a:prstGeom>
          <a:noFill/>
          <a:ln/>
        </p:spPr>
        <p:txBody>
          <a:bodyPr wrap="square" rtlCol="0" anchor="ctr"/>
          <a:lstStyle/>
          <a:p>
            <a:pPr marL="0" indent="0">
              <a:buNone/>
            </a:pPr>
            <a:r>
              <a:rPr lang="en-US" sz="1200" b="1" dirty="0">
                <a:solidFill>
                  <a:srgbClr val="0EA5E9"/>
                </a:solidFill>
              </a:rPr>
              <a:t>Accuracy: </a:t>
            </a:r>
            <a:endParaRPr lang="en-US" sz="1200" dirty="0"/>
          </a:p>
        </p:txBody>
      </p:sp>
      <p:sp>
        <p:nvSpPr>
          <p:cNvPr id="13" name="Text 10"/>
          <p:cNvSpPr/>
          <p:nvPr/>
        </p:nvSpPr>
        <p:spPr>
          <a:xfrm>
            <a:off x="2194560" y="4956048"/>
            <a:ext cx="3291840" cy="237744"/>
          </a:xfrm>
          <a:prstGeom prst="rect">
            <a:avLst/>
          </a:prstGeom>
          <a:noFill/>
          <a:ln/>
        </p:spPr>
        <p:txBody>
          <a:bodyPr wrap="square" rtlCol="0" anchor="ctr"/>
          <a:lstStyle/>
          <a:p>
            <a:pPr marL="0" indent="0">
              <a:buNone/>
            </a:pPr>
            <a:r>
              <a:rPr lang="en-US" sz="1200" dirty="0">
                <a:solidFill>
                  <a:srgbClr val="334155"/>
                </a:solidFill>
              </a:rPr>
              <a:t>Proportion of all records correctly classified</a:t>
            </a:r>
            <a:endParaRPr lang="en-US" sz="1200" dirty="0"/>
          </a:p>
        </p:txBody>
      </p:sp>
      <p:sp>
        <p:nvSpPr>
          <p:cNvPr id="14" name="Text 11"/>
          <p:cNvSpPr/>
          <p:nvPr/>
        </p:nvSpPr>
        <p:spPr>
          <a:xfrm>
            <a:off x="548640" y="5230368"/>
            <a:ext cx="1645920" cy="237744"/>
          </a:xfrm>
          <a:prstGeom prst="rect">
            <a:avLst/>
          </a:prstGeom>
          <a:noFill/>
          <a:ln/>
        </p:spPr>
        <p:txBody>
          <a:bodyPr wrap="square" rtlCol="0" anchor="ctr"/>
          <a:lstStyle/>
          <a:p>
            <a:pPr marL="0" indent="0">
              <a:buNone/>
            </a:pPr>
            <a:r>
              <a:rPr lang="en-US" sz="1200" b="1" dirty="0">
                <a:solidFill>
                  <a:srgbClr val="0EA5E9"/>
                </a:solidFill>
              </a:rPr>
              <a:t>Precision: </a:t>
            </a:r>
            <a:endParaRPr lang="en-US" sz="1200" dirty="0"/>
          </a:p>
        </p:txBody>
      </p:sp>
      <p:sp>
        <p:nvSpPr>
          <p:cNvPr id="15" name="Text 12"/>
          <p:cNvSpPr/>
          <p:nvPr/>
        </p:nvSpPr>
        <p:spPr>
          <a:xfrm>
            <a:off x="2194560" y="5230368"/>
            <a:ext cx="3291840" cy="237744"/>
          </a:xfrm>
          <a:prstGeom prst="rect">
            <a:avLst/>
          </a:prstGeom>
          <a:noFill/>
          <a:ln/>
        </p:spPr>
        <p:txBody>
          <a:bodyPr wrap="square" rtlCol="0" anchor="ctr"/>
          <a:lstStyle/>
          <a:p>
            <a:pPr marL="0" indent="0">
              <a:buNone/>
            </a:pPr>
            <a:r>
              <a:rPr lang="en-US" sz="1200" dirty="0">
                <a:solidFill>
                  <a:srgbClr val="334155"/>
                </a:solidFill>
              </a:rPr>
              <a:t>Of predicted attacks, how many were real attacks</a:t>
            </a:r>
            <a:endParaRPr lang="en-US" sz="1200" dirty="0"/>
          </a:p>
        </p:txBody>
      </p:sp>
      <p:sp>
        <p:nvSpPr>
          <p:cNvPr id="16" name="Text 13"/>
          <p:cNvSpPr/>
          <p:nvPr/>
        </p:nvSpPr>
        <p:spPr>
          <a:xfrm>
            <a:off x="548640" y="5504688"/>
            <a:ext cx="1645920" cy="237744"/>
          </a:xfrm>
          <a:prstGeom prst="rect">
            <a:avLst/>
          </a:prstGeom>
          <a:noFill/>
          <a:ln/>
        </p:spPr>
        <p:txBody>
          <a:bodyPr wrap="square" rtlCol="0" anchor="ctr"/>
          <a:lstStyle/>
          <a:p>
            <a:pPr marL="0" indent="0">
              <a:buNone/>
            </a:pPr>
            <a:r>
              <a:rPr lang="en-US" sz="1200" b="1" dirty="0">
                <a:solidFill>
                  <a:srgbClr val="0EA5E9"/>
                </a:solidFill>
              </a:rPr>
              <a:t>Recall: </a:t>
            </a:r>
            <a:endParaRPr lang="en-US" sz="1200" dirty="0"/>
          </a:p>
        </p:txBody>
      </p:sp>
      <p:sp>
        <p:nvSpPr>
          <p:cNvPr id="17" name="Text 14"/>
          <p:cNvSpPr/>
          <p:nvPr/>
        </p:nvSpPr>
        <p:spPr>
          <a:xfrm>
            <a:off x="2194560" y="5504688"/>
            <a:ext cx="3291840" cy="237744"/>
          </a:xfrm>
          <a:prstGeom prst="rect">
            <a:avLst/>
          </a:prstGeom>
          <a:noFill/>
          <a:ln/>
        </p:spPr>
        <p:txBody>
          <a:bodyPr wrap="square" rtlCol="0" anchor="ctr"/>
          <a:lstStyle/>
          <a:p>
            <a:pPr marL="0" indent="0">
              <a:buNone/>
            </a:pPr>
            <a:r>
              <a:rPr lang="en-US" sz="1200" dirty="0">
                <a:solidFill>
                  <a:srgbClr val="334155"/>
                </a:solidFill>
              </a:rPr>
              <a:t>Of real attacks, how many were detected</a:t>
            </a:r>
            <a:endParaRPr lang="en-US" sz="1200" dirty="0"/>
          </a:p>
        </p:txBody>
      </p:sp>
      <p:sp>
        <p:nvSpPr>
          <p:cNvPr id="18" name="Text 15"/>
          <p:cNvSpPr/>
          <p:nvPr/>
        </p:nvSpPr>
        <p:spPr>
          <a:xfrm>
            <a:off x="548640" y="5779008"/>
            <a:ext cx="1645920" cy="237744"/>
          </a:xfrm>
          <a:prstGeom prst="rect">
            <a:avLst/>
          </a:prstGeom>
          <a:noFill/>
          <a:ln/>
        </p:spPr>
        <p:txBody>
          <a:bodyPr wrap="square" rtlCol="0" anchor="ctr"/>
          <a:lstStyle/>
          <a:p>
            <a:pPr marL="0" indent="0">
              <a:buNone/>
            </a:pPr>
            <a:r>
              <a:rPr lang="en-US" sz="1200" b="1" dirty="0">
                <a:solidFill>
                  <a:srgbClr val="0EA5E9"/>
                </a:solidFill>
              </a:rPr>
              <a:t>F1-Score: </a:t>
            </a:r>
            <a:endParaRPr lang="en-US" sz="1200" dirty="0"/>
          </a:p>
        </p:txBody>
      </p:sp>
      <p:sp>
        <p:nvSpPr>
          <p:cNvPr id="19" name="Text 16"/>
          <p:cNvSpPr/>
          <p:nvPr/>
        </p:nvSpPr>
        <p:spPr>
          <a:xfrm>
            <a:off x="2194560" y="5779008"/>
            <a:ext cx="3291840" cy="237744"/>
          </a:xfrm>
          <a:prstGeom prst="rect">
            <a:avLst/>
          </a:prstGeom>
          <a:noFill/>
          <a:ln/>
        </p:spPr>
        <p:txBody>
          <a:bodyPr wrap="square" rtlCol="0" anchor="ctr"/>
          <a:lstStyle/>
          <a:p>
            <a:pPr marL="0" indent="0">
              <a:buNone/>
            </a:pPr>
            <a:r>
              <a:rPr lang="en-US" sz="1200" dirty="0">
                <a:solidFill>
                  <a:srgbClr val="334155"/>
                </a:solidFill>
              </a:rPr>
              <a:t>Harmonic mean of precision and recall per class</a:t>
            </a:r>
            <a:endParaRPr lang="en-US" sz="1200" dirty="0"/>
          </a:p>
        </p:txBody>
      </p:sp>
      <p:sp>
        <p:nvSpPr>
          <p:cNvPr id="20" name="Text 17"/>
          <p:cNvSpPr/>
          <p:nvPr/>
        </p:nvSpPr>
        <p:spPr>
          <a:xfrm>
            <a:off x="548640" y="6053328"/>
            <a:ext cx="1645920" cy="237744"/>
          </a:xfrm>
          <a:prstGeom prst="rect">
            <a:avLst/>
          </a:prstGeom>
          <a:noFill/>
          <a:ln/>
        </p:spPr>
        <p:txBody>
          <a:bodyPr wrap="square" rtlCol="0" anchor="ctr"/>
          <a:lstStyle/>
          <a:p>
            <a:pPr marL="0" indent="0">
              <a:buNone/>
            </a:pPr>
            <a:r>
              <a:rPr lang="en-US" sz="1200" b="1" dirty="0">
                <a:solidFill>
                  <a:srgbClr val="0EA5E9"/>
                </a:solidFill>
              </a:rPr>
              <a:t>Confusion Matrix: </a:t>
            </a:r>
            <a:endParaRPr lang="en-US" sz="1200" dirty="0"/>
          </a:p>
        </p:txBody>
      </p:sp>
      <p:sp>
        <p:nvSpPr>
          <p:cNvPr id="21" name="Text 18"/>
          <p:cNvSpPr/>
          <p:nvPr/>
        </p:nvSpPr>
        <p:spPr>
          <a:xfrm>
            <a:off x="2194560" y="6053328"/>
            <a:ext cx="3291840" cy="237744"/>
          </a:xfrm>
          <a:prstGeom prst="rect">
            <a:avLst/>
          </a:prstGeom>
          <a:noFill/>
          <a:ln/>
        </p:spPr>
        <p:txBody>
          <a:bodyPr wrap="square" rtlCol="0" anchor="ctr"/>
          <a:lstStyle/>
          <a:p>
            <a:pPr marL="0" indent="0">
              <a:buNone/>
            </a:pPr>
            <a:r>
              <a:rPr lang="en-US" sz="1200" dirty="0">
                <a:solidFill>
                  <a:srgbClr val="334155"/>
                </a:solidFill>
              </a:rPr>
              <a:t>Grid of true vs predicted labels per class</a:t>
            </a:r>
            <a:endParaRPr lang="en-US" sz="1200" dirty="0"/>
          </a:p>
        </p:txBody>
      </p:sp>
      <p:sp>
        <p:nvSpPr>
          <p:cNvPr id="22" name="Text 19"/>
          <p:cNvSpPr/>
          <p:nvPr/>
        </p:nvSpPr>
        <p:spPr>
          <a:xfrm>
            <a:off x="548640" y="6327648"/>
            <a:ext cx="1645920" cy="237744"/>
          </a:xfrm>
          <a:prstGeom prst="rect">
            <a:avLst/>
          </a:prstGeom>
          <a:noFill/>
          <a:ln/>
        </p:spPr>
        <p:txBody>
          <a:bodyPr wrap="square" rtlCol="0" anchor="ctr"/>
          <a:lstStyle/>
          <a:p>
            <a:pPr marL="0" indent="0">
              <a:buNone/>
            </a:pPr>
            <a:r>
              <a:rPr lang="en-US" sz="1200" b="1" dirty="0">
                <a:solidFill>
                  <a:srgbClr val="0EA5E9"/>
                </a:solidFill>
              </a:rPr>
              <a:t>ROC-AUC: </a:t>
            </a:r>
            <a:endParaRPr lang="en-US" sz="1200" dirty="0"/>
          </a:p>
        </p:txBody>
      </p:sp>
      <p:sp>
        <p:nvSpPr>
          <p:cNvPr id="23" name="Text 20"/>
          <p:cNvSpPr/>
          <p:nvPr/>
        </p:nvSpPr>
        <p:spPr>
          <a:xfrm>
            <a:off x="2194560" y="6327648"/>
            <a:ext cx="3291840" cy="237744"/>
          </a:xfrm>
          <a:prstGeom prst="rect">
            <a:avLst/>
          </a:prstGeom>
          <a:noFill/>
          <a:ln/>
        </p:spPr>
        <p:txBody>
          <a:bodyPr wrap="square" rtlCol="0" anchor="ctr"/>
          <a:lstStyle/>
          <a:p>
            <a:pPr marL="0" indent="0">
              <a:buNone/>
            </a:pPr>
            <a:r>
              <a:rPr lang="en-US" sz="1200" dirty="0">
                <a:solidFill>
                  <a:srgbClr val="334155"/>
                </a:solidFill>
              </a:rPr>
              <a:t>Separability between each class and all others (one-vs-rest)</a:t>
            </a:r>
            <a:endParaRPr lang="en-US" sz="1200" dirty="0"/>
          </a:p>
        </p:txBody>
      </p:sp>
      <p:sp>
        <p:nvSpPr>
          <p:cNvPr id="24" name="Shape 21"/>
          <p:cNvSpPr/>
          <p:nvPr/>
        </p:nvSpPr>
        <p:spPr>
          <a:xfrm>
            <a:off x="5989320" y="1261872"/>
            <a:ext cx="5806440" cy="5367528"/>
          </a:xfrm>
          <a:prstGeom prst="rect">
            <a:avLst/>
          </a:prstGeom>
          <a:solidFill>
            <a:srgbClr val="FFFFFF"/>
          </a:solidFill>
          <a:ln/>
          <a:effectLst>
            <a:outerShdw blurRad="101600" dist="38100" dir="8100000" algn="bl" rotWithShape="0">
              <a:srgbClr val="000000">
                <a:alpha val="12000"/>
              </a:srgbClr>
            </a:outerShdw>
          </a:effectLst>
        </p:spPr>
      </p:sp>
      <p:sp>
        <p:nvSpPr>
          <p:cNvPr id="25" name="Shape 22"/>
          <p:cNvSpPr/>
          <p:nvPr/>
        </p:nvSpPr>
        <p:spPr>
          <a:xfrm>
            <a:off x="5989320" y="1261872"/>
            <a:ext cx="5806440" cy="320040"/>
          </a:xfrm>
          <a:prstGeom prst="rect">
            <a:avLst/>
          </a:prstGeom>
          <a:solidFill>
            <a:srgbClr val="0D2447"/>
          </a:solidFill>
          <a:ln/>
        </p:spPr>
      </p:sp>
      <p:sp>
        <p:nvSpPr>
          <p:cNvPr id="26" name="Text 23"/>
          <p:cNvSpPr/>
          <p:nvPr/>
        </p:nvSpPr>
        <p:spPr>
          <a:xfrm>
            <a:off x="6126480" y="1261872"/>
            <a:ext cx="5486400" cy="320040"/>
          </a:xfrm>
          <a:prstGeom prst="rect">
            <a:avLst/>
          </a:prstGeom>
          <a:noFill/>
          <a:ln/>
        </p:spPr>
        <p:txBody>
          <a:bodyPr wrap="square" rtlCol="0" anchor="ctr"/>
          <a:lstStyle/>
          <a:p>
            <a:pPr marL="0" indent="0">
              <a:buNone/>
            </a:pPr>
            <a:r>
              <a:rPr lang="en-US" sz="2000" b="1" dirty="0">
                <a:solidFill>
                  <a:srgbClr val="FFFFFF"/>
                </a:solidFill>
              </a:rPr>
              <a:t>Research Workflow — 7 Stages</a:t>
            </a:r>
            <a:endParaRPr lang="en-US" sz="2000" dirty="0"/>
          </a:p>
        </p:txBody>
      </p:sp>
      <p:sp>
        <p:nvSpPr>
          <p:cNvPr id="27" name="Shape 24"/>
          <p:cNvSpPr/>
          <p:nvPr/>
        </p:nvSpPr>
        <p:spPr>
          <a:xfrm>
            <a:off x="6108192" y="1828800"/>
            <a:ext cx="384048" cy="384048"/>
          </a:xfrm>
          <a:prstGeom prst="ellipse">
            <a:avLst/>
          </a:prstGeom>
          <a:solidFill>
            <a:srgbClr val="0EA5E9"/>
          </a:solidFill>
          <a:ln/>
        </p:spPr>
      </p:sp>
      <p:sp>
        <p:nvSpPr>
          <p:cNvPr id="28" name="Text 25"/>
          <p:cNvSpPr/>
          <p:nvPr/>
        </p:nvSpPr>
        <p:spPr>
          <a:xfrm>
            <a:off x="6108192" y="1828800"/>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1</a:t>
            </a:r>
            <a:endParaRPr lang="en-US" dirty="0"/>
          </a:p>
        </p:txBody>
      </p:sp>
      <p:sp>
        <p:nvSpPr>
          <p:cNvPr id="29" name="Shape 26"/>
          <p:cNvSpPr/>
          <p:nvPr/>
        </p:nvSpPr>
        <p:spPr>
          <a:xfrm>
            <a:off x="6286500" y="2221992"/>
            <a:ext cx="0" cy="210312"/>
          </a:xfrm>
          <a:prstGeom prst="line">
            <a:avLst/>
          </a:prstGeom>
          <a:noFill/>
          <a:ln w="19050">
            <a:solidFill>
              <a:srgbClr val="CBD5E1"/>
            </a:solidFill>
            <a:prstDash val="solid"/>
          </a:ln>
        </p:spPr>
      </p:sp>
      <p:sp>
        <p:nvSpPr>
          <p:cNvPr id="30" name="Text 27"/>
          <p:cNvSpPr/>
          <p:nvPr/>
        </p:nvSpPr>
        <p:spPr>
          <a:xfrm>
            <a:off x="6583680" y="1764792"/>
            <a:ext cx="5029200" cy="237744"/>
          </a:xfrm>
          <a:prstGeom prst="rect">
            <a:avLst/>
          </a:prstGeom>
          <a:noFill/>
          <a:ln/>
        </p:spPr>
        <p:txBody>
          <a:bodyPr wrap="square" rtlCol="0" anchor="ctr"/>
          <a:lstStyle/>
          <a:p>
            <a:pPr marL="0" indent="0">
              <a:buNone/>
            </a:pPr>
            <a:r>
              <a:rPr lang="en-US" b="1" dirty="0">
                <a:solidFill>
                  <a:srgbClr val="0A1628"/>
                </a:solidFill>
              </a:rPr>
              <a:t>Data Acquisition</a:t>
            </a:r>
            <a:endParaRPr lang="en-US" dirty="0"/>
          </a:p>
        </p:txBody>
      </p:sp>
      <p:sp>
        <p:nvSpPr>
          <p:cNvPr id="31" name="Text 28"/>
          <p:cNvSpPr/>
          <p:nvPr/>
        </p:nvSpPr>
        <p:spPr>
          <a:xfrm>
            <a:off x="6583680" y="2011680"/>
            <a:ext cx="5029200" cy="320040"/>
          </a:xfrm>
          <a:prstGeom prst="rect">
            <a:avLst/>
          </a:prstGeom>
          <a:noFill/>
          <a:ln/>
        </p:spPr>
        <p:txBody>
          <a:bodyPr wrap="square" rtlCol="0" anchor="ctr"/>
          <a:lstStyle/>
          <a:p>
            <a:pPr marL="0" indent="0">
              <a:buNone/>
            </a:pPr>
            <a:r>
              <a:rPr lang="en-US" sz="1200" dirty="0">
                <a:solidFill>
                  <a:srgbClr val="475569"/>
                </a:solidFill>
              </a:rPr>
              <a:t>NSL-KDD dataset from Kaggle — KDDTrain+.txt (125,973) &amp; KDDTest+.txt (22,544)</a:t>
            </a:r>
            <a:endParaRPr lang="en-US" sz="1200" dirty="0"/>
          </a:p>
        </p:txBody>
      </p:sp>
      <p:sp>
        <p:nvSpPr>
          <p:cNvPr id="32" name="Shape 29"/>
          <p:cNvSpPr/>
          <p:nvPr/>
        </p:nvSpPr>
        <p:spPr>
          <a:xfrm>
            <a:off x="6108192" y="2532888"/>
            <a:ext cx="384048" cy="384048"/>
          </a:xfrm>
          <a:prstGeom prst="ellipse">
            <a:avLst/>
          </a:prstGeom>
          <a:solidFill>
            <a:srgbClr val="0EA5E9"/>
          </a:solidFill>
          <a:ln/>
        </p:spPr>
      </p:sp>
      <p:sp>
        <p:nvSpPr>
          <p:cNvPr id="33" name="Text 30"/>
          <p:cNvSpPr/>
          <p:nvPr/>
        </p:nvSpPr>
        <p:spPr>
          <a:xfrm>
            <a:off x="6108192" y="2532888"/>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2</a:t>
            </a:r>
            <a:endParaRPr lang="en-US" dirty="0"/>
          </a:p>
        </p:txBody>
      </p:sp>
      <p:sp>
        <p:nvSpPr>
          <p:cNvPr id="34" name="Shape 31"/>
          <p:cNvSpPr/>
          <p:nvPr/>
        </p:nvSpPr>
        <p:spPr>
          <a:xfrm>
            <a:off x="6286500" y="2926080"/>
            <a:ext cx="0" cy="210312"/>
          </a:xfrm>
          <a:prstGeom prst="line">
            <a:avLst/>
          </a:prstGeom>
          <a:noFill/>
          <a:ln w="19050">
            <a:solidFill>
              <a:srgbClr val="CBD5E1"/>
            </a:solidFill>
            <a:prstDash val="solid"/>
          </a:ln>
        </p:spPr>
      </p:sp>
      <p:sp>
        <p:nvSpPr>
          <p:cNvPr id="35" name="Text 32"/>
          <p:cNvSpPr/>
          <p:nvPr/>
        </p:nvSpPr>
        <p:spPr>
          <a:xfrm>
            <a:off x="6583680" y="2468880"/>
            <a:ext cx="5029200" cy="237744"/>
          </a:xfrm>
          <a:prstGeom prst="rect">
            <a:avLst/>
          </a:prstGeom>
          <a:noFill/>
          <a:ln/>
        </p:spPr>
        <p:txBody>
          <a:bodyPr wrap="square" rtlCol="0" anchor="ctr"/>
          <a:lstStyle/>
          <a:p>
            <a:pPr marL="0" indent="0">
              <a:buNone/>
            </a:pPr>
            <a:r>
              <a:rPr lang="en-US" b="1" dirty="0">
                <a:solidFill>
                  <a:srgbClr val="0A1628"/>
                </a:solidFill>
              </a:rPr>
              <a:t>Preprocessing &amp; Encoding</a:t>
            </a:r>
            <a:endParaRPr lang="en-US" dirty="0"/>
          </a:p>
        </p:txBody>
      </p:sp>
      <p:sp>
        <p:nvSpPr>
          <p:cNvPr id="36" name="Text 33"/>
          <p:cNvSpPr/>
          <p:nvPr/>
        </p:nvSpPr>
        <p:spPr>
          <a:xfrm>
            <a:off x="6583680" y="2715768"/>
            <a:ext cx="5029200" cy="320040"/>
          </a:xfrm>
          <a:prstGeom prst="rect">
            <a:avLst/>
          </a:prstGeom>
          <a:noFill/>
          <a:ln/>
        </p:spPr>
        <p:txBody>
          <a:bodyPr wrap="square" rtlCol="0" anchor="ctr"/>
          <a:lstStyle/>
          <a:p>
            <a:pPr marL="0" indent="0">
              <a:buNone/>
            </a:pPr>
            <a:r>
              <a:rPr lang="en-US" sz="1200" dirty="0">
                <a:solidFill>
                  <a:srgbClr val="475569"/>
                </a:solidFill>
              </a:rPr>
              <a:t>Label encoding, class imbalance handling, StandardScaler normalisation</a:t>
            </a:r>
            <a:endParaRPr lang="en-US" sz="1200" dirty="0"/>
          </a:p>
        </p:txBody>
      </p:sp>
      <p:sp>
        <p:nvSpPr>
          <p:cNvPr id="37" name="Shape 34"/>
          <p:cNvSpPr/>
          <p:nvPr/>
        </p:nvSpPr>
        <p:spPr>
          <a:xfrm>
            <a:off x="6108192" y="3236976"/>
            <a:ext cx="384048" cy="384048"/>
          </a:xfrm>
          <a:prstGeom prst="ellipse">
            <a:avLst/>
          </a:prstGeom>
          <a:solidFill>
            <a:srgbClr val="10B981"/>
          </a:solidFill>
          <a:ln/>
        </p:spPr>
      </p:sp>
      <p:sp>
        <p:nvSpPr>
          <p:cNvPr id="38" name="Text 35"/>
          <p:cNvSpPr/>
          <p:nvPr/>
        </p:nvSpPr>
        <p:spPr>
          <a:xfrm>
            <a:off x="6108192" y="3236976"/>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3</a:t>
            </a:r>
            <a:endParaRPr lang="en-US" dirty="0"/>
          </a:p>
        </p:txBody>
      </p:sp>
      <p:sp>
        <p:nvSpPr>
          <p:cNvPr id="39" name="Shape 36"/>
          <p:cNvSpPr/>
          <p:nvPr/>
        </p:nvSpPr>
        <p:spPr>
          <a:xfrm>
            <a:off x="6286500" y="3630168"/>
            <a:ext cx="0" cy="210312"/>
          </a:xfrm>
          <a:prstGeom prst="line">
            <a:avLst/>
          </a:prstGeom>
          <a:noFill/>
          <a:ln w="19050">
            <a:solidFill>
              <a:srgbClr val="CBD5E1"/>
            </a:solidFill>
            <a:prstDash val="solid"/>
          </a:ln>
        </p:spPr>
      </p:sp>
      <p:sp>
        <p:nvSpPr>
          <p:cNvPr id="40" name="Text 37"/>
          <p:cNvSpPr/>
          <p:nvPr/>
        </p:nvSpPr>
        <p:spPr>
          <a:xfrm>
            <a:off x="6583680" y="3172968"/>
            <a:ext cx="5029200" cy="237744"/>
          </a:xfrm>
          <a:prstGeom prst="rect">
            <a:avLst/>
          </a:prstGeom>
          <a:noFill/>
          <a:ln/>
        </p:spPr>
        <p:txBody>
          <a:bodyPr wrap="square" rtlCol="0" anchor="ctr"/>
          <a:lstStyle/>
          <a:p>
            <a:pPr marL="0" indent="0">
              <a:buNone/>
            </a:pPr>
            <a:r>
              <a:rPr lang="en-US" b="1" dirty="0">
                <a:solidFill>
                  <a:srgbClr val="0A1628"/>
                </a:solidFill>
              </a:rPr>
              <a:t>Feature Engineering</a:t>
            </a:r>
            <a:endParaRPr lang="en-US" dirty="0"/>
          </a:p>
        </p:txBody>
      </p:sp>
      <p:sp>
        <p:nvSpPr>
          <p:cNvPr id="41" name="Text 38"/>
          <p:cNvSpPr/>
          <p:nvPr/>
        </p:nvSpPr>
        <p:spPr>
          <a:xfrm>
            <a:off x="6583680" y="3419856"/>
            <a:ext cx="5029200" cy="320040"/>
          </a:xfrm>
          <a:prstGeom prst="rect">
            <a:avLst/>
          </a:prstGeom>
          <a:noFill/>
          <a:ln/>
        </p:spPr>
        <p:txBody>
          <a:bodyPr wrap="square" rtlCol="0" anchor="ctr"/>
          <a:lstStyle/>
          <a:p>
            <a:pPr marL="0" indent="0">
              <a:buNone/>
            </a:pPr>
            <a:r>
              <a:rPr lang="en-US" sz="1200" dirty="0">
                <a:solidFill>
                  <a:srgbClr val="475569"/>
                </a:solidFill>
              </a:rPr>
              <a:t>Mutual Information scoring → top 20 of 41 features selected</a:t>
            </a:r>
            <a:endParaRPr lang="en-US" sz="1200" dirty="0"/>
          </a:p>
        </p:txBody>
      </p:sp>
      <p:sp>
        <p:nvSpPr>
          <p:cNvPr id="42" name="Shape 39"/>
          <p:cNvSpPr/>
          <p:nvPr/>
        </p:nvSpPr>
        <p:spPr>
          <a:xfrm>
            <a:off x="6108192" y="3941064"/>
            <a:ext cx="384048" cy="384048"/>
          </a:xfrm>
          <a:prstGeom prst="ellipse">
            <a:avLst/>
          </a:prstGeom>
          <a:solidFill>
            <a:srgbClr val="6366F1"/>
          </a:solidFill>
          <a:ln/>
        </p:spPr>
      </p:sp>
      <p:sp>
        <p:nvSpPr>
          <p:cNvPr id="43" name="Text 40"/>
          <p:cNvSpPr/>
          <p:nvPr/>
        </p:nvSpPr>
        <p:spPr>
          <a:xfrm>
            <a:off x="6108192" y="3941064"/>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4</a:t>
            </a:r>
            <a:endParaRPr lang="en-US" dirty="0"/>
          </a:p>
        </p:txBody>
      </p:sp>
      <p:sp>
        <p:nvSpPr>
          <p:cNvPr id="44" name="Shape 41"/>
          <p:cNvSpPr/>
          <p:nvPr/>
        </p:nvSpPr>
        <p:spPr>
          <a:xfrm>
            <a:off x="6286500" y="4334256"/>
            <a:ext cx="0" cy="210312"/>
          </a:xfrm>
          <a:prstGeom prst="line">
            <a:avLst/>
          </a:prstGeom>
          <a:noFill/>
          <a:ln w="19050">
            <a:solidFill>
              <a:srgbClr val="CBD5E1"/>
            </a:solidFill>
            <a:prstDash val="solid"/>
          </a:ln>
        </p:spPr>
      </p:sp>
      <p:sp>
        <p:nvSpPr>
          <p:cNvPr id="45" name="Text 42"/>
          <p:cNvSpPr/>
          <p:nvPr/>
        </p:nvSpPr>
        <p:spPr>
          <a:xfrm>
            <a:off x="6583680" y="3877056"/>
            <a:ext cx="5029200" cy="237744"/>
          </a:xfrm>
          <a:prstGeom prst="rect">
            <a:avLst/>
          </a:prstGeom>
          <a:noFill/>
          <a:ln/>
        </p:spPr>
        <p:txBody>
          <a:bodyPr wrap="square" rtlCol="0" anchor="ctr"/>
          <a:lstStyle/>
          <a:p>
            <a:pPr marL="0" indent="0">
              <a:buNone/>
            </a:pPr>
            <a:r>
              <a:rPr lang="en-US" b="1" dirty="0">
                <a:solidFill>
                  <a:srgbClr val="0A1628"/>
                </a:solidFill>
              </a:rPr>
              <a:t>Model Development</a:t>
            </a:r>
            <a:endParaRPr lang="en-US" dirty="0"/>
          </a:p>
        </p:txBody>
      </p:sp>
      <p:sp>
        <p:nvSpPr>
          <p:cNvPr id="46" name="Text 43"/>
          <p:cNvSpPr/>
          <p:nvPr/>
        </p:nvSpPr>
        <p:spPr>
          <a:xfrm>
            <a:off x="6583680" y="4123944"/>
            <a:ext cx="5029200" cy="320040"/>
          </a:xfrm>
          <a:prstGeom prst="rect">
            <a:avLst/>
          </a:prstGeom>
          <a:noFill/>
          <a:ln/>
        </p:spPr>
        <p:txBody>
          <a:bodyPr wrap="square" rtlCol="0" anchor="ctr"/>
          <a:lstStyle/>
          <a:p>
            <a:pPr marL="0" indent="0">
              <a:buNone/>
            </a:pPr>
            <a:r>
              <a:rPr lang="en-US" sz="1200" dirty="0">
                <a:solidFill>
                  <a:srgbClr val="475569"/>
                </a:solidFill>
              </a:rPr>
              <a:t>2 unsupervised + 4 supervised models + hybrid engine + risk module</a:t>
            </a:r>
            <a:endParaRPr lang="en-US" sz="1200" dirty="0"/>
          </a:p>
        </p:txBody>
      </p:sp>
      <p:sp>
        <p:nvSpPr>
          <p:cNvPr id="47" name="Shape 44"/>
          <p:cNvSpPr/>
          <p:nvPr/>
        </p:nvSpPr>
        <p:spPr>
          <a:xfrm>
            <a:off x="6108192" y="4645152"/>
            <a:ext cx="384048" cy="384048"/>
          </a:xfrm>
          <a:prstGeom prst="ellipse">
            <a:avLst/>
          </a:prstGeom>
          <a:solidFill>
            <a:srgbClr val="6366F1"/>
          </a:solidFill>
          <a:ln/>
        </p:spPr>
      </p:sp>
      <p:sp>
        <p:nvSpPr>
          <p:cNvPr id="48" name="Text 45"/>
          <p:cNvSpPr/>
          <p:nvPr/>
        </p:nvSpPr>
        <p:spPr>
          <a:xfrm>
            <a:off x="6108192" y="4645152"/>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5</a:t>
            </a:r>
            <a:endParaRPr lang="en-US" dirty="0"/>
          </a:p>
        </p:txBody>
      </p:sp>
      <p:sp>
        <p:nvSpPr>
          <p:cNvPr id="49" name="Shape 46"/>
          <p:cNvSpPr/>
          <p:nvPr/>
        </p:nvSpPr>
        <p:spPr>
          <a:xfrm>
            <a:off x="6286500" y="5038344"/>
            <a:ext cx="0" cy="210312"/>
          </a:xfrm>
          <a:prstGeom prst="line">
            <a:avLst/>
          </a:prstGeom>
          <a:noFill/>
          <a:ln w="19050">
            <a:solidFill>
              <a:srgbClr val="CBD5E1"/>
            </a:solidFill>
            <a:prstDash val="solid"/>
          </a:ln>
        </p:spPr>
      </p:sp>
      <p:sp>
        <p:nvSpPr>
          <p:cNvPr id="50" name="Text 47"/>
          <p:cNvSpPr/>
          <p:nvPr/>
        </p:nvSpPr>
        <p:spPr>
          <a:xfrm>
            <a:off x="6583680" y="4581144"/>
            <a:ext cx="5029200" cy="237744"/>
          </a:xfrm>
          <a:prstGeom prst="rect">
            <a:avLst/>
          </a:prstGeom>
          <a:noFill/>
          <a:ln/>
        </p:spPr>
        <p:txBody>
          <a:bodyPr wrap="square" rtlCol="0" anchor="ctr"/>
          <a:lstStyle/>
          <a:p>
            <a:pPr marL="0" indent="0">
              <a:buNone/>
            </a:pPr>
            <a:r>
              <a:rPr lang="en-US" b="1" dirty="0">
                <a:solidFill>
                  <a:srgbClr val="0A1628"/>
                </a:solidFill>
              </a:rPr>
              <a:t>Training &amp; Optimisation</a:t>
            </a:r>
            <a:endParaRPr lang="en-US" dirty="0"/>
          </a:p>
        </p:txBody>
      </p:sp>
      <p:sp>
        <p:nvSpPr>
          <p:cNvPr id="51" name="Text 48"/>
          <p:cNvSpPr/>
          <p:nvPr/>
        </p:nvSpPr>
        <p:spPr>
          <a:xfrm>
            <a:off x="6583680" y="4828032"/>
            <a:ext cx="5029200" cy="320040"/>
          </a:xfrm>
          <a:prstGeom prst="rect">
            <a:avLst/>
          </a:prstGeom>
          <a:noFill/>
          <a:ln/>
        </p:spPr>
        <p:txBody>
          <a:bodyPr wrap="square" rtlCol="0" anchor="ctr"/>
          <a:lstStyle/>
          <a:p>
            <a:pPr marL="0" indent="0">
              <a:buNone/>
            </a:pPr>
            <a:r>
              <a:rPr lang="en-US" sz="1200" dirty="0">
                <a:solidFill>
                  <a:srgbClr val="475569"/>
                </a:solidFill>
              </a:rPr>
              <a:t>Stratified 80/20 split, class_weight='balanced', hyperparameter tuning</a:t>
            </a:r>
            <a:endParaRPr lang="en-US" sz="1200" dirty="0"/>
          </a:p>
        </p:txBody>
      </p:sp>
      <p:sp>
        <p:nvSpPr>
          <p:cNvPr id="52" name="Shape 49"/>
          <p:cNvSpPr/>
          <p:nvPr/>
        </p:nvSpPr>
        <p:spPr>
          <a:xfrm>
            <a:off x="6108192" y="5349240"/>
            <a:ext cx="384048" cy="384048"/>
          </a:xfrm>
          <a:prstGeom prst="ellipse">
            <a:avLst/>
          </a:prstGeom>
          <a:solidFill>
            <a:srgbClr val="F59E0B"/>
          </a:solidFill>
          <a:ln/>
        </p:spPr>
      </p:sp>
      <p:sp>
        <p:nvSpPr>
          <p:cNvPr id="53" name="Text 50"/>
          <p:cNvSpPr/>
          <p:nvPr/>
        </p:nvSpPr>
        <p:spPr>
          <a:xfrm>
            <a:off x="6108192" y="5349240"/>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6</a:t>
            </a:r>
            <a:endParaRPr lang="en-US" dirty="0"/>
          </a:p>
        </p:txBody>
      </p:sp>
      <p:sp>
        <p:nvSpPr>
          <p:cNvPr id="54" name="Shape 51"/>
          <p:cNvSpPr/>
          <p:nvPr/>
        </p:nvSpPr>
        <p:spPr>
          <a:xfrm>
            <a:off x="6286500" y="5742432"/>
            <a:ext cx="0" cy="210312"/>
          </a:xfrm>
          <a:prstGeom prst="line">
            <a:avLst/>
          </a:prstGeom>
          <a:noFill/>
          <a:ln w="19050">
            <a:solidFill>
              <a:srgbClr val="CBD5E1"/>
            </a:solidFill>
            <a:prstDash val="solid"/>
          </a:ln>
        </p:spPr>
      </p:sp>
      <p:sp>
        <p:nvSpPr>
          <p:cNvPr id="55" name="Text 52"/>
          <p:cNvSpPr/>
          <p:nvPr/>
        </p:nvSpPr>
        <p:spPr>
          <a:xfrm>
            <a:off x="6583680" y="5285232"/>
            <a:ext cx="5029200" cy="237744"/>
          </a:xfrm>
          <a:prstGeom prst="rect">
            <a:avLst/>
          </a:prstGeom>
          <a:noFill/>
          <a:ln/>
        </p:spPr>
        <p:txBody>
          <a:bodyPr wrap="square" rtlCol="0" anchor="ctr"/>
          <a:lstStyle/>
          <a:p>
            <a:pPr marL="0" indent="0">
              <a:buNone/>
            </a:pPr>
            <a:r>
              <a:rPr lang="en-US" b="1" dirty="0">
                <a:solidFill>
                  <a:srgbClr val="0A1628"/>
                </a:solidFill>
              </a:rPr>
              <a:t>Evaluation &amp; Comparison</a:t>
            </a:r>
            <a:endParaRPr lang="en-US" dirty="0"/>
          </a:p>
        </p:txBody>
      </p:sp>
      <p:sp>
        <p:nvSpPr>
          <p:cNvPr id="56" name="Text 53"/>
          <p:cNvSpPr/>
          <p:nvPr/>
        </p:nvSpPr>
        <p:spPr>
          <a:xfrm>
            <a:off x="6583680" y="5532120"/>
            <a:ext cx="5029200" cy="320040"/>
          </a:xfrm>
          <a:prstGeom prst="rect">
            <a:avLst/>
          </a:prstGeom>
          <a:noFill/>
          <a:ln/>
        </p:spPr>
        <p:txBody>
          <a:bodyPr wrap="square" rtlCol="0" anchor="ctr"/>
          <a:lstStyle/>
          <a:p>
            <a:pPr marL="0" indent="0">
              <a:buNone/>
            </a:pPr>
            <a:r>
              <a:rPr lang="en-US" sz="1200" dirty="0">
                <a:solidFill>
                  <a:srgbClr val="475569"/>
                </a:solidFill>
              </a:rPr>
              <a:t>Accuracy, F1, confusion matrix, ROC-AUC, 5-fold cross-validation</a:t>
            </a:r>
            <a:endParaRPr lang="en-US" sz="1200" dirty="0"/>
          </a:p>
        </p:txBody>
      </p:sp>
      <p:sp>
        <p:nvSpPr>
          <p:cNvPr id="57" name="Shape 54"/>
          <p:cNvSpPr/>
          <p:nvPr/>
        </p:nvSpPr>
        <p:spPr>
          <a:xfrm>
            <a:off x="6108192" y="6053328"/>
            <a:ext cx="384048" cy="384048"/>
          </a:xfrm>
          <a:prstGeom prst="ellipse">
            <a:avLst/>
          </a:prstGeom>
          <a:solidFill>
            <a:srgbClr val="F59E0B"/>
          </a:solidFill>
          <a:ln/>
        </p:spPr>
      </p:sp>
      <p:sp>
        <p:nvSpPr>
          <p:cNvPr id="58" name="Text 55"/>
          <p:cNvSpPr/>
          <p:nvPr/>
        </p:nvSpPr>
        <p:spPr>
          <a:xfrm>
            <a:off x="6108192" y="6053328"/>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7</a:t>
            </a:r>
            <a:endParaRPr lang="en-US" dirty="0"/>
          </a:p>
        </p:txBody>
      </p:sp>
      <p:sp>
        <p:nvSpPr>
          <p:cNvPr id="59" name="Text 56"/>
          <p:cNvSpPr/>
          <p:nvPr/>
        </p:nvSpPr>
        <p:spPr>
          <a:xfrm>
            <a:off x="6583680" y="5989320"/>
            <a:ext cx="5029200" cy="237744"/>
          </a:xfrm>
          <a:prstGeom prst="rect">
            <a:avLst/>
          </a:prstGeom>
          <a:noFill/>
          <a:ln/>
        </p:spPr>
        <p:txBody>
          <a:bodyPr wrap="square" rtlCol="0" anchor="ctr"/>
          <a:lstStyle/>
          <a:p>
            <a:pPr marL="0" indent="0">
              <a:buNone/>
            </a:pPr>
            <a:r>
              <a:rPr lang="en-US" b="1" dirty="0">
                <a:solidFill>
                  <a:srgbClr val="0A1628"/>
                </a:solidFill>
              </a:rPr>
              <a:t>Risk Scoring &amp; Reporting</a:t>
            </a:r>
            <a:endParaRPr lang="en-US" dirty="0"/>
          </a:p>
        </p:txBody>
      </p:sp>
      <p:sp>
        <p:nvSpPr>
          <p:cNvPr id="60" name="Text 57"/>
          <p:cNvSpPr/>
          <p:nvPr/>
        </p:nvSpPr>
        <p:spPr>
          <a:xfrm>
            <a:off x="6583680" y="6236208"/>
            <a:ext cx="5029200" cy="320040"/>
          </a:xfrm>
          <a:prstGeom prst="rect">
            <a:avLst/>
          </a:prstGeom>
          <a:noFill/>
          <a:ln/>
        </p:spPr>
        <p:txBody>
          <a:bodyPr wrap="square" rtlCol="0" anchor="ctr"/>
          <a:lstStyle/>
          <a:p>
            <a:pPr marL="0" indent="0">
              <a:buNone/>
            </a:pPr>
            <a:r>
              <a:rPr lang="en-US" sz="1200" dirty="0">
                <a:solidFill>
                  <a:srgbClr val="475569"/>
                </a:solidFill>
              </a:rPr>
              <a:t>0–100 risk score per event → Low / Medium / High categorisation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04 · PREPROCESSING &amp; FEATURE ENGINEERING</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Encoding · Normalisation · Feature Selection</a:t>
            </a:r>
            <a:endParaRPr lang="en-US" sz="2600" dirty="0"/>
          </a:p>
        </p:txBody>
      </p:sp>
      <p:sp>
        <p:nvSpPr>
          <p:cNvPr id="5" name="Shape 3"/>
          <p:cNvSpPr/>
          <p:nvPr/>
        </p:nvSpPr>
        <p:spPr>
          <a:xfrm>
            <a:off x="365760" y="1261872"/>
            <a:ext cx="5669280" cy="2514600"/>
          </a:xfrm>
          <a:prstGeom prst="rect">
            <a:avLst/>
          </a:prstGeom>
          <a:solidFill>
            <a:srgbClr val="0F1D2E"/>
          </a:solidFill>
          <a:ln/>
        </p:spPr>
      </p:sp>
      <p:sp>
        <p:nvSpPr>
          <p:cNvPr id="6" name="Text 4"/>
          <p:cNvSpPr/>
          <p:nvPr/>
        </p:nvSpPr>
        <p:spPr>
          <a:xfrm>
            <a:off x="475488" y="1335024"/>
            <a:ext cx="5449824" cy="236829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 Label Encoding for 3 categorical features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CAT_COLS = ['protocol_type', 'service', 'flag']</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for col in CAT_COLS: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le = LabelEncoder()</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combined = pd.concat([train_df[col], test_df[col]])</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le.fit(combined)              # fit on both to avoid unseen labels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train_enc[col] = le.transform(train_df[col])</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test_enc[col]  = le.transform(test_df[col])</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protocol_type → 3 categories  |  service → 70  |  flag → 11</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StandardScaler — mean=0, std=1 (fit on train, transform both)</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scaler   = StandardScaler()</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X_scaled = scaler.fit_transform(X_all)</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X_test_sc = scaler.transform(X_test_r)   # never fit on test</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Train/Validation split — 80/20 stratified</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X_tr, X_val, y_tr, y_val = train_test_split(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X_scaled, y_multi, test_size=0.20,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random_state=42, stratify=y_bin)</a:t>
            </a:r>
            <a:endParaRPr lang="en-US" sz="850" dirty="0"/>
          </a:p>
        </p:txBody>
      </p:sp>
      <p:sp>
        <p:nvSpPr>
          <p:cNvPr id="7" name="Shape 5"/>
          <p:cNvSpPr/>
          <p:nvPr/>
        </p:nvSpPr>
        <p:spPr>
          <a:xfrm>
            <a:off x="365760" y="3904488"/>
            <a:ext cx="5669280" cy="2011680"/>
          </a:xfrm>
          <a:prstGeom prst="rect">
            <a:avLst/>
          </a:prstGeom>
          <a:solidFill>
            <a:srgbClr val="0F1D2E"/>
          </a:solidFill>
          <a:ln/>
        </p:spPr>
      </p:sp>
      <p:sp>
        <p:nvSpPr>
          <p:cNvPr id="8" name="Text 6"/>
          <p:cNvSpPr/>
          <p:nvPr/>
        </p:nvSpPr>
        <p:spPr>
          <a:xfrm>
            <a:off x="475488" y="3977640"/>
            <a:ext cx="5449824" cy="186537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 Mutual Information Feature Selection</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mi_scores = mutual_info_classif(X_mm, y_bin, random_state=42)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mi_df = pd.DataFrame({'feature':FEAT_COLS,'MI':mi_scores})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.sort_values('MI', ascending=False)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TOP_K = 20   # select top 20 of 41 features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TOP_FEATS = mi_df['feature'].head(TOP_K).tolist()</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Top 5 features by MI score: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src_bytes           MI = 0.1480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service             MI = 0.1049</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dst_host_srv_count  MI = 0.1009</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dst_bytes           MI = 0.1005</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logged_in           MI = 0.0601</a:t>
            </a:r>
            <a:endParaRPr lang="en-US" sz="850" dirty="0"/>
          </a:p>
        </p:txBody>
      </p:sp>
      <p:sp>
        <p:nvSpPr>
          <p:cNvPr id="9" name="Shape 7"/>
          <p:cNvSpPr/>
          <p:nvPr/>
        </p:nvSpPr>
        <p:spPr>
          <a:xfrm>
            <a:off x="6263640" y="1261872"/>
            <a:ext cx="5486400" cy="978408"/>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6373368" y="1508760"/>
            <a:ext cx="384048" cy="384048"/>
          </a:xfrm>
          <a:prstGeom prst="ellipse">
            <a:avLst/>
          </a:prstGeom>
          <a:solidFill>
            <a:srgbClr val="0EA5E9"/>
          </a:solidFill>
          <a:ln/>
        </p:spPr>
      </p:sp>
      <p:sp>
        <p:nvSpPr>
          <p:cNvPr id="11" name="Text 9"/>
          <p:cNvSpPr/>
          <p:nvPr/>
        </p:nvSpPr>
        <p:spPr>
          <a:xfrm>
            <a:off x="6373368" y="1508760"/>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1</a:t>
            </a:r>
            <a:endParaRPr lang="en-US" dirty="0"/>
          </a:p>
        </p:txBody>
      </p:sp>
      <p:sp>
        <p:nvSpPr>
          <p:cNvPr id="12" name="Text 10"/>
          <p:cNvSpPr/>
          <p:nvPr/>
        </p:nvSpPr>
        <p:spPr>
          <a:xfrm>
            <a:off x="6858000" y="1335024"/>
            <a:ext cx="4754880" cy="274320"/>
          </a:xfrm>
          <a:prstGeom prst="rect">
            <a:avLst/>
          </a:prstGeom>
          <a:noFill/>
          <a:ln/>
        </p:spPr>
        <p:txBody>
          <a:bodyPr wrap="square" rtlCol="0" anchor="ctr"/>
          <a:lstStyle/>
          <a:p>
            <a:pPr marL="0" indent="0">
              <a:buNone/>
            </a:pPr>
            <a:r>
              <a:rPr lang="en-US" b="1" dirty="0">
                <a:solidFill>
                  <a:srgbClr val="0A1628"/>
                </a:solidFill>
              </a:rPr>
              <a:t>Label Encoding</a:t>
            </a:r>
            <a:endParaRPr lang="en-US" dirty="0"/>
          </a:p>
        </p:txBody>
      </p:sp>
      <p:sp>
        <p:nvSpPr>
          <p:cNvPr id="13" name="Text 11"/>
          <p:cNvSpPr/>
          <p:nvPr/>
        </p:nvSpPr>
        <p:spPr>
          <a:xfrm>
            <a:off x="6858000" y="1664208"/>
            <a:ext cx="4754880" cy="502920"/>
          </a:xfrm>
          <a:prstGeom prst="rect">
            <a:avLst/>
          </a:prstGeom>
          <a:noFill/>
          <a:ln/>
        </p:spPr>
        <p:txBody>
          <a:bodyPr wrap="square" rtlCol="0" anchor="ctr"/>
          <a:lstStyle/>
          <a:p>
            <a:pPr marL="0" indent="0">
              <a:lnSpc>
                <a:spcPct val="120000"/>
              </a:lnSpc>
              <a:buNone/>
            </a:pPr>
            <a:r>
              <a:rPr lang="en-US" sz="1100" dirty="0">
                <a:solidFill>
                  <a:srgbClr val="475569"/>
                </a:solidFill>
              </a:rPr>
              <a:t>protocol_type (3), service (70), flag (11) — encoded using LabelEncoder. Both train and test fit together to avoid unseen label errors.</a:t>
            </a:r>
            <a:endParaRPr lang="en-US" sz="1100" dirty="0"/>
          </a:p>
        </p:txBody>
      </p:sp>
      <p:sp>
        <p:nvSpPr>
          <p:cNvPr id="14" name="Shape 12"/>
          <p:cNvSpPr/>
          <p:nvPr/>
        </p:nvSpPr>
        <p:spPr>
          <a:xfrm>
            <a:off x="6263640" y="2368296"/>
            <a:ext cx="5486400" cy="978408"/>
          </a:xfrm>
          <a:prstGeom prst="rect">
            <a:avLst/>
          </a:prstGeom>
          <a:solidFill>
            <a:srgbClr val="FFFFFF"/>
          </a:solidFill>
          <a:ln/>
          <a:effectLst>
            <a:outerShdw blurRad="101600" dist="38100" dir="8100000" algn="bl" rotWithShape="0">
              <a:srgbClr val="000000">
                <a:alpha val="12000"/>
              </a:srgbClr>
            </a:outerShdw>
          </a:effectLst>
        </p:spPr>
      </p:sp>
      <p:sp>
        <p:nvSpPr>
          <p:cNvPr id="15" name="Shape 13"/>
          <p:cNvSpPr/>
          <p:nvPr/>
        </p:nvSpPr>
        <p:spPr>
          <a:xfrm>
            <a:off x="6373368" y="2615184"/>
            <a:ext cx="384048" cy="384048"/>
          </a:xfrm>
          <a:prstGeom prst="ellipse">
            <a:avLst/>
          </a:prstGeom>
          <a:solidFill>
            <a:srgbClr val="F59E0B"/>
          </a:solidFill>
          <a:ln/>
        </p:spPr>
      </p:sp>
      <p:sp>
        <p:nvSpPr>
          <p:cNvPr id="16" name="Text 14"/>
          <p:cNvSpPr/>
          <p:nvPr/>
        </p:nvSpPr>
        <p:spPr>
          <a:xfrm>
            <a:off x="6373368" y="2615184"/>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2</a:t>
            </a:r>
            <a:endParaRPr lang="en-US" dirty="0"/>
          </a:p>
        </p:txBody>
      </p:sp>
      <p:sp>
        <p:nvSpPr>
          <p:cNvPr id="17" name="Text 15"/>
          <p:cNvSpPr/>
          <p:nvPr/>
        </p:nvSpPr>
        <p:spPr>
          <a:xfrm>
            <a:off x="6858000" y="2441448"/>
            <a:ext cx="4754880" cy="274320"/>
          </a:xfrm>
          <a:prstGeom prst="rect">
            <a:avLst/>
          </a:prstGeom>
          <a:noFill/>
          <a:ln/>
        </p:spPr>
        <p:txBody>
          <a:bodyPr wrap="square" rtlCol="0" anchor="ctr"/>
          <a:lstStyle/>
          <a:p>
            <a:pPr marL="0" indent="0">
              <a:buNone/>
            </a:pPr>
            <a:r>
              <a:rPr lang="en-US" b="1" dirty="0">
                <a:solidFill>
                  <a:srgbClr val="0A1628"/>
                </a:solidFill>
              </a:rPr>
              <a:t>Class Imbalance Fix</a:t>
            </a:r>
            <a:endParaRPr lang="en-US" dirty="0"/>
          </a:p>
        </p:txBody>
      </p:sp>
      <p:sp>
        <p:nvSpPr>
          <p:cNvPr id="18" name="Text 16"/>
          <p:cNvSpPr/>
          <p:nvPr/>
        </p:nvSpPr>
        <p:spPr>
          <a:xfrm>
            <a:off x="6858000" y="2770632"/>
            <a:ext cx="4754880" cy="502920"/>
          </a:xfrm>
          <a:prstGeom prst="rect">
            <a:avLst/>
          </a:prstGeom>
          <a:noFill/>
          <a:ln/>
        </p:spPr>
        <p:txBody>
          <a:bodyPr wrap="square" rtlCol="0" anchor="ctr"/>
          <a:lstStyle/>
          <a:p>
            <a:pPr marL="0" indent="0">
              <a:lnSpc>
                <a:spcPct val="120000"/>
              </a:lnSpc>
              <a:buNone/>
            </a:pPr>
            <a:r>
              <a:rPr lang="en-US" sz="1100" dirty="0">
                <a:solidFill>
                  <a:srgbClr val="475569"/>
                </a:solidFill>
              </a:rPr>
              <a:t>class_weight='balanced' applied to all supervised models. U2R weight=438× because it has only 52 training records (0.04% of data).</a:t>
            </a:r>
            <a:endParaRPr lang="en-US" sz="1100" dirty="0"/>
          </a:p>
        </p:txBody>
      </p:sp>
      <p:sp>
        <p:nvSpPr>
          <p:cNvPr id="19" name="Shape 17"/>
          <p:cNvSpPr/>
          <p:nvPr/>
        </p:nvSpPr>
        <p:spPr>
          <a:xfrm>
            <a:off x="6263640" y="3474720"/>
            <a:ext cx="5486400" cy="978408"/>
          </a:xfrm>
          <a:prstGeom prst="rect">
            <a:avLst/>
          </a:prstGeom>
          <a:solidFill>
            <a:srgbClr val="FFFFFF"/>
          </a:solidFill>
          <a:ln/>
          <a:effectLst>
            <a:outerShdw blurRad="101600" dist="38100" dir="8100000" algn="bl" rotWithShape="0">
              <a:srgbClr val="000000">
                <a:alpha val="12000"/>
              </a:srgbClr>
            </a:outerShdw>
          </a:effectLst>
        </p:spPr>
      </p:sp>
      <p:sp>
        <p:nvSpPr>
          <p:cNvPr id="20" name="Shape 18"/>
          <p:cNvSpPr/>
          <p:nvPr/>
        </p:nvSpPr>
        <p:spPr>
          <a:xfrm>
            <a:off x="6373368" y="3721608"/>
            <a:ext cx="384048" cy="384048"/>
          </a:xfrm>
          <a:prstGeom prst="ellipse">
            <a:avLst/>
          </a:prstGeom>
          <a:solidFill>
            <a:srgbClr val="10B981"/>
          </a:solidFill>
          <a:ln/>
        </p:spPr>
      </p:sp>
      <p:sp>
        <p:nvSpPr>
          <p:cNvPr id="21" name="Text 19"/>
          <p:cNvSpPr/>
          <p:nvPr/>
        </p:nvSpPr>
        <p:spPr>
          <a:xfrm>
            <a:off x="6373368" y="3721608"/>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3</a:t>
            </a:r>
            <a:endParaRPr lang="en-US" dirty="0"/>
          </a:p>
        </p:txBody>
      </p:sp>
      <p:sp>
        <p:nvSpPr>
          <p:cNvPr id="22" name="Text 20"/>
          <p:cNvSpPr/>
          <p:nvPr/>
        </p:nvSpPr>
        <p:spPr>
          <a:xfrm>
            <a:off x="6858000" y="3547872"/>
            <a:ext cx="4754880" cy="274320"/>
          </a:xfrm>
          <a:prstGeom prst="rect">
            <a:avLst/>
          </a:prstGeom>
          <a:noFill/>
          <a:ln/>
        </p:spPr>
        <p:txBody>
          <a:bodyPr wrap="square" rtlCol="0" anchor="ctr"/>
          <a:lstStyle/>
          <a:p>
            <a:pPr marL="0" indent="0">
              <a:buNone/>
            </a:pPr>
            <a:r>
              <a:rPr lang="en-US" b="1" dirty="0">
                <a:solidFill>
                  <a:srgbClr val="0A1628"/>
                </a:solidFill>
              </a:rPr>
              <a:t>StandardScaler</a:t>
            </a:r>
            <a:endParaRPr lang="en-US" dirty="0"/>
          </a:p>
        </p:txBody>
      </p:sp>
      <p:sp>
        <p:nvSpPr>
          <p:cNvPr id="23" name="Text 21"/>
          <p:cNvSpPr/>
          <p:nvPr/>
        </p:nvSpPr>
        <p:spPr>
          <a:xfrm>
            <a:off x="6858000" y="3877056"/>
            <a:ext cx="4754880" cy="502920"/>
          </a:xfrm>
          <a:prstGeom prst="rect">
            <a:avLst/>
          </a:prstGeom>
          <a:noFill/>
          <a:ln/>
        </p:spPr>
        <p:txBody>
          <a:bodyPr wrap="square" rtlCol="0" anchor="ctr"/>
          <a:lstStyle/>
          <a:p>
            <a:pPr marL="0" indent="0">
              <a:lnSpc>
                <a:spcPct val="120000"/>
              </a:lnSpc>
              <a:buNone/>
            </a:pPr>
            <a:r>
              <a:rPr lang="en-US" sz="1100" dirty="0">
                <a:solidFill>
                  <a:srgbClr val="475569"/>
                </a:solidFill>
              </a:rPr>
              <a:t>Scales all features to mean=0, std=1. Critical for SVM and K-Means which are sensitive to feature magnitude. Scaler fit only on training set.</a:t>
            </a:r>
            <a:endParaRPr lang="en-US" sz="1100" dirty="0"/>
          </a:p>
        </p:txBody>
      </p:sp>
      <p:sp>
        <p:nvSpPr>
          <p:cNvPr id="24" name="Shape 22"/>
          <p:cNvSpPr/>
          <p:nvPr/>
        </p:nvSpPr>
        <p:spPr>
          <a:xfrm>
            <a:off x="6263640" y="4581144"/>
            <a:ext cx="5486400" cy="978408"/>
          </a:xfrm>
          <a:prstGeom prst="rect">
            <a:avLst/>
          </a:prstGeom>
          <a:solidFill>
            <a:srgbClr val="FFFFFF"/>
          </a:solidFill>
          <a:ln/>
          <a:effectLst>
            <a:outerShdw blurRad="101600" dist="38100" dir="8100000" algn="bl" rotWithShape="0">
              <a:srgbClr val="000000">
                <a:alpha val="12000"/>
              </a:srgbClr>
            </a:outerShdw>
          </a:effectLst>
        </p:spPr>
      </p:sp>
      <p:sp>
        <p:nvSpPr>
          <p:cNvPr id="25" name="Shape 23"/>
          <p:cNvSpPr/>
          <p:nvPr/>
        </p:nvSpPr>
        <p:spPr>
          <a:xfrm>
            <a:off x="6373368" y="4828032"/>
            <a:ext cx="384048" cy="384048"/>
          </a:xfrm>
          <a:prstGeom prst="ellipse">
            <a:avLst/>
          </a:prstGeom>
          <a:solidFill>
            <a:srgbClr val="0EA5E9"/>
          </a:solidFill>
          <a:ln/>
        </p:spPr>
      </p:sp>
      <p:sp>
        <p:nvSpPr>
          <p:cNvPr id="26" name="Text 24"/>
          <p:cNvSpPr/>
          <p:nvPr/>
        </p:nvSpPr>
        <p:spPr>
          <a:xfrm>
            <a:off x="6373368" y="4828032"/>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4</a:t>
            </a:r>
            <a:endParaRPr lang="en-US" dirty="0"/>
          </a:p>
        </p:txBody>
      </p:sp>
      <p:sp>
        <p:nvSpPr>
          <p:cNvPr id="27" name="Text 25"/>
          <p:cNvSpPr/>
          <p:nvPr/>
        </p:nvSpPr>
        <p:spPr>
          <a:xfrm>
            <a:off x="6858000" y="4654296"/>
            <a:ext cx="4754880" cy="274320"/>
          </a:xfrm>
          <a:prstGeom prst="rect">
            <a:avLst/>
          </a:prstGeom>
          <a:noFill/>
          <a:ln/>
        </p:spPr>
        <p:txBody>
          <a:bodyPr wrap="square" rtlCol="0" anchor="ctr"/>
          <a:lstStyle/>
          <a:p>
            <a:pPr marL="0" indent="0">
              <a:buNone/>
            </a:pPr>
            <a:r>
              <a:rPr lang="en-US" b="1" dirty="0">
                <a:solidFill>
                  <a:srgbClr val="0A1628"/>
                </a:solidFill>
              </a:rPr>
              <a:t>80/20 Stratified Split</a:t>
            </a:r>
            <a:endParaRPr lang="en-US" dirty="0"/>
          </a:p>
        </p:txBody>
      </p:sp>
      <p:sp>
        <p:nvSpPr>
          <p:cNvPr id="28" name="Text 26"/>
          <p:cNvSpPr/>
          <p:nvPr/>
        </p:nvSpPr>
        <p:spPr>
          <a:xfrm>
            <a:off x="6858000" y="4983480"/>
            <a:ext cx="4754880" cy="502920"/>
          </a:xfrm>
          <a:prstGeom prst="rect">
            <a:avLst/>
          </a:prstGeom>
          <a:noFill/>
          <a:ln/>
        </p:spPr>
        <p:txBody>
          <a:bodyPr wrap="square" rtlCol="0" anchor="ctr"/>
          <a:lstStyle/>
          <a:p>
            <a:pPr marL="0" indent="0">
              <a:lnSpc>
                <a:spcPct val="120000"/>
              </a:lnSpc>
              <a:buNone/>
            </a:pPr>
            <a:r>
              <a:rPr lang="en-US" sz="1100" dirty="0">
                <a:solidFill>
                  <a:srgbClr val="475569"/>
                </a:solidFill>
              </a:rPr>
              <a:t>100,778 training records · 25,195 validation. Stratification ensures U2R and R2L are represented in both sets despite being rare.</a:t>
            </a:r>
            <a:endParaRPr lang="en-US" sz="1100" dirty="0"/>
          </a:p>
        </p:txBody>
      </p:sp>
      <p:sp>
        <p:nvSpPr>
          <p:cNvPr id="29" name="Shape 27"/>
          <p:cNvSpPr/>
          <p:nvPr/>
        </p:nvSpPr>
        <p:spPr>
          <a:xfrm>
            <a:off x="6263640" y="5687568"/>
            <a:ext cx="5486400" cy="978408"/>
          </a:xfrm>
          <a:prstGeom prst="rect">
            <a:avLst/>
          </a:prstGeom>
          <a:solidFill>
            <a:srgbClr val="FFFFFF"/>
          </a:solidFill>
          <a:ln/>
          <a:effectLst>
            <a:outerShdw blurRad="101600" dist="38100" dir="8100000" algn="bl" rotWithShape="0">
              <a:srgbClr val="000000">
                <a:alpha val="12000"/>
              </a:srgbClr>
            </a:outerShdw>
          </a:effectLst>
        </p:spPr>
      </p:sp>
      <p:sp>
        <p:nvSpPr>
          <p:cNvPr id="30" name="Shape 28"/>
          <p:cNvSpPr/>
          <p:nvPr/>
        </p:nvSpPr>
        <p:spPr>
          <a:xfrm>
            <a:off x="6373368" y="5934456"/>
            <a:ext cx="384048" cy="384048"/>
          </a:xfrm>
          <a:prstGeom prst="ellipse">
            <a:avLst/>
          </a:prstGeom>
          <a:solidFill>
            <a:srgbClr val="0D2447"/>
          </a:solidFill>
          <a:ln/>
        </p:spPr>
      </p:sp>
      <p:sp>
        <p:nvSpPr>
          <p:cNvPr id="31" name="Text 29"/>
          <p:cNvSpPr/>
          <p:nvPr/>
        </p:nvSpPr>
        <p:spPr>
          <a:xfrm>
            <a:off x="6373368" y="5934456"/>
            <a:ext cx="384048" cy="384048"/>
          </a:xfrm>
          <a:prstGeom prst="rect">
            <a:avLst/>
          </a:prstGeom>
          <a:noFill/>
          <a:ln/>
        </p:spPr>
        <p:txBody>
          <a:bodyPr wrap="square" lIns="0" tIns="0" rIns="0" bIns="0" rtlCol="0" anchor="ctr"/>
          <a:lstStyle/>
          <a:p>
            <a:pPr marL="0" indent="0" algn="ctr">
              <a:buNone/>
            </a:pPr>
            <a:r>
              <a:rPr lang="en-US" b="1" dirty="0">
                <a:solidFill>
                  <a:srgbClr val="FFFFFF"/>
                </a:solidFill>
              </a:rPr>
              <a:t>5</a:t>
            </a:r>
            <a:endParaRPr lang="en-US" dirty="0"/>
          </a:p>
        </p:txBody>
      </p:sp>
      <p:sp>
        <p:nvSpPr>
          <p:cNvPr id="32" name="Text 30"/>
          <p:cNvSpPr/>
          <p:nvPr/>
        </p:nvSpPr>
        <p:spPr>
          <a:xfrm>
            <a:off x="6858000" y="5760720"/>
            <a:ext cx="4754880" cy="274320"/>
          </a:xfrm>
          <a:prstGeom prst="rect">
            <a:avLst/>
          </a:prstGeom>
          <a:noFill/>
          <a:ln/>
        </p:spPr>
        <p:txBody>
          <a:bodyPr wrap="square" rtlCol="0" anchor="ctr"/>
          <a:lstStyle/>
          <a:p>
            <a:pPr marL="0" indent="0">
              <a:buNone/>
            </a:pPr>
            <a:r>
              <a:rPr lang="en-US" b="1" dirty="0">
                <a:solidFill>
                  <a:srgbClr val="0A1628"/>
                </a:solidFill>
              </a:rPr>
              <a:t>Mutual Info Selection</a:t>
            </a:r>
            <a:endParaRPr lang="en-US" dirty="0"/>
          </a:p>
        </p:txBody>
      </p:sp>
      <p:sp>
        <p:nvSpPr>
          <p:cNvPr id="33" name="Text 31"/>
          <p:cNvSpPr/>
          <p:nvPr/>
        </p:nvSpPr>
        <p:spPr>
          <a:xfrm>
            <a:off x="6858000" y="6089904"/>
            <a:ext cx="4754880" cy="502920"/>
          </a:xfrm>
          <a:prstGeom prst="rect">
            <a:avLst/>
          </a:prstGeom>
          <a:noFill/>
          <a:ln/>
        </p:spPr>
        <p:txBody>
          <a:bodyPr wrap="square" rtlCol="0" anchor="ctr"/>
          <a:lstStyle/>
          <a:p>
            <a:pPr marL="0" indent="0">
              <a:lnSpc>
                <a:spcPct val="120000"/>
              </a:lnSpc>
              <a:buNone/>
            </a:pPr>
            <a:r>
              <a:rPr lang="en-US" sz="1100" dirty="0">
                <a:solidFill>
                  <a:srgbClr val="475569"/>
                </a:solidFill>
              </a:rPr>
              <a:t>Top 20 of 41 features selected by mutual information with binary label. Reduces noise, cuts training time, improves generalisation.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05 · UNSUPERVISED LEARNING</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Isolation Forest &amp; K-Means Clustering</a:t>
            </a:r>
            <a:endParaRPr lang="en-US" sz="2600" dirty="0"/>
          </a:p>
        </p:txBody>
      </p:sp>
      <p:sp>
        <p:nvSpPr>
          <p:cNvPr id="5" name="Shape 3"/>
          <p:cNvSpPr/>
          <p:nvPr/>
        </p:nvSpPr>
        <p:spPr>
          <a:xfrm>
            <a:off x="365760" y="1261872"/>
            <a:ext cx="5577840" cy="51206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1261872"/>
            <a:ext cx="5577840" cy="347472"/>
          </a:xfrm>
          <a:prstGeom prst="rect">
            <a:avLst/>
          </a:prstGeom>
          <a:solidFill>
            <a:srgbClr val="0D2447"/>
          </a:solidFill>
          <a:ln/>
        </p:spPr>
      </p:sp>
      <p:sp>
        <p:nvSpPr>
          <p:cNvPr id="7" name="Text 5"/>
          <p:cNvSpPr/>
          <p:nvPr/>
        </p:nvSpPr>
        <p:spPr>
          <a:xfrm>
            <a:off x="502920" y="1261872"/>
            <a:ext cx="5303520" cy="347472"/>
          </a:xfrm>
          <a:prstGeom prst="rect">
            <a:avLst/>
          </a:prstGeom>
          <a:noFill/>
          <a:ln/>
        </p:spPr>
        <p:txBody>
          <a:bodyPr wrap="square" rtlCol="0" anchor="ctr"/>
          <a:lstStyle/>
          <a:p>
            <a:pPr marL="0" indent="0">
              <a:buNone/>
            </a:pPr>
            <a:r>
              <a:rPr lang="en-US" sz="1200" b="1" dirty="0">
                <a:solidFill>
                  <a:srgbClr val="FFFFFF"/>
                </a:solidFill>
              </a:rPr>
              <a:t>Isolation Forest — Anomaly Detection</a:t>
            </a:r>
            <a:endParaRPr lang="en-US" sz="1200" dirty="0"/>
          </a:p>
        </p:txBody>
      </p:sp>
      <p:sp>
        <p:nvSpPr>
          <p:cNvPr id="8" name="Text 6"/>
          <p:cNvSpPr/>
          <p:nvPr/>
        </p:nvSpPr>
        <p:spPr>
          <a:xfrm>
            <a:off x="502920" y="1691640"/>
            <a:ext cx="5303520" cy="640080"/>
          </a:xfrm>
          <a:prstGeom prst="rect">
            <a:avLst/>
          </a:prstGeom>
          <a:noFill/>
          <a:ln/>
        </p:spPr>
        <p:txBody>
          <a:bodyPr wrap="square" rtlCol="0" anchor="ctr"/>
          <a:lstStyle/>
          <a:p>
            <a:pPr marL="0" indent="0">
              <a:lnSpc>
                <a:spcPct val="130000"/>
              </a:lnSpc>
              <a:buNone/>
            </a:pPr>
            <a:r>
              <a:rPr lang="en-US" sz="1050" dirty="0">
                <a:solidFill>
                  <a:srgbClr val="334155"/>
                </a:solidFill>
              </a:rPr>
              <a:t>Identifies anomalies by randomly partitioning features. Rare/unusual traffic is isolated in fewer steps → higher anomaly score. Trained with NO labels — detects zero-day attacks.</a:t>
            </a:r>
            <a:endParaRPr lang="en-US" sz="1050" dirty="0"/>
          </a:p>
        </p:txBody>
      </p:sp>
      <p:sp>
        <p:nvSpPr>
          <p:cNvPr id="9" name="Shape 7"/>
          <p:cNvSpPr/>
          <p:nvPr/>
        </p:nvSpPr>
        <p:spPr>
          <a:xfrm>
            <a:off x="502920" y="2450592"/>
            <a:ext cx="5303520" cy="2194560"/>
          </a:xfrm>
          <a:prstGeom prst="rect">
            <a:avLst/>
          </a:prstGeom>
          <a:solidFill>
            <a:srgbClr val="0F1D2E"/>
          </a:solidFill>
          <a:ln/>
        </p:spPr>
      </p:sp>
      <p:sp>
        <p:nvSpPr>
          <p:cNvPr id="10" name="Text 8"/>
          <p:cNvSpPr/>
          <p:nvPr/>
        </p:nvSpPr>
        <p:spPr>
          <a:xfrm>
            <a:off x="612648" y="2523744"/>
            <a:ext cx="5084064" cy="204825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iso_forest = IsolationForest(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n_estimators  = 300,    # 300 trees for stable scores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contamination = 0.46,   # expected 46% attack traffic</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max_samples   = 'auto',</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random_state  = 42, n_jobs = -1</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iso_forest.fit(X_tr_top)  # NO labels used</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iso_pred  = (iso_forest.predict(X) == -1).astype(int)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iso_score = -iso_forest.score_samples(X)   # higher = more anomalous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iso_norm  = (iso_score-iso_score.min()) / (iso_score.max()-iso_score.min())</a:t>
            </a:r>
            <a:endParaRPr lang="en-US" sz="850" dirty="0"/>
          </a:p>
        </p:txBody>
      </p:sp>
      <p:sp>
        <p:nvSpPr>
          <p:cNvPr id="11" name="Text 9"/>
          <p:cNvSpPr/>
          <p:nvPr/>
        </p:nvSpPr>
        <p:spPr>
          <a:xfrm>
            <a:off x="502920" y="4754880"/>
            <a:ext cx="5303520" cy="256032"/>
          </a:xfrm>
          <a:prstGeom prst="rect">
            <a:avLst/>
          </a:prstGeom>
          <a:noFill/>
          <a:ln/>
        </p:spPr>
        <p:txBody>
          <a:bodyPr wrap="square" rtlCol="0" anchor="ctr"/>
          <a:lstStyle/>
          <a:p>
            <a:pPr marL="0" indent="0">
              <a:buNone/>
            </a:pPr>
            <a:r>
              <a:rPr lang="en-US" sz="950" b="1" dirty="0">
                <a:solidFill>
                  <a:srgbClr val="94A3B8"/>
                </a:solidFill>
              </a:rPr>
              <a:t>Validation Metrics (no labels used during training)</a:t>
            </a:r>
            <a:endParaRPr lang="en-US" sz="950" dirty="0"/>
          </a:p>
        </p:txBody>
      </p:sp>
      <p:sp>
        <p:nvSpPr>
          <p:cNvPr id="12" name="Shape 10"/>
          <p:cNvSpPr/>
          <p:nvPr/>
        </p:nvSpPr>
        <p:spPr>
          <a:xfrm>
            <a:off x="502920" y="5047488"/>
            <a:ext cx="1188720" cy="640080"/>
          </a:xfrm>
          <a:prstGeom prst="roundRect">
            <a:avLst>
              <a:gd name="adj" fmla="val 8571"/>
            </a:avLst>
          </a:prstGeom>
          <a:solidFill>
            <a:srgbClr val="F1F5F9"/>
          </a:solidFill>
          <a:ln/>
        </p:spPr>
      </p:sp>
      <p:sp>
        <p:nvSpPr>
          <p:cNvPr id="13" name="Text 11"/>
          <p:cNvSpPr/>
          <p:nvPr/>
        </p:nvSpPr>
        <p:spPr>
          <a:xfrm>
            <a:off x="502920" y="5074920"/>
            <a:ext cx="1188720" cy="301752"/>
          </a:xfrm>
          <a:prstGeom prst="rect">
            <a:avLst/>
          </a:prstGeom>
          <a:noFill/>
          <a:ln/>
        </p:spPr>
        <p:txBody>
          <a:bodyPr wrap="square" rtlCol="0" anchor="ctr"/>
          <a:lstStyle/>
          <a:p>
            <a:pPr marL="0" indent="0" algn="ctr">
              <a:buNone/>
            </a:pPr>
            <a:r>
              <a:rPr lang="en-US" sz="1300" b="1" dirty="0">
                <a:solidFill>
                  <a:srgbClr val="F59E0B"/>
                </a:solidFill>
              </a:rPr>
              <a:t>63.26%</a:t>
            </a:r>
            <a:endParaRPr lang="en-US" sz="1300" dirty="0"/>
          </a:p>
        </p:txBody>
      </p:sp>
      <p:sp>
        <p:nvSpPr>
          <p:cNvPr id="14" name="Text 12"/>
          <p:cNvSpPr/>
          <p:nvPr/>
        </p:nvSpPr>
        <p:spPr>
          <a:xfrm>
            <a:off x="502920" y="5367528"/>
            <a:ext cx="1188720" cy="228600"/>
          </a:xfrm>
          <a:prstGeom prst="rect">
            <a:avLst/>
          </a:prstGeom>
          <a:noFill/>
          <a:ln/>
        </p:spPr>
        <p:txBody>
          <a:bodyPr wrap="square" rtlCol="0" anchor="ctr"/>
          <a:lstStyle/>
          <a:p>
            <a:pPr marL="0" indent="0" algn="ctr">
              <a:buNone/>
            </a:pPr>
            <a:r>
              <a:rPr lang="en-US" sz="850" dirty="0">
                <a:solidFill>
                  <a:srgbClr val="94A3B8"/>
                </a:solidFill>
              </a:rPr>
              <a:t>Accuracy</a:t>
            </a:r>
            <a:endParaRPr lang="en-US" sz="850" dirty="0"/>
          </a:p>
        </p:txBody>
      </p:sp>
      <p:sp>
        <p:nvSpPr>
          <p:cNvPr id="15" name="Shape 13"/>
          <p:cNvSpPr/>
          <p:nvPr/>
        </p:nvSpPr>
        <p:spPr>
          <a:xfrm>
            <a:off x="1828800" y="5047488"/>
            <a:ext cx="1188720" cy="640080"/>
          </a:xfrm>
          <a:prstGeom prst="roundRect">
            <a:avLst>
              <a:gd name="adj" fmla="val 8571"/>
            </a:avLst>
          </a:prstGeom>
          <a:solidFill>
            <a:srgbClr val="F1F5F9"/>
          </a:solidFill>
          <a:ln/>
        </p:spPr>
      </p:sp>
      <p:sp>
        <p:nvSpPr>
          <p:cNvPr id="16" name="Text 14"/>
          <p:cNvSpPr/>
          <p:nvPr/>
        </p:nvSpPr>
        <p:spPr>
          <a:xfrm>
            <a:off x="1828800" y="5074920"/>
            <a:ext cx="1188720" cy="301752"/>
          </a:xfrm>
          <a:prstGeom prst="rect">
            <a:avLst/>
          </a:prstGeom>
          <a:noFill/>
          <a:ln/>
        </p:spPr>
        <p:txBody>
          <a:bodyPr wrap="square" rtlCol="0" anchor="ctr"/>
          <a:lstStyle/>
          <a:p>
            <a:pPr marL="0" indent="0" algn="ctr">
              <a:buNone/>
            </a:pPr>
            <a:r>
              <a:rPr lang="en-US" sz="1300" b="1" dirty="0">
                <a:solidFill>
                  <a:srgbClr val="F59E0B"/>
                </a:solidFill>
              </a:rPr>
              <a:t>0.4826</a:t>
            </a:r>
            <a:endParaRPr lang="en-US" sz="1300" dirty="0"/>
          </a:p>
        </p:txBody>
      </p:sp>
      <p:sp>
        <p:nvSpPr>
          <p:cNvPr id="17" name="Text 15"/>
          <p:cNvSpPr/>
          <p:nvPr/>
        </p:nvSpPr>
        <p:spPr>
          <a:xfrm>
            <a:off x="1828800" y="5367528"/>
            <a:ext cx="1188720" cy="228600"/>
          </a:xfrm>
          <a:prstGeom prst="rect">
            <a:avLst/>
          </a:prstGeom>
          <a:noFill/>
          <a:ln/>
        </p:spPr>
        <p:txBody>
          <a:bodyPr wrap="square" rtlCol="0" anchor="ctr"/>
          <a:lstStyle/>
          <a:p>
            <a:pPr marL="0" indent="0" algn="ctr">
              <a:buNone/>
            </a:pPr>
            <a:r>
              <a:rPr lang="en-US" sz="850" dirty="0">
                <a:solidFill>
                  <a:srgbClr val="94A3B8"/>
                </a:solidFill>
              </a:rPr>
              <a:t>F1 Score</a:t>
            </a:r>
            <a:endParaRPr lang="en-US" sz="850" dirty="0"/>
          </a:p>
        </p:txBody>
      </p:sp>
      <p:sp>
        <p:nvSpPr>
          <p:cNvPr id="18" name="Shape 16"/>
          <p:cNvSpPr/>
          <p:nvPr/>
        </p:nvSpPr>
        <p:spPr>
          <a:xfrm>
            <a:off x="3154680" y="5047488"/>
            <a:ext cx="1188720" cy="640080"/>
          </a:xfrm>
          <a:prstGeom prst="roundRect">
            <a:avLst>
              <a:gd name="adj" fmla="val 8571"/>
            </a:avLst>
          </a:prstGeom>
          <a:solidFill>
            <a:srgbClr val="F1F5F9"/>
          </a:solidFill>
          <a:ln/>
        </p:spPr>
      </p:sp>
      <p:sp>
        <p:nvSpPr>
          <p:cNvPr id="19" name="Text 17"/>
          <p:cNvSpPr/>
          <p:nvPr/>
        </p:nvSpPr>
        <p:spPr>
          <a:xfrm>
            <a:off x="3154680" y="5074920"/>
            <a:ext cx="1188720" cy="301752"/>
          </a:xfrm>
          <a:prstGeom prst="rect">
            <a:avLst/>
          </a:prstGeom>
          <a:noFill/>
          <a:ln/>
        </p:spPr>
        <p:txBody>
          <a:bodyPr wrap="square" rtlCol="0" anchor="ctr"/>
          <a:lstStyle/>
          <a:p>
            <a:pPr marL="0" indent="0" algn="ctr">
              <a:buNone/>
            </a:pPr>
            <a:r>
              <a:rPr lang="en-US" sz="1300" b="1" dirty="0">
                <a:solidFill>
                  <a:srgbClr val="10B981"/>
                </a:solidFill>
              </a:rPr>
              <a:t>0.9547</a:t>
            </a:r>
            <a:endParaRPr lang="en-US" sz="1300" dirty="0"/>
          </a:p>
        </p:txBody>
      </p:sp>
      <p:sp>
        <p:nvSpPr>
          <p:cNvPr id="20" name="Text 18"/>
          <p:cNvSpPr/>
          <p:nvPr/>
        </p:nvSpPr>
        <p:spPr>
          <a:xfrm>
            <a:off x="3154680" y="5367528"/>
            <a:ext cx="1188720" cy="228600"/>
          </a:xfrm>
          <a:prstGeom prst="rect">
            <a:avLst/>
          </a:prstGeom>
          <a:noFill/>
          <a:ln/>
        </p:spPr>
        <p:txBody>
          <a:bodyPr wrap="square" rtlCol="0" anchor="ctr"/>
          <a:lstStyle/>
          <a:p>
            <a:pPr marL="0" indent="0" algn="ctr">
              <a:buNone/>
            </a:pPr>
            <a:r>
              <a:rPr lang="en-US" sz="850" dirty="0">
                <a:solidFill>
                  <a:srgbClr val="94A3B8"/>
                </a:solidFill>
              </a:rPr>
              <a:t>Recall</a:t>
            </a:r>
            <a:endParaRPr lang="en-US" sz="850" dirty="0"/>
          </a:p>
        </p:txBody>
      </p:sp>
      <p:sp>
        <p:nvSpPr>
          <p:cNvPr id="21" name="Shape 19"/>
          <p:cNvSpPr/>
          <p:nvPr/>
        </p:nvSpPr>
        <p:spPr>
          <a:xfrm>
            <a:off x="4480560" y="5047488"/>
            <a:ext cx="1188720" cy="640080"/>
          </a:xfrm>
          <a:prstGeom prst="roundRect">
            <a:avLst>
              <a:gd name="adj" fmla="val 8571"/>
            </a:avLst>
          </a:prstGeom>
          <a:solidFill>
            <a:srgbClr val="F1F5F9"/>
          </a:solidFill>
          <a:ln/>
        </p:spPr>
      </p:sp>
      <p:sp>
        <p:nvSpPr>
          <p:cNvPr id="22" name="Text 20"/>
          <p:cNvSpPr/>
          <p:nvPr/>
        </p:nvSpPr>
        <p:spPr>
          <a:xfrm>
            <a:off x="4480560" y="5074920"/>
            <a:ext cx="1188720" cy="301752"/>
          </a:xfrm>
          <a:prstGeom prst="rect">
            <a:avLst/>
          </a:prstGeom>
          <a:noFill/>
          <a:ln/>
        </p:spPr>
        <p:txBody>
          <a:bodyPr wrap="square" rtlCol="0" anchor="ctr"/>
          <a:lstStyle/>
          <a:p>
            <a:pPr marL="0" indent="0" algn="ctr">
              <a:buNone/>
            </a:pPr>
            <a:r>
              <a:rPr lang="en-US" sz="1300" b="1" dirty="0">
                <a:solidFill>
                  <a:srgbClr val="F59E0B"/>
                </a:solidFill>
              </a:rPr>
              <a:t>0.3234</a:t>
            </a:r>
            <a:endParaRPr lang="en-US" sz="1300" dirty="0"/>
          </a:p>
        </p:txBody>
      </p:sp>
      <p:sp>
        <p:nvSpPr>
          <p:cNvPr id="23" name="Text 21"/>
          <p:cNvSpPr/>
          <p:nvPr/>
        </p:nvSpPr>
        <p:spPr>
          <a:xfrm>
            <a:off x="4480560" y="5367528"/>
            <a:ext cx="1188720" cy="228600"/>
          </a:xfrm>
          <a:prstGeom prst="rect">
            <a:avLst/>
          </a:prstGeom>
          <a:noFill/>
          <a:ln/>
        </p:spPr>
        <p:txBody>
          <a:bodyPr wrap="square" rtlCol="0" anchor="ctr"/>
          <a:lstStyle/>
          <a:p>
            <a:pPr marL="0" indent="0" algn="ctr">
              <a:buNone/>
            </a:pPr>
            <a:r>
              <a:rPr lang="en-US" sz="850" dirty="0">
                <a:solidFill>
                  <a:srgbClr val="94A3B8"/>
                </a:solidFill>
              </a:rPr>
              <a:t>Precision</a:t>
            </a:r>
            <a:endParaRPr lang="en-US" sz="850" dirty="0"/>
          </a:p>
        </p:txBody>
      </p:sp>
      <p:sp>
        <p:nvSpPr>
          <p:cNvPr id="24" name="Text 22"/>
          <p:cNvSpPr/>
          <p:nvPr/>
        </p:nvSpPr>
        <p:spPr>
          <a:xfrm>
            <a:off x="502920" y="5779008"/>
            <a:ext cx="5303520" cy="274320"/>
          </a:xfrm>
          <a:prstGeom prst="rect">
            <a:avLst/>
          </a:prstGeom>
          <a:noFill/>
          <a:ln/>
        </p:spPr>
        <p:txBody>
          <a:bodyPr wrap="square" rtlCol="0" anchor="ctr"/>
          <a:lstStyle/>
          <a:p>
            <a:pPr marL="0" indent="0">
              <a:buNone/>
            </a:pPr>
            <a:r>
              <a:rPr lang="en-US" sz="900" i="1" dirty="0">
                <a:solidFill>
                  <a:srgbClr val="94A3B8"/>
                </a:solidFill>
              </a:rPr>
              <a:t>Low accuracy is expected — the value of Isolation Forest is zero-day detection, not accuracy.</a:t>
            </a:r>
            <a:endParaRPr lang="en-US" sz="900" dirty="0"/>
          </a:p>
        </p:txBody>
      </p:sp>
      <p:sp>
        <p:nvSpPr>
          <p:cNvPr id="25" name="Shape 23"/>
          <p:cNvSpPr/>
          <p:nvPr/>
        </p:nvSpPr>
        <p:spPr>
          <a:xfrm>
            <a:off x="6217920" y="1261872"/>
            <a:ext cx="5577840" cy="512064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6217920" y="1261872"/>
            <a:ext cx="5577840" cy="347472"/>
          </a:xfrm>
          <a:prstGeom prst="rect">
            <a:avLst/>
          </a:prstGeom>
          <a:solidFill>
            <a:srgbClr val="0D2447"/>
          </a:solidFill>
          <a:ln/>
        </p:spPr>
      </p:sp>
      <p:sp>
        <p:nvSpPr>
          <p:cNvPr id="27" name="Text 25"/>
          <p:cNvSpPr/>
          <p:nvPr/>
        </p:nvSpPr>
        <p:spPr>
          <a:xfrm>
            <a:off x="6355080" y="1261872"/>
            <a:ext cx="5303520" cy="347472"/>
          </a:xfrm>
          <a:prstGeom prst="rect">
            <a:avLst/>
          </a:prstGeom>
          <a:noFill/>
          <a:ln/>
        </p:spPr>
        <p:txBody>
          <a:bodyPr wrap="square" rtlCol="0" anchor="ctr"/>
          <a:lstStyle/>
          <a:p>
            <a:pPr marL="0" indent="0">
              <a:buNone/>
            </a:pPr>
            <a:r>
              <a:rPr lang="en-US" sz="1200" b="1" dirty="0">
                <a:solidFill>
                  <a:srgbClr val="FFFFFF"/>
                </a:solidFill>
              </a:rPr>
              <a:t>K-Means Clustering — Structural Grouping</a:t>
            </a:r>
            <a:endParaRPr lang="en-US" sz="1200" dirty="0"/>
          </a:p>
        </p:txBody>
      </p:sp>
      <p:sp>
        <p:nvSpPr>
          <p:cNvPr id="28" name="Text 26"/>
          <p:cNvSpPr/>
          <p:nvPr/>
        </p:nvSpPr>
        <p:spPr>
          <a:xfrm>
            <a:off x="6355080" y="1691640"/>
            <a:ext cx="5303520" cy="640080"/>
          </a:xfrm>
          <a:prstGeom prst="rect">
            <a:avLst/>
          </a:prstGeom>
          <a:noFill/>
          <a:ln/>
        </p:spPr>
        <p:txBody>
          <a:bodyPr wrap="square" rtlCol="0" anchor="ctr"/>
          <a:lstStyle/>
          <a:p>
            <a:pPr marL="0" indent="0">
              <a:lnSpc>
                <a:spcPct val="130000"/>
              </a:lnSpc>
              <a:buNone/>
            </a:pPr>
            <a:r>
              <a:rPr lang="en-US" sz="1050" dirty="0">
                <a:solidFill>
                  <a:srgbClr val="334155"/>
                </a:solidFill>
              </a:rPr>
              <a:t>Groups connections into k=5 clusters by feature similarity with NO labels. Elbow method confirmed k=5 as optimal. Validates that the 5 attack categories are genuinely distinct in the feature space.</a:t>
            </a:r>
            <a:endParaRPr lang="en-US" sz="1050" dirty="0"/>
          </a:p>
        </p:txBody>
      </p:sp>
      <p:sp>
        <p:nvSpPr>
          <p:cNvPr id="29" name="Shape 27"/>
          <p:cNvSpPr/>
          <p:nvPr/>
        </p:nvSpPr>
        <p:spPr>
          <a:xfrm>
            <a:off x="6355080" y="2450592"/>
            <a:ext cx="5303520" cy="2194560"/>
          </a:xfrm>
          <a:prstGeom prst="rect">
            <a:avLst/>
          </a:prstGeom>
          <a:solidFill>
            <a:srgbClr val="0F1D2E"/>
          </a:solidFill>
          <a:ln/>
        </p:spPr>
      </p:sp>
      <p:sp>
        <p:nvSpPr>
          <p:cNvPr id="30" name="Text 28"/>
          <p:cNvSpPr/>
          <p:nvPr/>
        </p:nvSpPr>
        <p:spPr>
          <a:xfrm>
            <a:off x="6464808" y="2523744"/>
            <a:ext cx="5084064" cy="204825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kmeans = KMeans(n_clusters=5, random_state=42, n_init=10)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kmeans.fit(X_tr_top)  # NO labels used</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val_clusters  = kmeans.predict(X_val_top)</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Map cluster → dominant true category</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cluster_df  = pd.DataFrame({'cluster':val_clusters, 'true_cat':y_val_m})</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cluster_map = cluster_df.groupby('cluster')['true_cat']\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.agg(lambda x: x.value_counts().index[0])</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Elbow method: tested k=2 to k=8 on a 5,000-record sample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k=5 confirmed as optimal by inertia elbow</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PCA 2D projection shows clear visual cluster separation</a:t>
            </a:r>
            <a:endParaRPr lang="en-US" sz="850" dirty="0"/>
          </a:p>
        </p:txBody>
      </p:sp>
      <p:sp>
        <p:nvSpPr>
          <p:cNvPr id="31" name="Text 29"/>
          <p:cNvSpPr/>
          <p:nvPr/>
        </p:nvSpPr>
        <p:spPr>
          <a:xfrm>
            <a:off x="6355080" y="4754880"/>
            <a:ext cx="5303520" cy="256032"/>
          </a:xfrm>
          <a:prstGeom prst="rect">
            <a:avLst/>
          </a:prstGeom>
          <a:noFill/>
          <a:ln/>
        </p:spPr>
        <p:txBody>
          <a:bodyPr wrap="square" rtlCol="0" anchor="ctr"/>
          <a:lstStyle/>
          <a:p>
            <a:pPr marL="0" indent="0">
              <a:buNone/>
            </a:pPr>
            <a:r>
              <a:rPr lang="en-US" sz="950" b="1" dirty="0">
                <a:solidFill>
                  <a:srgbClr val="94A3B8"/>
                </a:solidFill>
              </a:rPr>
              <a:t>Cluster → Category Mapping (Validation Set)</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355080" y="5047488"/>
          <a:ext cx="5303520" cy="1325880"/>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0">
                <a:tc>
                  <a:txBody>
                    <a:bodyPr/>
                    <a:lstStyle/>
                    <a:p>
                      <a:pPr marL="0" indent="0">
                        <a:buNone/>
                      </a:pPr>
                      <a:r>
                        <a:rPr lang="en-US" sz="950" b="1" dirty="0">
                          <a:solidFill>
                            <a:srgbClr val="FFFFFF"/>
                          </a:solidFill>
                        </a:rPr>
                        <a:t>Cluster</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tc>
                  <a:txBody>
                    <a:bodyPr/>
                    <a:lstStyle/>
                    <a:p>
                      <a:pPr marL="0" indent="0">
                        <a:buNone/>
                      </a:pPr>
                      <a:r>
                        <a:rPr lang="en-US" sz="950" b="1" dirty="0">
                          <a:solidFill>
                            <a:srgbClr val="FFFFFF"/>
                          </a:solidFill>
                        </a:rPr>
                        <a:t>Dominant Category</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tc>
                  <a:txBody>
                    <a:bodyPr/>
                    <a:lstStyle/>
                    <a:p>
                      <a:pPr marL="0" indent="0">
                        <a:buNone/>
                      </a:pPr>
                      <a:r>
                        <a:rPr lang="en-US" sz="950" b="1" dirty="0">
                          <a:solidFill>
                            <a:srgbClr val="FFFFFF"/>
                          </a:solidFill>
                        </a:rPr>
                        <a:t>Purpose</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0A1628"/>
                          </a:solidFill>
                        </a:rPr>
                        <a:t>0</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0A1628"/>
                          </a:solidFill>
                        </a:rPr>
                        <a:t>Normal</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0A1628"/>
                          </a:solidFill>
                        </a:rPr>
                        <a:t>Legitimate traffic</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dirty="0">
                          <a:solidFill>
                            <a:srgbClr val="0A1628"/>
                          </a:solidFill>
                        </a:rPr>
                        <a:t>1</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0A1628"/>
                          </a:solidFill>
                        </a:rPr>
                        <a:t>DoS</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0A1628"/>
                          </a:solidFill>
                        </a:rPr>
                        <a:t>Flood attack group</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buNone/>
                      </a:pPr>
                      <a:r>
                        <a:rPr lang="en-US" sz="950" dirty="0">
                          <a:solidFill>
                            <a:srgbClr val="0A1628"/>
                          </a:solidFill>
                        </a:rPr>
                        <a:t>2</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0A1628"/>
                          </a:solidFill>
                        </a:rPr>
                        <a:t>Probe</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0A1628"/>
                          </a:solidFill>
                        </a:rPr>
                        <a:t>Scan/recon group</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dirty="0">
                          <a:solidFill>
                            <a:srgbClr val="0A1628"/>
                          </a:solidFill>
                        </a:rPr>
                        <a:t>3</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0A1628"/>
                          </a:solidFill>
                        </a:rPr>
                        <a:t>R2L</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0A1628"/>
                          </a:solidFill>
                        </a:rPr>
                        <a:t>Remote access group</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buNone/>
                      </a:pPr>
                      <a:r>
                        <a:rPr lang="en-US" sz="950" dirty="0">
                          <a:solidFill>
                            <a:srgbClr val="0A1628"/>
                          </a:solidFill>
                        </a:rPr>
                        <a:t>4</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0A1628"/>
                          </a:solidFill>
                        </a:rPr>
                        <a:t>U2R</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0A1628"/>
                          </a:solidFill>
                        </a:rPr>
                        <a:t>Privilege escalation</a:t>
                      </a:r>
                      <a:endParaRPr lang="en-US" sz="9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06 · SUPERVISED LEARNING</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Four Supervised Models — Multi-Class Classification</a:t>
            </a:r>
            <a:endParaRPr lang="en-US" sz="2600" dirty="0"/>
          </a:p>
        </p:txBody>
      </p:sp>
      <p:sp>
        <p:nvSpPr>
          <p:cNvPr id="5" name="Shape 3"/>
          <p:cNvSpPr/>
          <p:nvPr/>
        </p:nvSpPr>
        <p:spPr>
          <a:xfrm>
            <a:off x="365760" y="1261872"/>
            <a:ext cx="11430000" cy="1874520"/>
          </a:xfrm>
          <a:prstGeom prst="rect">
            <a:avLst/>
          </a:prstGeom>
          <a:solidFill>
            <a:srgbClr val="0F1D2E"/>
          </a:solidFill>
          <a:ln/>
        </p:spPr>
      </p:sp>
      <p:sp>
        <p:nvSpPr>
          <p:cNvPr id="6" name="Text 4"/>
          <p:cNvSpPr/>
          <p:nvPr/>
        </p:nvSpPr>
        <p:spPr>
          <a:xfrm>
            <a:off x="475488" y="1335024"/>
            <a:ext cx="11210544" cy="172821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SUPERVISED_MODELS = {</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'Random Forest':      RandomForestClassifier(n_estimators=200, max_depth=15,</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min_samples_leaf=2, class_weight='balanced', random_state=42),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'XGBoost':            XGBClassifier(n_estimators=200, max_depth=6, learning_rate=0.1,</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subsample=0.8, colsample_bytree=0.8, eval_metric='mlogloss', random_state=42),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'SVM (RBF)':          SVC(C=10, kernel='rbf', gamma='scale',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class_weight='balanced', probability=True, random_state=42),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'Logistic Regression':LogisticRegression(C=1.0, max_iter=1000,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class_weight='balanced', random_state=42),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for name, model in SUPERVISED_MODELS.items():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model.fit(X_tr_top, y_tr_enc)    # top 20 features, scaled</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preds = model.predict(X_val_top)</a:t>
            </a:r>
            <a:endParaRPr lang="en-US" sz="850" dirty="0"/>
          </a:p>
        </p:txBody>
      </p:sp>
      <p:sp>
        <p:nvSpPr>
          <p:cNvPr id="7" name="Text 5"/>
          <p:cNvSpPr/>
          <p:nvPr/>
        </p:nvSpPr>
        <p:spPr>
          <a:xfrm>
            <a:off x="365760" y="3246120"/>
            <a:ext cx="11430000" cy="274320"/>
          </a:xfrm>
          <a:prstGeom prst="rect">
            <a:avLst/>
          </a:prstGeom>
          <a:noFill/>
          <a:ln/>
        </p:spPr>
        <p:txBody>
          <a:bodyPr wrap="square" rtlCol="0" anchor="ctr"/>
          <a:lstStyle/>
          <a:p>
            <a:pPr marL="0" indent="0">
              <a:buNone/>
            </a:pPr>
            <a:r>
              <a:rPr lang="en-US" sz="1300" b="1" dirty="0">
                <a:solidFill>
                  <a:srgbClr val="0A1628"/>
                </a:solidFill>
              </a:rPr>
              <a:t>Validation Set Performance Comparison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3477769563"/>
              </p:ext>
            </p:extLst>
          </p:nvPr>
        </p:nvGraphicFramePr>
        <p:xfrm>
          <a:off x="365760" y="3566160"/>
          <a:ext cx="11430000" cy="1630680"/>
        </p:xfrm>
        <a:graphic>
          <a:graphicData uri="http://schemas.openxmlformats.org/drawingml/2006/table">
            <a:tbl>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383280">
                  <a:extLst>
                    <a:ext uri="{9D8B030D-6E8A-4147-A177-3AD203B41FA5}">
                      <a16:colId xmlns:a16="http://schemas.microsoft.com/office/drawing/2014/main" val="20005"/>
                    </a:ext>
                  </a:extLst>
                </a:gridCol>
              </a:tblGrid>
              <a:tr h="0">
                <a:tc>
                  <a:txBody>
                    <a:bodyPr/>
                    <a:lstStyle/>
                    <a:p>
                      <a:pPr marL="0" indent="0" algn="l">
                        <a:buNone/>
                      </a:pPr>
                      <a:r>
                        <a:rPr lang="en-US" sz="1200" b="1" dirty="0">
                          <a:solidFill>
                            <a:srgbClr val="FFFFFF"/>
                          </a:solidFill>
                        </a:rPr>
                        <a:t>Model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l">
                        <a:buNone/>
                      </a:pPr>
                      <a:r>
                        <a:rPr lang="en-US" sz="1200" b="1" dirty="0">
                          <a:solidFill>
                            <a:srgbClr val="FFFFFF"/>
                          </a:solidFill>
                        </a:rPr>
                        <a:t>Type</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Val Accuracy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F1-Weighted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F1-Macro</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Notes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0EA5E9"/>
                          </a:solidFill>
                        </a:rPr>
                        <a:t>XGBoost ⭐</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100" b="1" dirty="0">
                          <a:solidFill>
                            <a:srgbClr val="0EA5E9"/>
                          </a:solidFill>
                        </a:rPr>
                        <a:t>Supervised</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100" b="1" dirty="0">
                          <a:solidFill>
                            <a:srgbClr val="0EA5E9"/>
                          </a:solidFill>
                        </a:rPr>
                        <a:t>99.88%</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100" b="1" dirty="0">
                          <a:solidFill>
                            <a:srgbClr val="0EA5E9"/>
                          </a:solidFill>
                        </a:rPr>
                        <a:t>0.9989</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100" b="1" dirty="0">
                          <a:solidFill>
                            <a:srgbClr val="0EA5E9"/>
                          </a:solidFill>
                        </a:rPr>
                        <a:t>0.9972</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100" b="1" dirty="0">
                          <a:solidFill>
                            <a:srgbClr val="0EA5E9"/>
                          </a:solidFill>
                        </a:rPr>
                        <a:t>Best model — selected for hybrid engine</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0">
                <a:tc>
                  <a:txBody>
                    <a:bodyPr/>
                    <a:lstStyle/>
                    <a:p>
                      <a:pPr marL="0" indent="0" algn="l">
                        <a:buNone/>
                      </a:pPr>
                      <a:r>
                        <a:rPr lang="en-US" sz="1100" dirty="0">
                          <a:solidFill>
                            <a:srgbClr val="0A1628"/>
                          </a:solidFill>
                        </a:rPr>
                        <a:t>Random Forest</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0A1628"/>
                          </a:solidFill>
                        </a:rPr>
                        <a:t>Supervised</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99.82%</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0.9982</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0.9941</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Close second — used for explainability</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100" dirty="0">
                          <a:solidFill>
                            <a:srgbClr val="0A1628"/>
                          </a:solidFill>
                        </a:rPr>
                        <a:t>SVM (RBF)</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1628"/>
                          </a:solidFill>
                        </a:rPr>
                        <a:t>Supervised</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97.26%</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0.9767</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0.9521</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Strong on minority classes</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dirty="0">
                          <a:solidFill>
                            <a:srgbClr val="0A1628"/>
                          </a:solidFill>
                        </a:rPr>
                        <a:t>Logistic Regression</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0A1628"/>
                          </a:solidFill>
                        </a:rPr>
                        <a:t>Supervised</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89.15%</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0.9122</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0.8157</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0A1628"/>
                          </a:solidFill>
                        </a:rPr>
                        <a:t>Linear baseline — struggles on R2L/U2R</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100" dirty="0">
                          <a:solidFill>
                            <a:srgbClr val="0A1628"/>
                          </a:solidFill>
                        </a:rPr>
                        <a:t>Isolation Forest</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1628"/>
                          </a:solidFill>
                        </a:rPr>
                        <a:t>Unsupervised</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63.26%</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0.4826</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A1628"/>
                          </a:solidFill>
                        </a:rPr>
                        <a:t>Zero-day detector — recall=0.9547</a:t>
                      </a:r>
                      <a:endParaRPr lang="en-US" sz="11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8" name="Chart 0"/>
          <p:cNvGraphicFramePr/>
          <p:nvPr/>
        </p:nvGraphicFramePr>
        <p:xfrm>
          <a:off x="365760" y="5257800"/>
          <a:ext cx="7315200" cy="1371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p:nvPr/>
        </p:nvSpPr>
        <p:spPr>
          <a:xfrm>
            <a:off x="7863840" y="5394960"/>
            <a:ext cx="3931920" cy="914400"/>
          </a:xfrm>
          <a:prstGeom prst="rect">
            <a:avLst/>
          </a:prstGeom>
          <a:noFill/>
          <a:ln/>
        </p:spPr>
        <p:txBody>
          <a:bodyPr wrap="square" rtlCol="0" anchor="ctr"/>
          <a:lstStyle/>
          <a:p>
            <a:pPr marL="0" indent="0">
              <a:lnSpc>
                <a:spcPct val="135000"/>
              </a:lnSpc>
              <a:buNone/>
            </a:pPr>
            <a:r>
              <a:rPr lang="en-US" sz="1000" i="1" dirty="0">
                <a:solidFill>
                  <a:srgbClr val="475569"/>
                </a:solidFill>
              </a:rPr>
              <a:t>class_weight='balanced' applied to all supervised models to handle severe class imbalance (U2R: only 52 training records = 0.04%)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EA5E9"/>
          </a:solidFill>
          <a:ln/>
        </p:spPr>
      </p:sp>
      <p:sp>
        <p:nvSpPr>
          <p:cNvPr id="3" name="Shape 1"/>
          <p:cNvSpPr/>
          <p:nvPr/>
        </p:nvSpPr>
        <p:spPr>
          <a:xfrm>
            <a:off x="365760" y="164592"/>
            <a:ext cx="2377440" cy="292608"/>
          </a:xfrm>
          <a:prstGeom prst="roundRect">
            <a:avLst>
              <a:gd name="adj" fmla="val 50000"/>
            </a:avLst>
          </a:prstGeom>
          <a:solidFill>
            <a:srgbClr val="0EA5E9"/>
          </a:solidFill>
          <a:ln/>
        </p:spPr>
      </p:sp>
      <p:sp>
        <p:nvSpPr>
          <p:cNvPr id="4" name="Text 2"/>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07 · HYBRID DECISION ENGINE</a:t>
            </a:r>
            <a:endParaRPr lang="en-US" sz="900" dirty="0"/>
          </a:p>
        </p:txBody>
      </p:sp>
      <p:sp>
        <p:nvSpPr>
          <p:cNvPr id="5" name="Text 3"/>
          <p:cNvSpPr/>
          <p:nvPr/>
        </p:nvSpPr>
        <p:spPr>
          <a:xfrm>
            <a:off x="365760" y="566928"/>
            <a:ext cx="11430000" cy="4572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Fusing Supervised + Unsupervised Layers</a:t>
            </a:r>
            <a:endParaRPr lang="en-US" sz="2600" dirty="0"/>
          </a:p>
        </p:txBody>
      </p:sp>
      <p:sp>
        <p:nvSpPr>
          <p:cNvPr id="6" name="Text 4"/>
          <p:cNvSpPr/>
          <p:nvPr/>
        </p:nvSpPr>
        <p:spPr>
          <a:xfrm>
            <a:off x="457200" y="1143000"/>
            <a:ext cx="4572000" cy="256032"/>
          </a:xfrm>
          <a:prstGeom prst="rect">
            <a:avLst/>
          </a:prstGeom>
          <a:noFill/>
          <a:ln/>
        </p:spPr>
        <p:txBody>
          <a:bodyPr wrap="square" rtlCol="0" anchor="ctr"/>
          <a:lstStyle/>
          <a:p>
            <a:pPr marL="0" indent="0">
              <a:buNone/>
            </a:pPr>
            <a:r>
              <a:rPr lang="en-US" sz="1100" b="1" dirty="0">
                <a:solidFill>
                  <a:srgbClr val="0EA5E9"/>
                </a:solidFill>
              </a:rPr>
              <a:t>Fusion Logic — Decision Table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450014057"/>
              </p:ext>
            </p:extLst>
          </p:nvPr>
        </p:nvGraphicFramePr>
        <p:xfrm>
          <a:off x="365760" y="1417320"/>
          <a:ext cx="11430000" cy="1137920"/>
        </p:xfrm>
        <a:graphic>
          <a:graphicData uri="http://schemas.openxmlformats.org/drawingml/2006/table">
            <a:tbl>
              <a:tblPr/>
              <a:tblGrid>
                <a:gridCol w="32004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5212080">
                  <a:extLst>
                    <a:ext uri="{9D8B030D-6E8A-4147-A177-3AD203B41FA5}">
                      <a16:colId xmlns:a16="http://schemas.microsoft.com/office/drawing/2014/main" val="20003"/>
                    </a:ext>
                  </a:extLst>
                </a:gridCol>
              </a:tblGrid>
              <a:tr h="0">
                <a:tc>
                  <a:txBody>
                    <a:bodyPr/>
                    <a:lstStyle/>
                    <a:p>
                      <a:pPr marL="0" indent="0" algn="l">
                        <a:buNone/>
                      </a:pPr>
                      <a:r>
                        <a:rPr lang="en-US" sz="1200" b="1" dirty="0">
                          <a:solidFill>
                            <a:srgbClr val="0EA5E9"/>
                          </a:solidFill>
                        </a:rPr>
                        <a:t>Supervised Output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l">
                        <a:buNone/>
                      </a:pPr>
                      <a:r>
                        <a:rPr lang="en-US" sz="1200" b="1" dirty="0">
                          <a:solidFill>
                            <a:srgbClr val="0EA5E9"/>
                          </a:solidFill>
                        </a:rPr>
                        <a:t>Isolation Forest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1200" b="1" dirty="0">
                          <a:solidFill>
                            <a:srgbClr val="0EA5E9"/>
                          </a:solidFill>
                        </a:rPr>
                        <a: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l">
                        <a:buNone/>
                      </a:pPr>
                      <a:r>
                        <a:rPr lang="en-US" sz="1200" b="1" dirty="0">
                          <a:solidFill>
                            <a:srgbClr val="0EA5E9"/>
                          </a:solidFill>
                        </a:rPr>
                        <a:t>Final Decision</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FFFFFF"/>
                          </a:solidFill>
                        </a:rPr>
                        <a:t>Normal</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tc>
                  <a:txBody>
                    <a:bodyPr/>
                    <a:lstStyle/>
                    <a:p>
                      <a:pPr marL="0" indent="0" algn="l">
                        <a:buNone/>
                      </a:pPr>
                      <a:r>
                        <a:rPr lang="en-US" sz="1200" dirty="0">
                          <a:solidFill>
                            <a:srgbClr val="FFFFFF"/>
                          </a:solidFill>
                        </a:rPr>
                        <a:t>Normal</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tc>
                  <a:txBody>
                    <a:bodyPr/>
                    <a:lstStyle/>
                    <a:p>
                      <a:pPr marL="0" indent="0" algn="ctr">
                        <a:buNone/>
                      </a:pPr>
                      <a:r>
                        <a:rPr lang="en-US" sz="1200" dirty="0">
                          <a:solidFill>
                            <a:srgbClr val="FFFFFF"/>
                          </a:solidFill>
                        </a:rPr>
                        <a: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tc>
                  <a:txBody>
                    <a:bodyPr/>
                    <a:lstStyle/>
                    <a:p>
                      <a:pPr marL="0" indent="0" algn="l">
                        <a:buNone/>
                      </a:pPr>
                      <a:r>
                        <a:rPr lang="en-US" sz="1200" dirty="0">
                          <a:solidFill>
                            <a:srgbClr val="FFFFFF"/>
                          </a:solidFill>
                        </a:rPr>
                        <a:t>Normal — safe traffic</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FFFFFF"/>
                          </a:solidFill>
                        </a:rPr>
                        <a:t>DoS / Probe / R2L / U2R</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tc>
                  <a:txBody>
                    <a:bodyPr/>
                    <a:lstStyle/>
                    <a:p>
                      <a:pPr marL="0" indent="0" algn="l">
                        <a:buNone/>
                      </a:pPr>
                      <a:r>
                        <a:rPr lang="en-US" sz="1200" dirty="0">
                          <a:solidFill>
                            <a:srgbClr val="FFFFFF"/>
                          </a:solidFill>
                        </a:rPr>
                        <a:t>Any result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tc>
                  <a:txBody>
                    <a:bodyPr/>
                    <a:lstStyle/>
                    <a:p>
                      <a:pPr marL="0" indent="0" algn="ctr">
                        <a:buNone/>
                      </a:pPr>
                      <a:r>
                        <a:rPr lang="en-US" sz="1200" dirty="0">
                          <a:solidFill>
                            <a:srgbClr val="FFFFFF"/>
                          </a:solidFill>
                        </a:rPr>
                        <a: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tc>
                  <a:txBody>
                    <a:bodyPr/>
                    <a:lstStyle/>
                    <a:p>
                      <a:pPr marL="0" indent="0" algn="l">
                        <a:buNone/>
                      </a:pPr>
                      <a:r>
                        <a:rPr lang="en-US" sz="1200" dirty="0">
                          <a:solidFill>
                            <a:srgbClr val="FFFFFF"/>
                          </a:solidFill>
                        </a:rPr>
                        <a:t>That specific attack type</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447"/>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FFFFFF"/>
                          </a:solidFill>
                        </a:rPr>
                        <a:t>Normal</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0A00"/>
                    </a:solidFill>
                  </a:tcPr>
                </a:tc>
                <a:tc>
                  <a:txBody>
                    <a:bodyPr/>
                    <a:lstStyle/>
                    <a:p>
                      <a:pPr marL="0" indent="0" algn="l">
                        <a:buNone/>
                      </a:pPr>
                      <a:r>
                        <a:rPr lang="en-US" sz="1200" dirty="0">
                          <a:solidFill>
                            <a:srgbClr val="FFFFFF"/>
                          </a:solidFill>
                        </a:rPr>
                        <a:t>Anomaly detected</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0A00"/>
                    </a:solidFill>
                  </a:tcPr>
                </a:tc>
                <a:tc>
                  <a:txBody>
                    <a:bodyPr/>
                    <a:lstStyle/>
                    <a:p>
                      <a:pPr marL="0" indent="0" algn="ctr">
                        <a:buNone/>
                      </a:pPr>
                      <a:r>
                        <a:rPr lang="en-US" sz="1200" dirty="0">
                          <a:solidFill>
                            <a:srgbClr val="FFFFFF"/>
                          </a:solidFill>
                        </a:rPr>
                        <a:t>→</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0A00"/>
                    </a:solidFill>
                  </a:tcPr>
                </a:tc>
                <a:tc>
                  <a:txBody>
                    <a:bodyPr/>
                    <a:lstStyle/>
                    <a:p>
                      <a:pPr marL="0" indent="0" algn="l">
                        <a:buNone/>
                      </a:pPr>
                      <a:r>
                        <a:rPr lang="en-US" sz="1200" b="1" dirty="0">
                          <a:solidFill>
                            <a:srgbClr val="F59E0B"/>
                          </a:solidFill>
                        </a:rPr>
                        <a:t>⚠ Unknown (Zero-Day) — flagged!</a:t>
                      </a:r>
                      <a:endParaRPr lang="en-US" sz="1200" dirty="0"/>
                    </a:p>
                  </a:txBody>
                  <a:tcPr marL="50800" marR="50800" marT="50800" marB="5080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0A00"/>
                    </a:solidFill>
                  </a:tcPr>
                </a:tc>
                <a:extLst>
                  <a:ext uri="{0D108BD9-81ED-4DB2-BD59-A6C34878D82A}">
                    <a16:rowId xmlns:a16="http://schemas.microsoft.com/office/drawing/2014/main" val="10003"/>
                  </a:ext>
                </a:extLst>
              </a:tr>
            </a:tbl>
          </a:graphicData>
        </a:graphic>
      </p:graphicFrame>
      <p:sp>
        <p:nvSpPr>
          <p:cNvPr id="8" name="Shape 5"/>
          <p:cNvSpPr/>
          <p:nvPr/>
        </p:nvSpPr>
        <p:spPr>
          <a:xfrm>
            <a:off x="365760" y="2743200"/>
            <a:ext cx="7132320" cy="3154680"/>
          </a:xfrm>
          <a:prstGeom prst="rect">
            <a:avLst/>
          </a:prstGeom>
          <a:solidFill>
            <a:srgbClr val="0F1D2E"/>
          </a:solidFill>
          <a:ln/>
        </p:spPr>
      </p:sp>
      <p:sp>
        <p:nvSpPr>
          <p:cNvPr id="9" name="Text 6"/>
          <p:cNvSpPr/>
          <p:nvPr/>
        </p:nvSpPr>
        <p:spPr>
          <a:xfrm>
            <a:off x="475488" y="2816352"/>
            <a:ext cx="6912864" cy="3008376"/>
          </a:xfrm>
          <a:prstGeom prst="rect">
            <a:avLst/>
          </a:prstGeom>
          <a:noFill/>
          <a:ln/>
        </p:spPr>
        <p:txBody>
          <a:bodyPr wrap="square" rtlCol="0" anchor="t"/>
          <a:lstStyle/>
          <a:p>
            <a:pPr marL="0" indent="0">
              <a:buNone/>
            </a:pPr>
            <a:r>
              <a:rPr lang="en-US" sz="1000" dirty="0">
                <a:solidFill>
                  <a:srgbClr val="7DD3FC"/>
                </a:solidFill>
                <a:latin typeface="Consolas" pitchFamily="34" charset="0"/>
                <a:ea typeface="Consolas" pitchFamily="34" charset="-122"/>
                <a:cs typeface="Consolas" pitchFamily="34" charset="-120"/>
              </a:rPr>
              <a:t>def hybrid_predict(X, iso_model, sup_model, le, alpha=0.30):</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 Supervised predictions</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sup_probs = sup_model.predict_proba(X)</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sup_idx   = np.argmax(sup_probs, axis=1)</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sup_conf  = np.max(sup_probs, axis=1)</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sup_class = le.inverse_transform(sup_idx)</a:t>
            </a:r>
            <a:endParaRPr lang="en-US" sz="1000" dirty="0"/>
          </a:p>
          <a:p>
            <a:pPr marL="0" indent="0">
              <a:buNone/>
            </a:pP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 Unsupervised anomaly scores</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anm_raw  = -iso_model.score_samples(X)</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anm_norm = (anm_raw - anm_raw.min()) / (anm_raw.max() - anm_raw.min() + 1e-9)</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iso_flag = (iso_model.predict(X) == -1).astype(int)</a:t>
            </a:r>
            <a:endParaRPr lang="en-US" sz="1000" dirty="0"/>
          </a:p>
          <a:p>
            <a:pPr marL="0" indent="0">
              <a:buNone/>
            </a:pP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 Hybrid fusion rule</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contradiction = (iso_flag == 1) &amp; (sup_class == 'Normal')</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final_class   = np.where(contradiction, 'Unknown (Zero-Day)', sup_class)</a:t>
            </a:r>
            <a:endParaRPr lang="en-US" sz="1000" dirty="0"/>
          </a:p>
          <a:p>
            <a:pPr marL="0" indent="0">
              <a:buNone/>
            </a:pP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 Fused confidence: penalised when models disagree (alpha=0.30)</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fused_conf = (1 - alpha) * sup_conf + alpha * (1 - anm_norm)</a:t>
            </a:r>
            <a:endParaRPr lang="en-US" sz="1000" dirty="0"/>
          </a:p>
          <a:p>
            <a:pPr marL="0" indent="0">
              <a:buNone/>
            </a:pPr>
            <a:r>
              <a:rPr lang="en-US" sz="1000" dirty="0">
                <a:solidFill>
                  <a:srgbClr val="7DD3FC"/>
                </a:solidFill>
                <a:latin typeface="Consolas" pitchFamily="34" charset="0"/>
                <a:ea typeface="Consolas" pitchFamily="34" charset="-122"/>
                <a:cs typeface="Consolas" pitchFamily="34" charset="-120"/>
              </a:rPr>
              <a:t>    return final_class, iso_flag, anm_norm, fused_conf</a:t>
            </a:r>
            <a:endParaRPr lang="en-US" sz="1000" dirty="0"/>
          </a:p>
        </p:txBody>
      </p:sp>
      <p:sp>
        <p:nvSpPr>
          <p:cNvPr id="7" name="Shape 7"/>
          <p:cNvSpPr/>
          <p:nvPr/>
        </p:nvSpPr>
        <p:spPr>
          <a:xfrm>
            <a:off x="7726680" y="2743200"/>
            <a:ext cx="4069080" cy="914400"/>
          </a:xfrm>
          <a:prstGeom prst="rect">
            <a:avLst/>
          </a:prstGeom>
          <a:solidFill>
            <a:srgbClr val="0D2447"/>
          </a:solidFill>
          <a:ln/>
          <a:effectLst>
            <a:outerShdw blurRad="101600" dist="38100" dir="8100000" algn="bl" rotWithShape="0">
              <a:srgbClr val="000000">
                <a:alpha val="12000"/>
              </a:srgbClr>
            </a:outerShdw>
          </a:effectLst>
        </p:spPr>
      </p:sp>
      <p:sp>
        <p:nvSpPr>
          <p:cNvPr id="11" name="Shape 8"/>
          <p:cNvSpPr/>
          <p:nvPr/>
        </p:nvSpPr>
        <p:spPr>
          <a:xfrm>
            <a:off x="7726680" y="2743200"/>
            <a:ext cx="4069080" cy="45720"/>
          </a:xfrm>
          <a:prstGeom prst="rect">
            <a:avLst/>
          </a:prstGeom>
          <a:solidFill>
            <a:srgbClr val="F59E0B"/>
          </a:solidFill>
          <a:ln/>
        </p:spPr>
      </p:sp>
      <p:sp>
        <p:nvSpPr>
          <p:cNvPr id="12" name="Text 9"/>
          <p:cNvSpPr/>
          <p:nvPr/>
        </p:nvSpPr>
        <p:spPr>
          <a:xfrm>
            <a:off x="7836408" y="2834640"/>
            <a:ext cx="1188720" cy="411480"/>
          </a:xfrm>
          <a:prstGeom prst="rect">
            <a:avLst/>
          </a:prstGeom>
          <a:noFill/>
          <a:ln/>
        </p:spPr>
        <p:txBody>
          <a:bodyPr wrap="square" rtlCol="0" anchor="ctr"/>
          <a:lstStyle/>
          <a:p>
            <a:pPr marL="0" indent="0">
              <a:buNone/>
            </a:pPr>
            <a:r>
              <a:rPr lang="en-US" sz="2000" b="1" dirty="0">
                <a:solidFill>
                  <a:srgbClr val="F59E0B"/>
                </a:solidFill>
              </a:rPr>
              <a:t>4,813</a:t>
            </a:r>
            <a:endParaRPr lang="en-US" sz="2000" dirty="0"/>
          </a:p>
        </p:txBody>
      </p:sp>
      <p:sp>
        <p:nvSpPr>
          <p:cNvPr id="13" name="Text 10"/>
          <p:cNvSpPr/>
          <p:nvPr/>
        </p:nvSpPr>
        <p:spPr>
          <a:xfrm>
            <a:off x="7836408" y="3150108"/>
            <a:ext cx="3840480" cy="201168"/>
          </a:xfrm>
          <a:prstGeom prst="rect">
            <a:avLst/>
          </a:prstGeom>
          <a:noFill/>
          <a:ln/>
        </p:spPr>
        <p:txBody>
          <a:bodyPr wrap="square" rtlCol="0" anchor="ctr"/>
          <a:lstStyle/>
          <a:p>
            <a:pPr marL="0" indent="0">
              <a:buNone/>
            </a:pPr>
            <a:r>
              <a:rPr lang="en-US" sz="900" b="1" dirty="0">
                <a:solidFill>
                  <a:srgbClr val="FFFFFF"/>
                </a:solidFill>
              </a:rPr>
              <a:t>Zero-Day Events Flagged</a:t>
            </a:r>
            <a:endParaRPr lang="en-US" sz="900" dirty="0"/>
          </a:p>
        </p:txBody>
      </p:sp>
      <p:sp>
        <p:nvSpPr>
          <p:cNvPr id="14" name="Text 11"/>
          <p:cNvSpPr/>
          <p:nvPr/>
        </p:nvSpPr>
        <p:spPr>
          <a:xfrm>
            <a:off x="7836408" y="3401568"/>
            <a:ext cx="3840480" cy="219456"/>
          </a:xfrm>
          <a:prstGeom prst="rect">
            <a:avLst/>
          </a:prstGeom>
          <a:noFill/>
          <a:ln/>
        </p:spPr>
        <p:txBody>
          <a:bodyPr wrap="square" rtlCol="0" anchor="ctr"/>
          <a:lstStyle/>
          <a:p>
            <a:pPr marL="0" indent="0">
              <a:buNone/>
            </a:pPr>
            <a:r>
              <a:rPr lang="en-US" sz="1000" dirty="0">
                <a:solidFill>
                  <a:srgbClr val="94A3B8"/>
                </a:solidFill>
              </a:rPr>
              <a:t>Events XGBoost said 'Normal'</a:t>
            </a:r>
            <a:endParaRPr lang="en-US" sz="1000" dirty="0"/>
          </a:p>
          <a:p>
            <a:pPr marL="0" indent="0">
              <a:buNone/>
            </a:pPr>
            <a:r>
              <a:rPr lang="en-US" sz="1000" dirty="0">
                <a:solidFill>
                  <a:srgbClr val="94A3B8"/>
                </a:solidFill>
              </a:rPr>
              <a:t>but Isolation Forest flagged</a:t>
            </a:r>
            <a:endParaRPr lang="en-US" sz="1000" dirty="0"/>
          </a:p>
        </p:txBody>
      </p:sp>
      <p:sp>
        <p:nvSpPr>
          <p:cNvPr id="15" name="Shape 12"/>
          <p:cNvSpPr/>
          <p:nvPr/>
        </p:nvSpPr>
        <p:spPr>
          <a:xfrm>
            <a:off x="7726680" y="3813048"/>
            <a:ext cx="4069080" cy="914400"/>
          </a:xfrm>
          <a:prstGeom prst="rect">
            <a:avLst/>
          </a:prstGeom>
          <a:solidFill>
            <a:srgbClr val="0D2447"/>
          </a:solidFill>
          <a:ln/>
          <a:effectLst>
            <a:outerShdw blurRad="101600" dist="38100" dir="8100000" algn="bl" rotWithShape="0">
              <a:srgbClr val="000000">
                <a:alpha val="12000"/>
              </a:srgbClr>
            </a:outerShdw>
          </a:effectLst>
        </p:spPr>
      </p:sp>
      <p:sp>
        <p:nvSpPr>
          <p:cNvPr id="16" name="Shape 13"/>
          <p:cNvSpPr/>
          <p:nvPr/>
        </p:nvSpPr>
        <p:spPr>
          <a:xfrm>
            <a:off x="7726680" y="3813048"/>
            <a:ext cx="4069080" cy="45720"/>
          </a:xfrm>
          <a:prstGeom prst="rect">
            <a:avLst/>
          </a:prstGeom>
          <a:solidFill>
            <a:srgbClr val="0EA5E9"/>
          </a:solidFill>
          <a:ln/>
        </p:spPr>
      </p:sp>
      <p:sp>
        <p:nvSpPr>
          <p:cNvPr id="17" name="Text 14"/>
          <p:cNvSpPr/>
          <p:nvPr/>
        </p:nvSpPr>
        <p:spPr>
          <a:xfrm>
            <a:off x="7836408" y="3904488"/>
            <a:ext cx="1188720" cy="411480"/>
          </a:xfrm>
          <a:prstGeom prst="rect">
            <a:avLst/>
          </a:prstGeom>
          <a:noFill/>
          <a:ln/>
        </p:spPr>
        <p:txBody>
          <a:bodyPr wrap="square" rtlCol="0" anchor="ctr"/>
          <a:lstStyle/>
          <a:p>
            <a:pPr marL="0" indent="0">
              <a:buNone/>
            </a:pPr>
            <a:r>
              <a:rPr lang="en-US" sz="2000" b="1" dirty="0">
                <a:solidFill>
                  <a:srgbClr val="0EA5E9"/>
                </a:solidFill>
              </a:rPr>
              <a:t>22,544</a:t>
            </a:r>
            <a:endParaRPr lang="en-US" sz="2000" dirty="0"/>
          </a:p>
        </p:txBody>
      </p:sp>
      <p:sp>
        <p:nvSpPr>
          <p:cNvPr id="18" name="Text 15"/>
          <p:cNvSpPr/>
          <p:nvPr/>
        </p:nvSpPr>
        <p:spPr>
          <a:xfrm>
            <a:off x="7836408" y="4235535"/>
            <a:ext cx="3840480" cy="201168"/>
          </a:xfrm>
          <a:prstGeom prst="rect">
            <a:avLst/>
          </a:prstGeom>
          <a:noFill/>
          <a:ln/>
        </p:spPr>
        <p:txBody>
          <a:bodyPr wrap="square" rtlCol="0" anchor="ctr"/>
          <a:lstStyle/>
          <a:p>
            <a:pPr marL="0" indent="0">
              <a:buNone/>
            </a:pPr>
            <a:r>
              <a:rPr lang="en-US" sz="900" b="1" dirty="0">
                <a:solidFill>
                  <a:srgbClr val="FFFFFF"/>
                </a:solidFill>
              </a:rPr>
              <a:t>Test Events Processed</a:t>
            </a:r>
            <a:endParaRPr lang="en-US" sz="900" dirty="0"/>
          </a:p>
        </p:txBody>
      </p:sp>
      <p:sp>
        <p:nvSpPr>
          <p:cNvPr id="19" name="Text 16"/>
          <p:cNvSpPr/>
          <p:nvPr/>
        </p:nvSpPr>
        <p:spPr>
          <a:xfrm>
            <a:off x="7836408" y="4471416"/>
            <a:ext cx="3840480" cy="219456"/>
          </a:xfrm>
          <a:prstGeom prst="rect">
            <a:avLst/>
          </a:prstGeom>
          <a:noFill/>
          <a:ln/>
        </p:spPr>
        <p:txBody>
          <a:bodyPr wrap="square" rtlCol="0" anchor="ctr"/>
          <a:lstStyle/>
          <a:p>
            <a:pPr marL="0" indent="0">
              <a:buNone/>
            </a:pPr>
            <a:r>
              <a:rPr lang="en-US" sz="1000" dirty="0">
                <a:solidFill>
                  <a:srgbClr val="94A3B8"/>
                </a:solidFill>
              </a:rPr>
              <a:t>Full hybrid pipeline applied</a:t>
            </a:r>
            <a:endParaRPr lang="en-US" sz="1000" dirty="0"/>
          </a:p>
          <a:p>
            <a:pPr marL="0" indent="0">
              <a:buNone/>
            </a:pPr>
            <a:r>
              <a:rPr lang="en-US" sz="1000" dirty="0">
                <a:solidFill>
                  <a:srgbClr val="94A3B8"/>
                </a:solidFill>
              </a:rPr>
              <a:t>to every test set event</a:t>
            </a:r>
            <a:endParaRPr lang="en-US" sz="1000" dirty="0"/>
          </a:p>
        </p:txBody>
      </p:sp>
      <p:sp>
        <p:nvSpPr>
          <p:cNvPr id="20" name="Shape 17"/>
          <p:cNvSpPr/>
          <p:nvPr/>
        </p:nvSpPr>
        <p:spPr>
          <a:xfrm>
            <a:off x="7726680" y="4882896"/>
            <a:ext cx="4069080" cy="914400"/>
          </a:xfrm>
          <a:prstGeom prst="rect">
            <a:avLst/>
          </a:prstGeom>
          <a:solidFill>
            <a:srgbClr val="0D2447"/>
          </a:solidFill>
          <a:ln/>
          <a:effectLst>
            <a:outerShdw blurRad="101600" dist="38100" dir="8100000" algn="bl" rotWithShape="0">
              <a:srgbClr val="000000">
                <a:alpha val="12000"/>
              </a:srgbClr>
            </a:outerShdw>
          </a:effectLst>
        </p:spPr>
      </p:sp>
      <p:sp>
        <p:nvSpPr>
          <p:cNvPr id="21" name="Shape 18"/>
          <p:cNvSpPr/>
          <p:nvPr/>
        </p:nvSpPr>
        <p:spPr>
          <a:xfrm>
            <a:off x="7726680" y="4882896"/>
            <a:ext cx="4069080" cy="45720"/>
          </a:xfrm>
          <a:prstGeom prst="rect">
            <a:avLst/>
          </a:prstGeom>
          <a:solidFill>
            <a:srgbClr val="10B981"/>
          </a:solidFill>
          <a:ln/>
        </p:spPr>
      </p:sp>
      <p:sp>
        <p:nvSpPr>
          <p:cNvPr id="22" name="Text 19"/>
          <p:cNvSpPr/>
          <p:nvPr/>
        </p:nvSpPr>
        <p:spPr>
          <a:xfrm>
            <a:off x="7836408" y="4974336"/>
            <a:ext cx="1188720" cy="411480"/>
          </a:xfrm>
          <a:prstGeom prst="rect">
            <a:avLst/>
          </a:prstGeom>
          <a:noFill/>
          <a:ln/>
        </p:spPr>
        <p:txBody>
          <a:bodyPr wrap="square" rtlCol="0" anchor="ctr"/>
          <a:lstStyle/>
          <a:p>
            <a:pPr marL="0" indent="0">
              <a:buNone/>
            </a:pPr>
            <a:r>
              <a:rPr lang="en-US" sz="2000" b="1" dirty="0">
                <a:solidFill>
                  <a:srgbClr val="10B981"/>
                </a:solidFill>
              </a:rPr>
              <a:t>α = 0.30</a:t>
            </a:r>
            <a:endParaRPr lang="en-US" sz="2000" dirty="0"/>
          </a:p>
        </p:txBody>
      </p:sp>
      <p:sp>
        <p:nvSpPr>
          <p:cNvPr id="23" name="Text 20"/>
          <p:cNvSpPr/>
          <p:nvPr/>
        </p:nvSpPr>
        <p:spPr>
          <a:xfrm>
            <a:off x="7836408" y="5303520"/>
            <a:ext cx="3840480" cy="201168"/>
          </a:xfrm>
          <a:prstGeom prst="rect">
            <a:avLst/>
          </a:prstGeom>
          <a:noFill/>
          <a:ln/>
        </p:spPr>
        <p:txBody>
          <a:bodyPr wrap="square" rtlCol="0" anchor="ctr"/>
          <a:lstStyle/>
          <a:p>
            <a:pPr marL="0" indent="0">
              <a:buNone/>
            </a:pPr>
            <a:r>
              <a:rPr lang="en-US" sz="900" b="1" dirty="0">
                <a:solidFill>
                  <a:srgbClr val="FFFFFF"/>
                </a:solidFill>
              </a:rPr>
              <a:t>Fusion Weight</a:t>
            </a:r>
            <a:endParaRPr lang="en-US" sz="900" dirty="0"/>
          </a:p>
        </p:txBody>
      </p:sp>
      <p:sp>
        <p:nvSpPr>
          <p:cNvPr id="24" name="Text 21"/>
          <p:cNvSpPr/>
          <p:nvPr/>
        </p:nvSpPr>
        <p:spPr>
          <a:xfrm>
            <a:off x="7836408" y="5541264"/>
            <a:ext cx="3840480" cy="219456"/>
          </a:xfrm>
          <a:prstGeom prst="rect">
            <a:avLst/>
          </a:prstGeom>
          <a:noFill/>
          <a:ln/>
        </p:spPr>
        <p:txBody>
          <a:bodyPr wrap="square" rtlCol="0" anchor="ctr"/>
          <a:lstStyle/>
          <a:p>
            <a:pPr marL="0" indent="0">
              <a:buNone/>
            </a:pPr>
            <a:r>
              <a:rPr lang="en-US" sz="1000" dirty="0">
                <a:solidFill>
                  <a:srgbClr val="94A3B8"/>
                </a:solidFill>
              </a:rPr>
              <a:t>30% unsupervised · 70% supervised</a:t>
            </a:r>
            <a:endParaRPr lang="en-US" sz="1000" dirty="0"/>
          </a:p>
          <a:p>
            <a:pPr marL="0" indent="0">
              <a:buNone/>
            </a:pPr>
            <a:r>
              <a:rPr lang="en-US" sz="1000" dirty="0">
                <a:solidFill>
                  <a:srgbClr val="94A3B8"/>
                </a:solidFill>
              </a:rPr>
              <a:t>confidence in final score</a:t>
            </a:r>
            <a:endParaRPr lang="en-US" sz="1000" dirty="0"/>
          </a:p>
        </p:txBody>
      </p:sp>
      <p:sp>
        <p:nvSpPr>
          <p:cNvPr id="25" name="Text 22"/>
          <p:cNvSpPr/>
          <p:nvPr/>
        </p:nvSpPr>
        <p:spPr>
          <a:xfrm>
            <a:off x="365760" y="6035040"/>
            <a:ext cx="11430000" cy="457200"/>
          </a:xfrm>
          <a:prstGeom prst="rect">
            <a:avLst/>
          </a:prstGeom>
          <a:noFill/>
          <a:ln/>
        </p:spPr>
        <p:txBody>
          <a:bodyPr wrap="square" rtlCol="0" anchor="ctr"/>
          <a:lstStyle/>
          <a:p>
            <a:pPr marL="0" indent="0">
              <a:lnSpc>
                <a:spcPct val="130000"/>
              </a:lnSpc>
              <a:buNone/>
            </a:pPr>
            <a:r>
              <a:rPr lang="en-US" sz="1050" i="1" dirty="0">
                <a:solidFill>
                  <a:srgbClr val="94A3B8"/>
                </a:solidFill>
              </a:rPr>
              <a:t>The hybrid engine is the key innovation: supervised models classify known attacks; the unsupervised layer catches threats no supervised model has ever seen.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08 · RISK SCORING</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Risk Scoring — 0 to 100 per Network Event</a:t>
            </a:r>
            <a:endParaRPr lang="en-US" sz="2600" dirty="0"/>
          </a:p>
        </p:txBody>
      </p:sp>
      <p:sp>
        <p:nvSpPr>
          <p:cNvPr id="5" name="Shape 3"/>
          <p:cNvSpPr/>
          <p:nvPr/>
        </p:nvSpPr>
        <p:spPr>
          <a:xfrm>
            <a:off x="365760" y="1261872"/>
            <a:ext cx="6766560" cy="2423160"/>
          </a:xfrm>
          <a:prstGeom prst="rect">
            <a:avLst/>
          </a:prstGeom>
          <a:solidFill>
            <a:srgbClr val="0F1D2E"/>
          </a:solidFill>
          <a:ln/>
        </p:spPr>
      </p:sp>
      <p:sp>
        <p:nvSpPr>
          <p:cNvPr id="6" name="Text 4"/>
          <p:cNvSpPr/>
          <p:nvPr/>
        </p:nvSpPr>
        <p:spPr>
          <a:xfrm>
            <a:off x="475488" y="1335024"/>
            <a:ext cx="6547104" cy="227685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SEVERITY = {'Normal':0, 'Probe':30, 'DoS':70, 'R2L':85, 'U2R':100, 'Unknown (Zero-Day)':55}</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def compute_risk(row):</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base         = SEVERITY.get(row['predicted_class'], 50)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anm_boost    = row['anomaly_score'] * 15       # +0 to +15  (anomaly confidence)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conf_penalty = (1 - row['hybrid_confidence']) * 10  # +0 to +10  (model uncertainty)</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return min(100.0, round(base + anm_boost + conf_penalty, 1))</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def risk_level(score):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if   score &lt; 25: return 'Low'     # 0–24</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elif score &lt; 60: return 'Medium'  # 25–59</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else:            return 'High'    # 60–100</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hybrid_df['risk_score'] = hybrid_df.apply(compute_risk, axis=1)</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hybrid_df['risk_level'] = hybrid_df['risk_score'].apply(risk_level)</a:t>
            </a:r>
            <a:endParaRPr lang="en-US" sz="850" dirty="0"/>
          </a:p>
        </p:txBody>
      </p:sp>
      <p:sp>
        <p:nvSpPr>
          <p:cNvPr id="7" name="Shape 5"/>
          <p:cNvSpPr/>
          <p:nvPr/>
        </p:nvSpPr>
        <p:spPr>
          <a:xfrm>
            <a:off x="7360920" y="1261872"/>
            <a:ext cx="4617720" cy="2423160"/>
          </a:xfrm>
          <a:prstGeom prst="rect">
            <a:avLst/>
          </a:prstGeom>
          <a:solidFill>
            <a:srgbClr val="FFFFFF"/>
          </a:solidFill>
          <a:ln/>
          <a:effectLst>
            <a:outerShdw blurRad="101600" dist="38100" dir="8100000" algn="bl" rotWithShape="0">
              <a:srgbClr val="000000">
                <a:alpha val="12000"/>
              </a:srgbClr>
            </a:outerShdw>
          </a:effectLst>
        </p:spPr>
      </p:sp>
      <p:sp>
        <p:nvSpPr>
          <p:cNvPr id="8" name="Text 6"/>
          <p:cNvSpPr/>
          <p:nvPr/>
        </p:nvSpPr>
        <p:spPr>
          <a:xfrm>
            <a:off x="7498080" y="1389888"/>
            <a:ext cx="4297680" cy="274320"/>
          </a:xfrm>
          <a:prstGeom prst="rect">
            <a:avLst/>
          </a:prstGeom>
          <a:noFill/>
          <a:ln/>
        </p:spPr>
        <p:txBody>
          <a:bodyPr wrap="square" rtlCol="0" anchor="ctr"/>
          <a:lstStyle/>
          <a:p>
            <a:pPr marL="0" indent="0">
              <a:buNone/>
            </a:pPr>
            <a:r>
              <a:rPr lang="en-US" sz="1200" b="1" dirty="0">
                <a:solidFill>
                  <a:srgbClr val="0A1628"/>
                </a:solidFill>
              </a:rPr>
              <a:t>Base Severity per Category</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4245781473"/>
              </p:ext>
            </p:extLst>
          </p:nvPr>
        </p:nvGraphicFramePr>
        <p:xfrm>
          <a:off x="7498080" y="1719072"/>
          <a:ext cx="4297680" cy="1991360"/>
        </p:xfrm>
        <a:graphic>
          <a:graphicData uri="http://schemas.openxmlformats.org/drawingml/2006/table">
            <a:tbl>
              <a:tblPr/>
              <a:tblGrid>
                <a:gridCol w="2194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FFFFFF"/>
                          </a:solidFill>
                        </a:rPr>
                        <a:t>Category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Base</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Risk Level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10B981"/>
                          </a:solidFill>
                        </a:rPr>
                        <a:t>Normal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B981"/>
                          </a:solidFill>
                        </a:rPr>
                        <a:t>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B981"/>
                          </a:solidFill>
                        </a:rPr>
                        <a:t>Low</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10B981"/>
                          </a:solidFill>
                        </a:rPr>
                        <a:t>Probe</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F59E0B"/>
                          </a:solidFill>
                        </a:rPr>
                        <a:t>30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F59E0B"/>
                          </a:solidFill>
                        </a:rPr>
                        <a:t>Medium</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10B981"/>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F59E0B"/>
                          </a:solidFill>
                        </a:rPr>
                        <a:t>55</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F59E0B"/>
                          </a:solidFill>
                        </a:rPr>
                        <a:t>Medium</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10B981"/>
                          </a:solidFill>
                        </a:rPr>
                        <a:t>DoS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EF4444"/>
                          </a:solidFill>
                        </a:rPr>
                        <a:t>70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10B981"/>
                          </a:solidFill>
                        </a:rPr>
                        <a:t>R2L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85</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10B981"/>
                          </a:solidFill>
                        </a:rPr>
                        <a:t>U2R</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EF4444"/>
                          </a:solidFill>
                        </a:rPr>
                        <a:t>100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
        <p:nvSpPr>
          <p:cNvPr id="10" name="Text 7"/>
          <p:cNvSpPr/>
          <p:nvPr/>
        </p:nvSpPr>
        <p:spPr>
          <a:xfrm>
            <a:off x="365760" y="3822192"/>
            <a:ext cx="11430000" cy="274320"/>
          </a:xfrm>
          <a:prstGeom prst="rect">
            <a:avLst/>
          </a:prstGeom>
          <a:noFill/>
          <a:ln/>
        </p:spPr>
        <p:txBody>
          <a:bodyPr wrap="square" rtlCol="0" anchor="ctr"/>
          <a:lstStyle/>
          <a:p>
            <a:pPr marL="0" indent="0">
              <a:buNone/>
            </a:pPr>
            <a:r>
              <a:rPr lang="en-US" sz="1300" b="1" dirty="0">
                <a:solidFill>
                  <a:srgbClr val="0A1628"/>
                </a:solidFill>
              </a:rPr>
              <a:t>Test Set Risk Distribution — 22,544 Events</a:t>
            </a:r>
            <a:endParaRPr lang="en-US" sz="1300" dirty="0"/>
          </a:p>
        </p:txBody>
      </p:sp>
      <p:sp>
        <p:nvSpPr>
          <p:cNvPr id="9" name="Shape 8"/>
          <p:cNvSpPr/>
          <p:nvPr/>
        </p:nvSpPr>
        <p:spPr>
          <a:xfrm>
            <a:off x="365760" y="4187952"/>
            <a:ext cx="3474720" cy="2148840"/>
          </a:xfrm>
          <a:prstGeom prst="rect">
            <a:avLst/>
          </a:prstGeom>
          <a:solidFill>
            <a:srgbClr val="FFFFFF"/>
          </a:solidFill>
          <a:ln/>
          <a:effectLst>
            <a:outerShdw blurRad="101600" dist="38100" dir="8100000" algn="bl" rotWithShape="0">
              <a:srgbClr val="000000">
                <a:alpha val="12000"/>
              </a:srgbClr>
            </a:outerShdw>
          </a:effectLst>
        </p:spPr>
      </p:sp>
      <p:sp>
        <p:nvSpPr>
          <p:cNvPr id="12" name="Shape 9"/>
          <p:cNvSpPr/>
          <p:nvPr/>
        </p:nvSpPr>
        <p:spPr>
          <a:xfrm>
            <a:off x="365760" y="4187952"/>
            <a:ext cx="3474720" cy="73152"/>
          </a:xfrm>
          <a:prstGeom prst="rect">
            <a:avLst/>
          </a:prstGeom>
          <a:solidFill>
            <a:srgbClr val="EF4444"/>
          </a:solidFill>
          <a:ln/>
        </p:spPr>
      </p:sp>
      <p:sp>
        <p:nvSpPr>
          <p:cNvPr id="13" name="Text 10"/>
          <p:cNvSpPr/>
          <p:nvPr/>
        </p:nvSpPr>
        <p:spPr>
          <a:xfrm>
            <a:off x="548640" y="4343400"/>
            <a:ext cx="3108960" cy="347472"/>
          </a:xfrm>
          <a:prstGeom prst="rect">
            <a:avLst/>
          </a:prstGeom>
          <a:noFill/>
          <a:ln/>
        </p:spPr>
        <p:txBody>
          <a:bodyPr wrap="square" rtlCol="0" anchor="ctr"/>
          <a:lstStyle/>
          <a:p>
            <a:pPr marL="0" indent="0">
              <a:buNone/>
            </a:pPr>
            <a:r>
              <a:rPr lang="en-US" sz="1600" b="1" dirty="0">
                <a:solidFill>
                  <a:srgbClr val="EF4444"/>
                </a:solidFill>
              </a:rPr>
              <a:t>High Risk</a:t>
            </a:r>
            <a:endParaRPr lang="en-US" sz="1600" dirty="0"/>
          </a:p>
        </p:txBody>
      </p:sp>
      <p:sp>
        <p:nvSpPr>
          <p:cNvPr id="14" name="Text 11"/>
          <p:cNvSpPr/>
          <p:nvPr/>
        </p:nvSpPr>
        <p:spPr>
          <a:xfrm>
            <a:off x="548640" y="4709160"/>
            <a:ext cx="3108960" cy="274320"/>
          </a:xfrm>
          <a:prstGeom prst="rect">
            <a:avLst/>
          </a:prstGeom>
          <a:noFill/>
          <a:ln/>
        </p:spPr>
        <p:txBody>
          <a:bodyPr wrap="square" rtlCol="0" anchor="ctr"/>
          <a:lstStyle/>
          <a:p>
            <a:pPr marL="0" indent="0">
              <a:buNone/>
            </a:pPr>
            <a:r>
              <a:rPr lang="en-US" sz="1100" dirty="0">
                <a:solidFill>
                  <a:srgbClr val="94A3B8"/>
                </a:solidFill>
              </a:rPr>
              <a:t>Score: 60–100</a:t>
            </a:r>
            <a:endParaRPr lang="en-US" sz="1100" dirty="0"/>
          </a:p>
        </p:txBody>
      </p:sp>
      <p:sp>
        <p:nvSpPr>
          <p:cNvPr id="15" name="Text 12"/>
          <p:cNvSpPr/>
          <p:nvPr/>
        </p:nvSpPr>
        <p:spPr>
          <a:xfrm>
            <a:off x="548640" y="5029200"/>
            <a:ext cx="3108960" cy="502920"/>
          </a:xfrm>
          <a:prstGeom prst="rect">
            <a:avLst/>
          </a:prstGeom>
          <a:noFill/>
          <a:ln/>
        </p:spPr>
        <p:txBody>
          <a:bodyPr wrap="square" rtlCol="0" anchor="ctr"/>
          <a:lstStyle/>
          <a:p>
            <a:pPr marL="0" indent="0" algn="ctr">
              <a:buNone/>
            </a:pPr>
            <a:r>
              <a:rPr lang="en-US" sz="2800" b="1" dirty="0">
                <a:solidFill>
                  <a:srgbClr val="0A1628"/>
                </a:solidFill>
              </a:rPr>
              <a:t>10,114</a:t>
            </a:r>
            <a:endParaRPr lang="en-US" sz="2800" dirty="0"/>
          </a:p>
        </p:txBody>
      </p:sp>
      <p:sp>
        <p:nvSpPr>
          <p:cNvPr id="16" name="Text 13"/>
          <p:cNvSpPr/>
          <p:nvPr/>
        </p:nvSpPr>
        <p:spPr>
          <a:xfrm>
            <a:off x="548640" y="5532120"/>
            <a:ext cx="3108960" cy="256032"/>
          </a:xfrm>
          <a:prstGeom prst="rect">
            <a:avLst/>
          </a:prstGeom>
          <a:noFill/>
          <a:ln/>
        </p:spPr>
        <p:txBody>
          <a:bodyPr wrap="square" rtlCol="0" anchor="ctr"/>
          <a:lstStyle/>
          <a:p>
            <a:pPr marL="0" indent="0" algn="ctr">
              <a:buNone/>
            </a:pPr>
            <a:r>
              <a:rPr lang="en-US" sz="1100" dirty="0">
                <a:solidFill>
                  <a:srgbClr val="94A3B8"/>
                </a:solidFill>
              </a:rPr>
              <a:t>events · 44.9%</a:t>
            </a:r>
            <a:endParaRPr lang="en-US" sz="1100" dirty="0"/>
          </a:p>
        </p:txBody>
      </p:sp>
      <p:sp>
        <p:nvSpPr>
          <p:cNvPr id="17" name="Shape 14"/>
          <p:cNvSpPr/>
          <p:nvPr/>
        </p:nvSpPr>
        <p:spPr>
          <a:xfrm>
            <a:off x="4160520" y="4187952"/>
            <a:ext cx="3474720" cy="2148840"/>
          </a:xfrm>
          <a:prstGeom prst="rect">
            <a:avLst/>
          </a:prstGeom>
          <a:solidFill>
            <a:srgbClr val="FFFFFF"/>
          </a:solidFill>
          <a:ln/>
          <a:effectLst>
            <a:outerShdw blurRad="101600" dist="38100" dir="8100000" algn="bl" rotWithShape="0">
              <a:srgbClr val="000000">
                <a:alpha val="12000"/>
              </a:srgbClr>
            </a:outerShdw>
          </a:effectLst>
        </p:spPr>
      </p:sp>
      <p:sp>
        <p:nvSpPr>
          <p:cNvPr id="18" name="Shape 15"/>
          <p:cNvSpPr/>
          <p:nvPr/>
        </p:nvSpPr>
        <p:spPr>
          <a:xfrm>
            <a:off x="4160520" y="4187952"/>
            <a:ext cx="3474720" cy="73152"/>
          </a:xfrm>
          <a:prstGeom prst="rect">
            <a:avLst/>
          </a:prstGeom>
          <a:solidFill>
            <a:srgbClr val="10B981"/>
          </a:solidFill>
          <a:ln/>
        </p:spPr>
      </p:sp>
      <p:sp>
        <p:nvSpPr>
          <p:cNvPr id="19" name="Text 16"/>
          <p:cNvSpPr/>
          <p:nvPr/>
        </p:nvSpPr>
        <p:spPr>
          <a:xfrm>
            <a:off x="4343400" y="4343400"/>
            <a:ext cx="3108960" cy="347472"/>
          </a:xfrm>
          <a:prstGeom prst="rect">
            <a:avLst/>
          </a:prstGeom>
          <a:noFill/>
          <a:ln/>
        </p:spPr>
        <p:txBody>
          <a:bodyPr wrap="square" rtlCol="0" anchor="ctr"/>
          <a:lstStyle/>
          <a:p>
            <a:pPr marL="0" indent="0">
              <a:buNone/>
            </a:pPr>
            <a:r>
              <a:rPr lang="en-US" sz="1600" b="1" dirty="0">
                <a:solidFill>
                  <a:srgbClr val="10B981"/>
                </a:solidFill>
              </a:rPr>
              <a:t>Low Risk</a:t>
            </a:r>
            <a:endParaRPr lang="en-US" sz="1600" dirty="0"/>
          </a:p>
        </p:txBody>
      </p:sp>
      <p:sp>
        <p:nvSpPr>
          <p:cNvPr id="20" name="Text 17"/>
          <p:cNvSpPr/>
          <p:nvPr/>
        </p:nvSpPr>
        <p:spPr>
          <a:xfrm>
            <a:off x="4343400" y="4709160"/>
            <a:ext cx="3108960" cy="274320"/>
          </a:xfrm>
          <a:prstGeom prst="rect">
            <a:avLst/>
          </a:prstGeom>
          <a:noFill/>
          <a:ln/>
        </p:spPr>
        <p:txBody>
          <a:bodyPr wrap="square" rtlCol="0" anchor="ctr"/>
          <a:lstStyle/>
          <a:p>
            <a:pPr marL="0" indent="0">
              <a:buNone/>
            </a:pPr>
            <a:r>
              <a:rPr lang="en-US" sz="1100" dirty="0">
                <a:solidFill>
                  <a:srgbClr val="94A3B8"/>
                </a:solidFill>
              </a:rPr>
              <a:t>Score: 0–24</a:t>
            </a:r>
            <a:endParaRPr lang="en-US" sz="1100" dirty="0"/>
          </a:p>
        </p:txBody>
      </p:sp>
      <p:sp>
        <p:nvSpPr>
          <p:cNvPr id="21" name="Text 18"/>
          <p:cNvSpPr/>
          <p:nvPr/>
        </p:nvSpPr>
        <p:spPr>
          <a:xfrm>
            <a:off x="4343400" y="5029200"/>
            <a:ext cx="3108960" cy="502920"/>
          </a:xfrm>
          <a:prstGeom prst="rect">
            <a:avLst/>
          </a:prstGeom>
          <a:noFill/>
          <a:ln/>
        </p:spPr>
        <p:txBody>
          <a:bodyPr wrap="square" rtlCol="0" anchor="ctr"/>
          <a:lstStyle/>
          <a:p>
            <a:pPr marL="0" indent="0" algn="ctr">
              <a:buNone/>
            </a:pPr>
            <a:r>
              <a:rPr lang="en-US" sz="2800" b="1" dirty="0">
                <a:solidFill>
                  <a:srgbClr val="0A1628"/>
                </a:solidFill>
              </a:rPr>
              <a:t>9,525</a:t>
            </a:r>
            <a:endParaRPr lang="en-US" sz="2800" dirty="0"/>
          </a:p>
        </p:txBody>
      </p:sp>
      <p:sp>
        <p:nvSpPr>
          <p:cNvPr id="22" name="Text 19"/>
          <p:cNvSpPr/>
          <p:nvPr/>
        </p:nvSpPr>
        <p:spPr>
          <a:xfrm>
            <a:off x="4343400" y="5532120"/>
            <a:ext cx="3108960" cy="256032"/>
          </a:xfrm>
          <a:prstGeom prst="rect">
            <a:avLst/>
          </a:prstGeom>
          <a:noFill/>
          <a:ln/>
        </p:spPr>
        <p:txBody>
          <a:bodyPr wrap="square" rtlCol="0" anchor="ctr"/>
          <a:lstStyle/>
          <a:p>
            <a:pPr marL="0" indent="0" algn="ctr">
              <a:buNone/>
            </a:pPr>
            <a:r>
              <a:rPr lang="en-US" sz="1100" dirty="0">
                <a:solidFill>
                  <a:srgbClr val="94A3B8"/>
                </a:solidFill>
              </a:rPr>
              <a:t>events · 42.3%</a:t>
            </a:r>
            <a:endParaRPr lang="en-US" sz="1100" dirty="0"/>
          </a:p>
        </p:txBody>
      </p:sp>
      <p:sp>
        <p:nvSpPr>
          <p:cNvPr id="23" name="Shape 20"/>
          <p:cNvSpPr/>
          <p:nvPr/>
        </p:nvSpPr>
        <p:spPr>
          <a:xfrm>
            <a:off x="7955280" y="4187952"/>
            <a:ext cx="3474720" cy="2148840"/>
          </a:xfrm>
          <a:prstGeom prst="rect">
            <a:avLst/>
          </a:prstGeom>
          <a:solidFill>
            <a:srgbClr val="FFFFFF"/>
          </a:solidFill>
          <a:ln/>
          <a:effectLst>
            <a:outerShdw blurRad="101600" dist="38100" dir="8100000" algn="bl" rotWithShape="0">
              <a:srgbClr val="000000">
                <a:alpha val="12000"/>
              </a:srgbClr>
            </a:outerShdw>
          </a:effectLst>
        </p:spPr>
      </p:sp>
      <p:sp>
        <p:nvSpPr>
          <p:cNvPr id="24" name="Shape 21"/>
          <p:cNvSpPr/>
          <p:nvPr/>
        </p:nvSpPr>
        <p:spPr>
          <a:xfrm>
            <a:off x="7955280" y="4187952"/>
            <a:ext cx="3474720" cy="73152"/>
          </a:xfrm>
          <a:prstGeom prst="rect">
            <a:avLst/>
          </a:prstGeom>
          <a:solidFill>
            <a:srgbClr val="F59E0B"/>
          </a:solidFill>
          <a:ln/>
        </p:spPr>
      </p:sp>
      <p:sp>
        <p:nvSpPr>
          <p:cNvPr id="25" name="Text 22"/>
          <p:cNvSpPr/>
          <p:nvPr/>
        </p:nvSpPr>
        <p:spPr>
          <a:xfrm>
            <a:off x="8138160" y="4343400"/>
            <a:ext cx="3108960" cy="347472"/>
          </a:xfrm>
          <a:prstGeom prst="rect">
            <a:avLst/>
          </a:prstGeom>
          <a:noFill/>
          <a:ln/>
        </p:spPr>
        <p:txBody>
          <a:bodyPr wrap="square" rtlCol="0" anchor="ctr"/>
          <a:lstStyle/>
          <a:p>
            <a:pPr marL="0" indent="0">
              <a:buNone/>
            </a:pPr>
            <a:r>
              <a:rPr lang="en-US" sz="1600" b="1" dirty="0">
                <a:solidFill>
                  <a:srgbClr val="F59E0B"/>
                </a:solidFill>
              </a:rPr>
              <a:t>Medium Risk</a:t>
            </a:r>
            <a:endParaRPr lang="en-US" sz="1600" dirty="0"/>
          </a:p>
        </p:txBody>
      </p:sp>
      <p:sp>
        <p:nvSpPr>
          <p:cNvPr id="26" name="Text 23"/>
          <p:cNvSpPr/>
          <p:nvPr/>
        </p:nvSpPr>
        <p:spPr>
          <a:xfrm>
            <a:off x="8138160" y="4709160"/>
            <a:ext cx="3108960" cy="274320"/>
          </a:xfrm>
          <a:prstGeom prst="rect">
            <a:avLst/>
          </a:prstGeom>
          <a:noFill/>
          <a:ln/>
        </p:spPr>
        <p:txBody>
          <a:bodyPr wrap="square" rtlCol="0" anchor="ctr"/>
          <a:lstStyle/>
          <a:p>
            <a:pPr marL="0" indent="0">
              <a:buNone/>
            </a:pPr>
            <a:r>
              <a:rPr lang="en-US" sz="1100" dirty="0">
                <a:solidFill>
                  <a:srgbClr val="94A3B8"/>
                </a:solidFill>
              </a:rPr>
              <a:t>Score: 25–59</a:t>
            </a:r>
            <a:endParaRPr lang="en-US" sz="1100" dirty="0"/>
          </a:p>
        </p:txBody>
      </p:sp>
      <p:sp>
        <p:nvSpPr>
          <p:cNvPr id="27" name="Text 24"/>
          <p:cNvSpPr/>
          <p:nvPr/>
        </p:nvSpPr>
        <p:spPr>
          <a:xfrm>
            <a:off x="8138160" y="5029200"/>
            <a:ext cx="3108960" cy="502920"/>
          </a:xfrm>
          <a:prstGeom prst="rect">
            <a:avLst/>
          </a:prstGeom>
          <a:noFill/>
          <a:ln/>
        </p:spPr>
        <p:txBody>
          <a:bodyPr wrap="square" rtlCol="0" anchor="ctr"/>
          <a:lstStyle/>
          <a:p>
            <a:pPr marL="0" indent="0" algn="ctr">
              <a:buNone/>
            </a:pPr>
            <a:r>
              <a:rPr lang="en-US" sz="2800" b="1" dirty="0">
                <a:solidFill>
                  <a:srgbClr val="0A1628"/>
                </a:solidFill>
              </a:rPr>
              <a:t>2,905</a:t>
            </a:r>
            <a:endParaRPr lang="en-US" sz="2800" dirty="0"/>
          </a:p>
        </p:txBody>
      </p:sp>
      <p:sp>
        <p:nvSpPr>
          <p:cNvPr id="28" name="Text 25"/>
          <p:cNvSpPr/>
          <p:nvPr/>
        </p:nvSpPr>
        <p:spPr>
          <a:xfrm>
            <a:off x="8138160" y="5532120"/>
            <a:ext cx="3108960" cy="256032"/>
          </a:xfrm>
          <a:prstGeom prst="rect">
            <a:avLst/>
          </a:prstGeom>
          <a:noFill/>
          <a:ln/>
        </p:spPr>
        <p:txBody>
          <a:bodyPr wrap="square" rtlCol="0" anchor="ctr"/>
          <a:lstStyle/>
          <a:p>
            <a:pPr marL="0" indent="0" algn="ctr">
              <a:buNone/>
            </a:pPr>
            <a:r>
              <a:rPr lang="en-US" sz="1100" dirty="0">
                <a:solidFill>
                  <a:srgbClr val="94A3B8"/>
                </a:solidFill>
              </a:rPr>
              <a:t>events · 12.9%</a:t>
            </a:r>
            <a:endParaRPr lang="en-US" sz="1100" dirty="0"/>
          </a:p>
        </p:txBody>
      </p:sp>
      <p:sp>
        <p:nvSpPr>
          <p:cNvPr id="29" name="Text 26"/>
          <p:cNvSpPr/>
          <p:nvPr/>
        </p:nvSpPr>
        <p:spPr>
          <a:xfrm>
            <a:off x="365760" y="6400800"/>
            <a:ext cx="11430000" cy="256032"/>
          </a:xfrm>
          <a:prstGeom prst="rect">
            <a:avLst/>
          </a:prstGeom>
          <a:noFill/>
          <a:ln/>
        </p:spPr>
        <p:txBody>
          <a:bodyPr wrap="square" rtlCol="0" anchor="ctr"/>
          <a:lstStyle/>
          <a:p>
            <a:pPr marL="0" indent="0" algn="ctr">
              <a:buNone/>
            </a:pPr>
            <a:r>
              <a:rPr lang="en-US" sz="1000" i="1" dirty="0">
                <a:solidFill>
                  <a:srgbClr val="94A3B8"/>
                </a:solidFill>
              </a:rPr>
              <a:t>Formula: Risk Score = Base Severity  +  Anomaly Boost (up to +15)  +  Confidence Penalty (up to +10)  →  capped at 100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09 · RESULTS</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Classification Reports — Per-Class Performance</a:t>
            </a:r>
            <a:endParaRPr lang="en-US" sz="2600" dirty="0"/>
          </a:p>
        </p:txBody>
      </p:sp>
      <p:sp>
        <p:nvSpPr>
          <p:cNvPr id="5" name="Shape 3"/>
          <p:cNvSpPr/>
          <p:nvPr/>
        </p:nvSpPr>
        <p:spPr>
          <a:xfrm>
            <a:off x="365760" y="1261872"/>
            <a:ext cx="5577840" cy="333756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1261872"/>
            <a:ext cx="5577840" cy="320040"/>
          </a:xfrm>
          <a:prstGeom prst="rect">
            <a:avLst/>
          </a:prstGeom>
          <a:solidFill>
            <a:srgbClr val="10B981"/>
          </a:solidFill>
          <a:ln/>
        </p:spPr>
      </p:sp>
      <p:sp>
        <p:nvSpPr>
          <p:cNvPr id="7" name="Text 5"/>
          <p:cNvSpPr/>
          <p:nvPr/>
        </p:nvSpPr>
        <p:spPr>
          <a:xfrm>
            <a:off x="502920" y="1261872"/>
            <a:ext cx="5303520" cy="320040"/>
          </a:xfrm>
          <a:prstGeom prst="rect">
            <a:avLst/>
          </a:prstGeom>
          <a:noFill/>
          <a:ln/>
        </p:spPr>
        <p:txBody>
          <a:bodyPr wrap="square" rtlCol="0" anchor="ctr"/>
          <a:lstStyle/>
          <a:p>
            <a:pPr marL="0" indent="0">
              <a:buNone/>
            </a:pPr>
            <a:r>
              <a:rPr lang="en-US" sz="1100" b="1" dirty="0">
                <a:solidFill>
                  <a:srgbClr val="FFFFFF"/>
                </a:solidFill>
              </a:rPr>
              <a:t>Random Forest — Test Set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3315972169"/>
              </p:ext>
            </p:extLst>
          </p:nvPr>
        </p:nvGraphicFramePr>
        <p:xfrm>
          <a:off x="502920" y="1645920"/>
          <a:ext cx="5303520" cy="224028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0">
                <a:tc>
                  <a:txBody>
                    <a:bodyPr/>
                    <a:lstStyle/>
                    <a:p>
                      <a:pPr marL="0" indent="0" algn="l">
                        <a:buNone/>
                      </a:pPr>
                      <a:r>
                        <a:rPr lang="en-US" sz="1600" b="1" dirty="0">
                          <a:solidFill>
                            <a:srgbClr val="FFFFFF"/>
                          </a:solidFill>
                        </a:rPr>
                        <a:t>Class</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600" b="1" dirty="0">
                          <a:solidFill>
                            <a:srgbClr val="FFFFFF"/>
                          </a:solidFill>
                        </a:rPr>
                        <a:t>Precision</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600" b="1" dirty="0">
                          <a:solidFill>
                            <a:srgbClr val="FFFFFF"/>
                          </a:solidFill>
                        </a:rPr>
                        <a:t>Recall</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600" b="1" dirty="0">
                          <a:solidFill>
                            <a:srgbClr val="FFFFFF"/>
                          </a:solidFill>
                        </a:rPr>
                        <a:t>F1-Score</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600" b="1" dirty="0">
                          <a:solidFill>
                            <a:srgbClr val="FFFFFF"/>
                          </a:solidFill>
                        </a:rPr>
                        <a:t>Support</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0A1628"/>
                          </a:solidFill>
                        </a:rPr>
                        <a:t>DoS</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0.99</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1.00</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1.00</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7,456</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0A1628"/>
                          </a:solidFill>
                        </a:rPr>
                        <a:t>Normal</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1.00</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1.00</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1.00</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9,711</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0A1628"/>
                          </a:solidFill>
                        </a:rPr>
                        <a:t>Probe</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0.99</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0.98</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0.99</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2,421</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600" dirty="0">
                          <a:solidFill>
                            <a:srgbClr val="0A1628"/>
                          </a:solidFill>
                        </a:rPr>
                        <a:t>R2L</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0.98</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0.88</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0.93</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dirty="0">
                          <a:solidFill>
                            <a:srgbClr val="0A1628"/>
                          </a:solidFill>
                        </a:rPr>
                        <a:t>2,889</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600" dirty="0">
                          <a:solidFill>
                            <a:srgbClr val="0A1628"/>
                          </a:solidFill>
                        </a:rPr>
                        <a:t>U2R</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0.94</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0.97</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0.96</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A1628"/>
                          </a:solidFill>
                        </a:rPr>
                        <a:t>67</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600" b="1" dirty="0">
                          <a:solidFill>
                            <a:srgbClr val="10B981"/>
                          </a:solidFill>
                        </a:rPr>
                        <a:t>Weighted Avg</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600" b="1" dirty="0">
                          <a:solidFill>
                            <a:srgbClr val="10B981"/>
                          </a:solidFill>
                        </a:rPr>
                        <a:t>0.9983</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600" b="1" dirty="0">
                          <a:solidFill>
                            <a:srgbClr val="10B981"/>
                          </a:solidFill>
                        </a:rPr>
                        <a:t>0.9982</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600" b="1" dirty="0">
                          <a:solidFill>
                            <a:srgbClr val="10B981"/>
                          </a:solidFill>
                        </a:rPr>
                        <a:t>0.9982</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600" b="1" dirty="0">
                          <a:solidFill>
                            <a:srgbClr val="10B981"/>
                          </a:solidFill>
                        </a:rPr>
                        <a:t>22,544</a:t>
                      </a:r>
                      <a:endParaRPr lang="en-US" sz="16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extLst>
                  <a:ext uri="{0D108BD9-81ED-4DB2-BD59-A6C34878D82A}">
                    <a16:rowId xmlns:a16="http://schemas.microsoft.com/office/drawing/2014/main" val="10006"/>
                  </a:ext>
                </a:extLst>
              </a:tr>
            </a:tbl>
          </a:graphicData>
        </a:graphic>
      </p:graphicFrame>
      <p:sp>
        <p:nvSpPr>
          <p:cNvPr id="9" name="Text 6"/>
          <p:cNvSpPr/>
          <p:nvPr/>
        </p:nvSpPr>
        <p:spPr>
          <a:xfrm>
            <a:off x="396240" y="4014555"/>
            <a:ext cx="5303520" cy="365760"/>
          </a:xfrm>
          <a:prstGeom prst="rect">
            <a:avLst/>
          </a:prstGeom>
          <a:noFill/>
          <a:ln/>
        </p:spPr>
        <p:txBody>
          <a:bodyPr wrap="square" rtlCol="0" anchor="ctr"/>
          <a:lstStyle/>
          <a:p>
            <a:pPr marL="0" indent="0">
              <a:lnSpc>
                <a:spcPct val="130000"/>
              </a:lnSpc>
              <a:buNone/>
            </a:pPr>
            <a:r>
              <a:rPr lang="en-US" sz="1400" dirty="0">
                <a:solidFill>
                  <a:srgbClr val="334155"/>
                </a:solidFill>
              </a:rPr>
              <a:t>Val Accuracy: 99.82% · F1-Weighted: 0.9982</a:t>
            </a:r>
            <a:endParaRPr lang="en-US" sz="1400" dirty="0"/>
          </a:p>
          <a:p>
            <a:pPr marL="0" indent="0">
              <a:lnSpc>
                <a:spcPct val="130000"/>
              </a:lnSpc>
              <a:buNone/>
            </a:pPr>
            <a:r>
              <a:rPr lang="en-US" sz="1400" dirty="0">
                <a:solidFill>
                  <a:srgbClr val="334155"/>
                </a:solidFill>
              </a:rPr>
              <a:t>Strong across all 5 classes including U2R (F1=0.96)</a:t>
            </a:r>
            <a:endParaRPr lang="en-US" sz="1400" dirty="0"/>
          </a:p>
        </p:txBody>
      </p:sp>
      <p:sp>
        <p:nvSpPr>
          <p:cNvPr id="10" name="Shape 7"/>
          <p:cNvSpPr/>
          <p:nvPr/>
        </p:nvSpPr>
        <p:spPr>
          <a:xfrm>
            <a:off x="365760" y="4645152"/>
            <a:ext cx="5577840" cy="1965960"/>
          </a:xfrm>
          <a:prstGeom prst="rect">
            <a:avLst/>
          </a:prstGeom>
          <a:solidFill>
            <a:srgbClr val="FFFFFF"/>
          </a:solidFill>
          <a:ln/>
          <a:effectLst>
            <a:outerShdw blurRad="101600" dist="38100" dir="8100000" algn="bl" rotWithShape="0">
              <a:srgbClr val="000000">
                <a:alpha val="12000"/>
              </a:srgbClr>
            </a:outerShdw>
          </a:effectLst>
        </p:spPr>
      </p:sp>
      <p:sp>
        <p:nvSpPr>
          <p:cNvPr id="11" name="Shape 8"/>
          <p:cNvSpPr/>
          <p:nvPr/>
        </p:nvSpPr>
        <p:spPr>
          <a:xfrm>
            <a:off x="365760" y="4645152"/>
            <a:ext cx="5577840" cy="320040"/>
          </a:xfrm>
          <a:prstGeom prst="rect">
            <a:avLst/>
          </a:prstGeom>
          <a:solidFill>
            <a:srgbClr val="6366F1"/>
          </a:solidFill>
          <a:ln/>
        </p:spPr>
      </p:sp>
      <p:sp>
        <p:nvSpPr>
          <p:cNvPr id="8" name="Text 9"/>
          <p:cNvSpPr/>
          <p:nvPr/>
        </p:nvSpPr>
        <p:spPr>
          <a:xfrm>
            <a:off x="502920" y="4645152"/>
            <a:ext cx="5303520" cy="320040"/>
          </a:xfrm>
          <a:prstGeom prst="rect">
            <a:avLst/>
          </a:prstGeom>
          <a:noFill/>
          <a:ln/>
        </p:spPr>
        <p:txBody>
          <a:bodyPr wrap="square" rtlCol="0" anchor="ctr"/>
          <a:lstStyle/>
          <a:p>
            <a:pPr marL="0" indent="0">
              <a:buNone/>
            </a:pPr>
            <a:r>
              <a:rPr lang="en-US" sz="1050" b="1" dirty="0">
                <a:solidFill>
                  <a:srgbClr val="FFFFFF"/>
                </a:solidFill>
              </a:rPr>
              <a:t>SVM (RBF) — Test Set  |  Accuracy: 97.26%  |  F1-W: 0.9767</a:t>
            </a:r>
            <a:endParaRPr lang="en-US" sz="1050" dirty="0"/>
          </a:p>
        </p:txBody>
      </p:sp>
      <p:graphicFrame>
        <p:nvGraphicFramePr>
          <p:cNvPr id="23" name="Table 1"/>
          <p:cNvGraphicFramePr>
            <a:graphicFrameLocks noGrp="1"/>
          </p:cNvGraphicFramePr>
          <p:nvPr>
            <p:extLst>
              <p:ext uri="{D42A27DB-BD31-4B8C-83A1-F6EECF244321}">
                <p14:modId xmlns:p14="http://schemas.microsoft.com/office/powerpoint/2010/main" val="1835574082"/>
              </p:ext>
            </p:extLst>
          </p:nvPr>
        </p:nvGraphicFramePr>
        <p:xfrm>
          <a:off x="502920" y="5010912"/>
          <a:ext cx="5303520" cy="155448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0">
                <a:tc>
                  <a:txBody>
                    <a:bodyPr/>
                    <a:lstStyle/>
                    <a:p>
                      <a:pPr marL="0" indent="0" algn="l">
                        <a:buNone/>
                      </a:pPr>
                      <a:r>
                        <a:rPr lang="en-US" sz="1200" b="1" dirty="0">
                          <a:solidFill>
                            <a:srgbClr val="FFFFFF"/>
                          </a:solidFill>
                        </a:rPr>
                        <a:t>Class</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338CA"/>
                    </a:solidFill>
                  </a:tcPr>
                </a:tc>
                <a:tc>
                  <a:txBody>
                    <a:bodyPr/>
                    <a:lstStyle/>
                    <a:p>
                      <a:pPr marL="0" indent="0" algn="ctr">
                        <a:buNone/>
                      </a:pPr>
                      <a:r>
                        <a:rPr lang="en-US" sz="1200" b="1" dirty="0">
                          <a:solidFill>
                            <a:srgbClr val="FFFFFF"/>
                          </a:solidFill>
                        </a:rPr>
                        <a:t>Precision</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338CA"/>
                    </a:solidFill>
                  </a:tcPr>
                </a:tc>
                <a:tc>
                  <a:txBody>
                    <a:bodyPr/>
                    <a:lstStyle/>
                    <a:p>
                      <a:pPr marL="0" indent="0" algn="ctr">
                        <a:buNone/>
                      </a:pPr>
                      <a:r>
                        <a:rPr lang="en-US" sz="1200" b="1" dirty="0">
                          <a:solidFill>
                            <a:srgbClr val="FFFFFF"/>
                          </a:solidFill>
                        </a:rPr>
                        <a:t>Recall</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338CA"/>
                    </a:solidFill>
                  </a:tcPr>
                </a:tc>
                <a:tc>
                  <a:txBody>
                    <a:bodyPr/>
                    <a:lstStyle/>
                    <a:p>
                      <a:pPr marL="0" indent="0" algn="ctr">
                        <a:buNone/>
                      </a:pPr>
                      <a:r>
                        <a:rPr lang="en-US" sz="1200" b="1" dirty="0">
                          <a:solidFill>
                            <a:srgbClr val="FFFFFF"/>
                          </a:solidFill>
                        </a:rPr>
                        <a:t>F1</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338CA"/>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0A1628"/>
                          </a:solidFill>
                        </a:rPr>
                        <a:t>DoS</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0.99</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0.97</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0.98</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0A1628"/>
                          </a:solidFill>
                        </a:rPr>
                        <a:t>Normal</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0.98</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0.99</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0.99</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0A1628"/>
                          </a:solidFill>
                        </a:rPr>
                        <a:t>Probe</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0.94</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0.93</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0.93</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0A1628"/>
                          </a:solidFill>
                        </a:rPr>
                        <a:t>R2L</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0.97</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0.97</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0.97</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0A1628"/>
                          </a:solidFill>
                        </a:rPr>
                        <a:t>U2R</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0.81</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0.94</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0.87</a:t>
                      </a:r>
                      <a:endParaRPr lang="en-US" sz="12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Shape 10"/>
          <p:cNvSpPr/>
          <p:nvPr/>
        </p:nvSpPr>
        <p:spPr>
          <a:xfrm>
            <a:off x="6263640" y="1261872"/>
            <a:ext cx="5532120" cy="3337560"/>
          </a:xfrm>
          <a:prstGeom prst="rect">
            <a:avLst/>
          </a:prstGeom>
          <a:solidFill>
            <a:srgbClr val="FFFFFF"/>
          </a:solidFill>
          <a:ln/>
          <a:effectLst>
            <a:outerShdw blurRad="101600" dist="38100" dir="8100000" algn="bl" rotWithShape="0">
              <a:srgbClr val="000000">
                <a:alpha val="12000"/>
              </a:srgbClr>
            </a:outerShdw>
          </a:effectLst>
        </p:spPr>
      </p:sp>
      <p:sp>
        <p:nvSpPr>
          <p:cNvPr id="15" name="Shape 11"/>
          <p:cNvSpPr/>
          <p:nvPr/>
        </p:nvSpPr>
        <p:spPr>
          <a:xfrm>
            <a:off x="6263640" y="1261872"/>
            <a:ext cx="5532120" cy="320040"/>
          </a:xfrm>
          <a:prstGeom prst="rect">
            <a:avLst/>
          </a:prstGeom>
          <a:solidFill>
            <a:srgbClr val="0EA5E9"/>
          </a:solidFill>
          <a:ln/>
        </p:spPr>
      </p:sp>
      <p:sp>
        <p:nvSpPr>
          <p:cNvPr id="16" name="Text 12"/>
          <p:cNvSpPr/>
          <p:nvPr/>
        </p:nvSpPr>
        <p:spPr>
          <a:xfrm>
            <a:off x="6400800" y="1261872"/>
            <a:ext cx="5212080" cy="320040"/>
          </a:xfrm>
          <a:prstGeom prst="rect">
            <a:avLst/>
          </a:prstGeom>
          <a:noFill/>
          <a:ln/>
        </p:spPr>
        <p:txBody>
          <a:bodyPr wrap="square" rtlCol="0" anchor="ctr"/>
          <a:lstStyle/>
          <a:p>
            <a:pPr marL="0" indent="0">
              <a:buNone/>
            </a:pPr>
            <a:r>
              <a:rPr lang="en-US" sz="1100" b="1" dirty="0">
                <a:solidFill>
                  <a:srgbClr val="FFFFFF"/>
                </a:solidFill>
              </a:rPr>
              <a:t>XGBoost — Test Set  (Distribution Shift Effect)</a:t>
            </a:r>
            <a:endParaRPr lang="en-US" sz="1100" dirty="0"/>
          </a:p>
        </p:txBody>
      </p:sp>
      <p:graphicFrame>
        <p:nvGraphicFramePr>
          <p:cNvPr id="34" name="Table 2"/>
          <p:cNvGraphicFramePr>
            <a:graphicFrameLocks noGrp="1"/>
          </p:cNvGraphicFramePr>
          <p:nvPr>
            <p:extLst>
              <p:ext uri="{D42A27DB-BD31-4B8C-83A1-F6EECF244321}">
                <p14:modId xmlns:p14="http://schemas.microsoft.com/office/powerpoint/2010/main" val="2455353210"/>
              </p:ext>
            </p:extLst>
          </p:nvPr>
        </p:nvGraphicFramePr>
        <p:xfrm>
          <a:off x="6400800" y="1645920"/>
          <a:ext cx="5212080" cy="2026920"/>
        </p:xfrm>
        <a:graphic>
          <a:graphicData uri="http://schemas.openxmlformats.org/drawingml/2006/table">
            <a:tbl>
              <a:tblPr/>
              <a:tblGrid>
                <a:gridCol w="1280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0">
                <a:tc>
                  <a:txBody>
                    <a:bodyPr/>
                    <a:lstStyle/>
                    <a:p>
                      <a:pPr marL="0" indent="0" algn="l">
                        <a:buNone/>
                      </a:pPr>
                      <a:r>
                        <a:rPr lang="en-US" sz="1400" b="1" dirty="0">
                          <a:solidFill>
                            <a:srgbClr val="FFFFFF"/>
                          </a:solidFill>
                        </a:rPr>
                        <a:t>Class</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rPr>
                        <a:t>Precision</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rPr>
                        <a:t>Recall</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rPr>
                        <a:t>F1</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rPr>
                        <a:t>Support</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A1628"/>
                          </a:solidFill>
                        </a:rPr>
                        <a:t>DoS</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0.96</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0.82</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0.88</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7,456</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A1628"/>
                          </a:solidFill>
                        </a:rPr>
                        <a:t>Normal</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0.66</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0.97</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0.78</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9,711</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A1628"/>
                          </a:solidFill>
                        </a:rPr>
                        <a:t>Probe</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0.87</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0.62</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EF4444"/>
                          </a:solidFill>
                        </a:rPr>
                        <a:t>0.72</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2,421</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A1628"/>
                          </a:solidFill>
                        </a:rPr>
                        <a:t>R2L</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0.98</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0.04</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EF4444"/>
                          </a:solidFill>
                        </a:rPr>
                        <a:t>0.08</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2,889</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A1628"/>
                          </a:solidFill>
                        </a:rPr>
                        <a:t>U2R</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0.62</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0.07</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EF4444"/>
                          </a:solidFill>
                        </a:rPr>
                        <a:t>0.13</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67</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400" b="1" dirty="0">
                          <a:solidFill>
                            <a:srgbClr val="0EA5E9"/>
                          </a:solidFill>
                        </a:rPr>
                        <a:t>Weighted Avg</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400" b="1" dirty="0">
                          <a:solidFill>
                            <a:srgbClr val="0EA5E9"/>
                          </a:solidFill>
                        </a:rPr>
                        <a:t>0.82</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400" b="1" dirty="0">
                          <a:solidFill>
                            <a:srgbClr val="0EA5E9"/>
                          </a:solidFill>
                        </a:rPr>
                        <a:t>0.76</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400" b="1" dirty="0">
                          <a:solidFill>
                            <a:srgbClr val="0EA5E9"/>
                          </a:solidFill>
                        </a:rPr>
                        <a:t>0.72</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400" b="1" dirty="0">
                          <a:solidFill>
                            <a:srgbClr val="0EA5E9"/>
                          </a:solidFill>
                        </a:rPr>
                        <a:t>22,544</a:t>
                      </a:r>
                      <a:endParaRPr lang="en-US" sz="14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6"/>
                  </a:ext>
                </a:extLst>
              </a:tr>
            </a:tbl>
          </a:graphicData>
        </a:graphic>
      </p:graphicFrame>
      <p:sp>
        <p:nvSpPr>
          <p:cNvPr id="18" name="Shape 13"/>
          <p:cNvSpPr/>
          <p:nvPr/>
        </p:nvSpPr>
        <p:spPr>
          <a:xfrm>
            <a:off x="6263640" y="3730752"/>
            <a:ext cx="5532120" cy="1161288"/>
          </a:xfrm>
          <a:prstGeom prst="rect">
            <a:avLst/>
          </a:prstGeom>
          <a:solidFill>
            <a:srgbClr val="FFFFFF"/>
          </a:solidFill>
          <a:ln/>
          <a:effectLst>
            <a:outerShdw blurRad="101600" dist="38100" dir="8100000" algn="bl" rotWithShape="0">
              <a:srgbClr val="000000">
                <a:alpha val="12000"/>
              </a:srgbClr>
            </a:outerShdw>
          </a:effectLst>
        </p:spPr>
      </p:sp>
      <p:sp>
        <p:nvSpPr>
          <p:cNvPr id="19" name="Shape 14"/>
          <p:cNvSpPr/>
          <p:nvPr/>
        </p:nvSpPr>
        <p:spPr>
          <a:xfrm>
            <a:off x="6263640" y="4160520"/>
            <a:ext cx="54864" cy="731520"/>
          </a:xfrm>
          <a:prstGeom prst="rect">
            <a:avLst/>
          </a:prstGeom>
          <a:solidFill>
            <a:srgbClr val="F59E0B"/>
          </a:solidFill>
          <a:ln/>
        </p:spPr>
      </p:sp>
      <p:sp>
        <p:nvSpPr>
          <p:cNvPr id="20" name="Text 15"/>
          <p:cNvSpPr/>
          <p:nvPr/>
        </p:nvSpPr>
        <p:spPr>
          <a:xfrm>
            <a:off x="6400800" y="3968835"/>
            <a:ext cx="5212080" cy="228600"/>
          </a:xfrm>
          <a:prstGeom prst="rect">
            <a:avLst/>
          </a:prstGeom>
          <a:noFill/>
          <a:ln/>
        </p:spPr>
        <p:txBody>
          <a:bodyPr wrap="square" rtlCol="0" anchor="ctr"/>
          <a:lstStyle/>
          <a:p>
            <a:pPr marL="0" indent="0">
              <a:buNone/>
            </a:pPr>
            <a:r>
              <a:rPr lang="en-US" sz="1050" b="1" dirty="0">
                <a:solidFill>
                  <a:srgbClr val="0A1628"/>
                </a:solidFill>
              </a:rPr>
              <a:t>Why R2L/U2R dropped on the test set:</a:t>
            </a:r>
            <a:endParaRPr lang="en-US" sz="1050" dirty="0"/>
          </a:p>
        </p:txBody>
      </p:sp>
      <p:sp>
        <p:nvSpPr>
          <p:cNvPr id="21" name="Text 16"/>
          <p:cNvSpPr/>
          <p:nvPr/>
        </p:nvSpPr>
        <p:spPr>
          <a:xfrm>
            <a:off x="6400800" y="4311396"/>
            <a:ext cx="5212080" cy="384048"/>
          </a:xfrm>
          <a:prstGeom prst="rect">
            <a:avLst/>
          </a:prstGeom>
          <a:noFill/>
          <a:ln/>
        </p:spPr>
        <p:txBody>
          <a:bodyPr wrap="square" rtlCol="0" anchor="ctr"/>
          <a:lstStyle/>
          <a:p>
            <a:pPr marL="0" indent="0">
              <a:lnSpc>
                <a:spcPct val="125000"/>
              </a:lnSpc>
              <a:buNone/>
            </a:pPr>
            <a:r>
              <a:rPr lang="en-US" sz="1200" dirty="0">
                <a:solidFill>
                  <a:srgbClr val="475569"/>
                </a:solidFill>
              </a:rPr>
              <a:t>NSL-KDD test set has 2,889 R2L records vs only 995 in training, including attack subtypes (e.g. guess_passwd: 1,231 test vs 53 train) XGBoost has limited exposure to</a:t>
            </a:r>
            <a:r>
              <a:rPr lang="en-US" sz="1100" dirty="0">
                <a:solidFill>
                  <a:srgbClr val="475569"/>
                </a:solidFill>
              </a:rPr>
              <a:t>.</a:t>
            </a:r>
            <a:endParaRPr lang="en-US" sz="1100" dirty="0"/>
          </a:p>
        </p:txBody>
      </p:sp>
      <p:sp>
        <p:nvSpPr>
          <p:cNvPr id="22" name="Shape 17"/>
          <p:cNvSpPr/>
          <p:nvPr/>
        </p:nvSpPr>
        <p:spPr>
          <a:xfrm>
            <a:off x="6263640" y="5010912"/>
            <a:ext cx="5532120" cy="1737360"/>
          </a:xfrm>
          <a:prstGeom prst="rect">
            <a:avLst/>
          </a:prstGeom>
          <a:solidFill>
            <a:srgbClr val="FFFFFF"/>
          </a:solidFill>
          <a:ln/>
          <a:effectLst>
            <a:outerShdw blurRad="101600" dist="38100" dir="8100000" algn="bl" rotWithShape="0">
              <a:srgbClr val="000000">
                <a:alpha val="12000"/>
              </a:srgbClr>
            </a:outerShdw>
          </a:effectLst>
        </p:spPr>
      </p:sp>
      <p:sp>
        <p:nvSpPr>
          <p:cNvPr id="13" name="Shape 18"/>
          <p:cNvSpPr/>
          <p:nvPr/>
        </p:nvSpPr>
        <p:spPr>
          <a:xfrm>
            <a:off x="6263640" y="5010912"/>
            <a:ext cx="5532120" cy="320040"/>
          </a:xfrm>
          <a:prstGeom prst="rect">
            <a:avLst/>
          </a:prstGeom>
          <a:solidFill>
            <a:srgbClr val="64748B"/>
          </a:solidFill>
          <a:ln/>
        </p:spPr>
      </p:sp>
      <p:sp>
        <p:nvSpPr>
          <p:cNvPr id="24" name="Text 19"/>
          <p:cNvSpPr/>
          <p:nvPr/>
        </p:nvSpPr>
        <p:spPr>
          <a:xfrm>
            <a:off x="6400800" y="5010912"/>
            <a:ext cx="5212080" cy="320040"/>
          </a:xfrm>
          <a:prstGeom prst="rect">
            <a:avLst/>
          </a:prstGeom>
          <a:noFill/>
          <a:ln/>
        </p:spPr>
        <p:txBody>
          <a:bodyPr wrap="square" rtlCol="0" anchor="ctr"/>
          <a:lstStyle/>
          <a:p>
            <a:pPr marL="0" indent="0">
              <a:buNone/>
            </a:pPr>
            <a:r>
              <a:rPr lang="en-US" sz="1050" b="1" dirty="0">
                <a:solidFill>
                  <a:srgbClr val="FFFFFF"/>
                </a:solidFill>
              </a:rPr>
              <a:t>Logistic Regression — Test Set  |  Accuracy: 89.15%  |  F1-W: 0.9122</a:t>
            </a:r>
            <a:endParaRPr lang="en-US" sz="1050" dirty="0"/>
          </a:p>
        </p:txBody>
      </p:sp>
      <p:graphicFrame>
        <p:nvGraphicFramePr>
          <p:cNvPr id="45" name="Table 3"/>
          <p:cNvGraphicFramePr>
            <a:graphicFrameLocks noGrp="1"/>
          </p:cNvGraphicFramePr>
          <p:nvPr>
            <p:extLst>
              <p:ext uri="{D42A27DB-BD31-4B8C-83A1-F6EECF244321}">
                <p14:modId xmlns:p14="http://schemas.microsoft.com/office/powerpoint/2010/main" val="705503552"/>
              </p:ext>
            </p:extLst>
          </p:nvPr>
        </p:nvGraphicFramePr>
        <p:xfrm>
          <a:off x="6318504" y="5355978"/>
          <a:ext cx="5212080" cy="137160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0">
                <a:tc>
                  <a:txBody>
                    <a:bodyPr/>
                    <a:lstStyle/>
                    <a:p>
                      <a:pPr marL="0" indent="0" algn="l">
                        <a:buNone/>
                      </a:pPr>
                      <a:r>
                        <a:rPr lang="en-US" sz="1000" b="1" dirty="0">
                          <a:solidFill>
                            <a:srgbClr val="FFFFFF"/>
                          </a:solidFill>
                        </a:rPr>
                        <a:t>Class</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75569"/>
                    </a:solidFill>
                  </a:tcPr>
                </a:tc>
                <a:tc>
                  <a:txBody>
                    <a:bodyPr/>
                    <a:lstStyle/>
                    <a:p>
                      <a:pPr marL="0" indent="0" algn="ctr">
                        <a:buNone/>
                      </a:pPr>
                      <a:r>
                        <a:rPr lang="en-US" sz="1000" b="1" dirty="0">
                          <a:solidFill>
                            <a:srgbClr val="FFFFFF"/>
                          </a:solidFill>
                        </a:rPr>
                        <a:t>Precision</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75569"/>
                    </a:solidFill>
                  </a:tcPr>
                </a:tc>
                <a:tc>
                  <a:txBody>
                    <a:bodyPr/>
                    <a:lstStyle/>
                    <a:p>
                      <a:pPr marL="0" indent="0" algn="ctr">
                        <a:buNone/>
                      </a:pPr>
                      <a:r>
                        <a:rPr lang="en-US" sz="1000" b="1" dirty="0">
                          <a:solidFill>
                            <a:srgbClr val="FFFFFF"/>
                          </a:solidFill>
                        </a:rPr>
                        <a:t>Recall</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75569"/>
                    </a:solidFill>
                  </a:tcPr>
                </a:tc>
                <a:tc>
                  <a:txBody>
                    <a:bodyPr/>
                    <a:lstStyle/>
                    <a:p>
                      <a:pPr marL="0" indent="0" algn="ctr">
                        <a:buNone/>
                      </a:pPr>
                      <a:r>
                        <a:rPr lang="en-US" sz="1000" b="1" dirty="0">
                          <a:solidFill>
                            <a:srgbClr val="FFFFFF"/>
                          </a:solidFill>
                        </a:rPr>
                        <a:t>F1</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0A1628"/>
                          </a:solidFill>
                        </a:rPr>
                        <a:t>DoS</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1.00</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1.00</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1.00</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0A1628"/>
                          </a:solidFill>
                        </a:rPr>
                        <a:t>Normal</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1628"/>
                          </a:solidFill>
                        </a:rPr>
                        <a:t>0.97</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1628"/>
                          </a:solidFill>
                        </a:rPr>
                        <a:t>0.95</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1628"/>
                          </a:solidFill>
                        </a:rPr>
                        <a:t>0.96</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0A1628"/>
                          </a:solidFill>
                        </a:rPr>
                        <a:t>Probe</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0.88</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0.89</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0.88</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0A1628"/>
                          </a:solidFill>
                        </a:rPr>
                        <a:t>R2L</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1628"/>
                          </a:solidFill>
                        </a:rPr>
                        <a:t>0.64</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1628"/>
                          </a:solidFill>
                        </a:rPr>
                        <a:t>0.56</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1628"/>
                          </a:solidFill>
                        </a:rPr>
                        <a:t>0.60</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000" dirty="0">
                          <a:solidFill>
                            <a:srgbClr val="0A1628"/>
                          </a:solidFill>
                        </a:rPr>
                        <a:t>U2R</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0.61</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0.67</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1628"/>
                          </a:solidFill>
                        </a:rPr>
                        <a:t>0.64</a:t>
                      </a:r>
                      <a:endParaRPr lang="en-US" sz="10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09 · RESULTS</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ROC-AUC Scores &amp; Cross-Validation Results</a:t>
            </a:r>
            <a:endParaRPr lang="en-US" sz="2600" dirty="0"/>
          </a:p>
        </p:txBody>
      </p:sp>
      <p:sp>
        <p:nvSpPr>
          <p:cNvPr id="5" name="Shape 3"/>
          <p:cNvSpPr/>
          <p:nvPr/>
        </p:nvSpPr>
        <p:spPr>
          <a:xfrm>
            <a:off x="365760" y="1261872"/>
            <a:ext cx="5303520" cy="347472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1261872"/>
            <a:ext cx="5303520" cy="320040"/>
          </a:xfrm>
          <a:prstGeom prst="rect">
            <a:avLst/>
          </a:prstGeom>
          <a:solidFill>
            <a:srgbClr val="0EA5E9"/>
          </a:solidFill>
          <a:ln/>
        </p:spPr>
      </p:sp>
      <p:sp>
        <p:nvSpPr>
          <p:cNvPr id="7" name="Text 5"/>
          <p:cNvSpPr/>
          <p:nvPr/>
        </p:nvSpPr>
        <p:spPr>
          <a:xfrm>
            <a:off x="502920" y="1261872"/>
            <a:ext cx="5029200" cy="320040"/>
          </a:xfrm>
          <a:prstGeom prst="rect">
            <a:avLst/>
          </a:prstGeom>
          <a:noFill/>
          <a:ln/>
        </p:spPr>
        <p:txBody>
          <a:bodyPr wrap="square" rtlCol="0" anchor="ctr"/>
          <a:lstStyle/>
          <a:p>
            <a:pPr marL="0" indent="0">
              <a:buNone/>
            </a:pPr>
            <a:r>
              <a:rPr lang="en-US" sz="1100" b="1" dirty="0">
                <a:solidFill>
                  <a:srgbClr val="FFFFFF"/>
                </a:solidFill>
              </a:rPr>
              <a:t>AUC Scores per Class — XGBoost (One-vs-Rest)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283598836"/>
              </p:ext>
            </p:extLst>
          </p:nvPr>
        </p:nvGraphicFramePr>
        <p:xfrm>
          <a:off x="502920" y="1645920"/>
          <a:ext cx="5029200" cy="1991360"/>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0">
                <a:tc>
                  <a:txBody>
                    <a:bodyPr/>
                    <a:lstStyle/>
                    <a:p>
                      <a:pPr marL="0" indent="0" algn="l">
                        <a:buNone/>
                      </a:pPr>
                      <a:r>
                        <a:rPr lang="en-US" sz="1200" b="1" dirty="0">
                          <a:solidFill>
                            <a:srgbClr val="FFFFFF"/>
                          </a:solidFill>
                        </a:rPr>
                        <a:t>Class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AUC Score</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Avg Precision</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Quality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0A1628"/>
                          </a:solidFill>
                        </a:rPr>
                        <a:t>DoS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0.9711</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0.9563</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Good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0A1628"/>
                          </a:solidFill>
                        </a:rPr>
                        <a:t>Normal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0.9665</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0.9664</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Good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0A1628"/>
                          </a:solidFill>
                        </a:rPr>
                        <a:t>Probe</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0.9492</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0.7950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Good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0A1628"/>
                          </a:solidFill>
                        </a:rPr>
                        <a:t>R2L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0.9180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0.6275</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0A1628"/>
                          </a:solidFill>
                        </a:rPr>
                        <a:t>Good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0A1628"/>
                          </a:solidFill>
                        </a:rPr>
                        <a:t>U2R</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0.9364</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0.2151</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Good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b="1" dirty="0">
                          <a:solidFill>
                            <a:srgbClr val="0EA5E9"/>
                          </a:solidFill>
                        </a:rPr>
                        <a:t>Mean</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EA5E9"/>
                          </a:solidFill>
                        </a:rPr>
                        <a:t>0.9482</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EA5E9"/>
                          </a:solidFill>
                        </a:rPr>
                        <a:t>0.7121</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EA5E9"/>
                          </a:solidFill>
                        </a:rPr>
                        <a:t>Good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6"/>
                  </a:ext>
                </a:extLst>
              </a:tr>
            </a:tbl>
          </a:graphicData>
        </a:graphic>
      </p:graphicFrame>
      <p:sp>
        <p:nvSpPr>
          <p:cNvPr id="9" name="Text 6"/>
          <p:cNvSpPr/>
          <p:nvPr/>
        </p:nvSpPr>
        <p:spPr>
          <a:xfrm>
            <a:off x="396240" y="3792701"/>
            <a:ext cx="5029200" cy="594360"/>
          </a:xfrm>
          <a:prstGeom prst="rect">
            <a:avLst/>
          </a:prstGeom>
          <a:noFill/>
          <a:ln/>
        </p:spPr>
        <p:txBody>
          <a:bodyPr wrap="square" rtlCol="0" anchor="ctr"/>
          <a:lstStyle/>
          <a:p>
            <a:pPr marL="0" indent="0">
              <a:lnSpc>
                <a:spcPct val="140000"/>
              </a:lnSpc>
              <a:buNone/>
            </a:pPr>
            <a:r>
              <a:rPr lang="en-US" sz="1400" dirty="0">
                <a:solidFill>
                  <a:srgbClr val="334155"/>
                </a:solidFill>
              </a:rPr>
              <a:t>All 5 classes scored AUC &gt; 0.91 — strong separability.</a:t>
            </a:r>
            <a:endParaRPr lang="en-US" sz="1400" dirty="0"/>
          </a:p>
          <a:p>
            <a:pPr marL="0" indent="0">
              <a:lnSpc>
                <a:spcPct val="140000"/>
              </a:lnSpc>
              <a:buNone/>
            </a:pPr>
            <a:r>
              <a:rPr lang="en-US" sz="1400" dirty="0">
                <a:solidFill>
                  <a:srgbClr val="334155"/>
                </a:solidFill>
              </a:rPr>
              <a:t>U2R lower avg precision (0.21) due to only 67 test records.</a:t>
            </a:r>
            <a:endParaRPr lang="en-US" sz="1400" dirty="0"/>
          </a:p>
          <a:p>
            <a:pPr marL="0" indent="0">
              <a:lnSpc>
                <a:spcPct val="140000"/>
              </a:lnSpc>
              <a:buNone/>
            </a:pPr>
            <a:r>
              <a:rPr lang="en-US" sz="1400" dirty="0">
                <a:solidFill>
                  <a:srgbClr val="334155"/>
                </a:solidFill>
              </a:rPr>
              <a:t>Mean AUC of 0.9482 is strong for a real-world NIDS benchmark.</a:t>
            </a:r>
            <a:endParaRPr lang="en-US" sz="1400" dirty="0"/>
          </a:p>
        </p:txBody>
      </p:sp>
      <p:sp>
        <p:nvSpPr>
          <p:cNvPr id="10" name="Shape 7"/>
          <p:cNvSpPr/>
          <p:nvPr/>
        </p:nvSpPr>
        <p:spPr>
          <a:xfrm>
            <a:off x="365760" y="4956048"/>
            <a:ext cx="5303520" cy="1600200"/>
          </a:xfrm>
          <a:prstGeom prst="rect">
            <a:avLst/>
          </a:prstGeom>
          <a:solidFill>
            <a:srgbClr val="0F1D2E"/>
          </a:solidFill>
          <a:ln/>
        </p:spPr>
      </p:sp>
      <p:sp>
        <p:nvSpPr>
          <p:cNvPr id="11" name="Text 8"/>
          <p:cNvSpPr/>
          <p:nvPr/>
        </p:nvSpPr>
        <p:spPr>
          <a:xfrm>
            <a:off x="475488" y="5029200"/>
            <a:ext cx="5084064" cy="145389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y_test_bin = label_binarize(y_test_m, classes=list(CLASSES))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y_prob = best_model.predict_proba(X_test_top)</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for i, cls in enumerate(CLASSES):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fpr, tpr, _ = roc_curve(y_test_bin[:,i], y_prob[:,i])</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roc_auc = auc(fpr, tpr)   # All &gt; 0.91</a:t>
            </a:r>
            <a:endParaRPr lang="en-US" sz="850" dirty="0"/>
          </a:p>
        </p:txBody>
      </p:sp>
      <p:sp>
        <p:nvSpPr>
          <p:cNvPr id="12" name="Shape 9"/>
          <p:cNvSpPr/>
          <p:nvPr/>
        </p:nvSpPr>
        <p:spPr>
          <a:xfrm>
            <a:off x="5989320" y="1261872"/>
            <a:ext cx="5806440" cy="3474720"/>
          </a:xfrm>
          <a:prstGeom prst="rect">
            <a:avLst/>
          </a:prstGeom>
          <a:solidFill>
            <a:srgbClr val="FFFFFF"/>
          </a:solidFill>
          <a:ln/>
          <a:effectLst>
            <a:outerShdw blurRad="101600" dist="38100" dir="8100000" algn="bl" rotWithShape="0">
              <a:srgbClr val="000000">
                <a:alpha val="12000"/>
              </a:srgbClr>
            </a:outerShdw>
          </a:effectLst>
        </p:spPr>
      </p:sp>
      <p:sp>
        <p:nvSpPr>
          <p:cNvPr id="8" name="Shape 10"/>
          <p:cNvSpPr/>
          <p:nvPr/>
        </p:nvSpPr>
        <p:spPr>
          <a:xfrm>
            <a:off x="5989320" y="1261872"/>
            <a:ext cx="5806440" cy="320040"/>
          </a:xfrm>
          <a:prstGeom prst="rect">
            <a:avLst/>
          </a:prstGeom>
          <a:solidFill>
            <a:srgbClr val="0D2447"/>
          </a:solidFill>
          <a:ln/>
        </p:spPr>
      </p:sp>
      <p:sp>
        <p:nvSpPr>
          <p:cNvPr id="14" name="Text 11"/>
          <p:cNvSpPr/>
          <p:nvPr/>
        </p:nvSpPr>
        <p:spPr>
          <a:xfrm>
            <a:off x="6126480" y="1261872"/>
            <a:ext cx="5486400" cy="320040"/>
          </a:xfrm>
          <a:prstGeom prst="rect">
            <a:avLst/>
          </a:prstGeom>
          <a:noFill/>
          <a:ln/>
        </p:spPr>
        <p:txBody>
          <a:bodyPr wrap="square" rtlCol="0" anchor="ctr"/>
          <a:lstStyle/>
          <a:p>
            <a:pPr marL="0" indent="0">
              <a:buNone/>
            </a:pPr>
            <a:r>
              <a:rPr lang="en-US" sz="1100" b="1" dirty="0">
                <a:solidFill>
                  <a:srgbClr val="FFFFFF"/>
                </a:solidFill>
              </a:rPr>
              <a:t>5-Fold Stratified Cross-Validation</a:t>
            </a:r>
            <a:endParaRPr lang="en-US" sz="1100" dirty="0"/>
          </a:p>
        </p:txBody>
      </p:sp>
      <p:graphicFrame>
        <p:nvGraphicFramePr>
          <p:cNvPr id="25" name="Table 1"/>
          <p:cNvGraphicFramePr>
            <a:graphicFrameLocks noGrp="1"/>
          </p:cNvGraphicFramePr>
          <p:nvPr>
            <p:extLst>
              <p:ext uri="{D42A27DB-BD31-4B8C-83A1-F6EECF244321}">
                <p14:modId xmlns:p14="http://schemas.microsoft.com/office/powerpoint/2010/main" val="1835617148"/>
              </p:ext>
            </p:extLst>
          </p:nvPr>
        </p:nvGraphicFramePr>
        <p:xfrm>
          <a:off x="6198669" y="1645920"/>
          <a:ext cx="5414211" cy="1503680"/>
        </p:xfrm>
        <a:graphic>
          <a:graphicData uri="http://schemas.openxmlformats.org/drawingml/2006/table">
            <a:tbl>
              <a:tblPr/>
              <a:tblGrid>
                <a:gridCol w="1856301">
                  <a:extLst>
                    <a:ext uri="{9D8B030D-6E8A-4147-A177-3AD203B41FA5}">
                      <a16:colId xmlns:a16="http://schemas.microsoft.com/office/drawing/2014/main" val="20000"/>
                    </a:ext>
                  </a:extLst>
                </a:gridCol>
                <a:gridCol w="928150">
                  <a:extLst>
                    <a:ext uri="{9D8B030D-6E8A-4147-A177-3AD203B41FA5}">
                      <a16:colId xmlns:a16="http://schemas.microsoft.com/office/drawing/2014/main" val="20001"/>
                    </a:ext>
                  </a:extLst>
                </a:gridCol>
                <a:gridCol w="850805">
                  <a:extLst>
                    <a:ext uri="{9D8B030D-6E8A-4147-A177-3AD203B41FA5}">
                      <a16:colId xmlns:a16="http://schemas.microsoft.com/office/drawing/2014/main" val="20002"/>
                    </a:ext>
                  </a:extLst>
                </a:gridCol>
                <a:gridCol w="850805">
                  <a:extLst>
                    <a:ext uri="{9D8B030D-6E8A-4147-A177-3AD203B41FA5}">
                      <a16:colId xmlns:a16="http://schemas.microsoft.com/office/drawing/2014/main" val="20003"/>
                    </a:ext>
                  </a:extLst>
                </a:gridCol>
                <a:gridCol w="928150">
                  <a:extLst>
                    <a:ext uri="{9D8B030D-6E8A-4147-A177-3AD203B41FA5}">
                      <a16:colId xmlns:a16="http://schemas.microsoft.com/office/drawing/2014/main" val="20004"/>
                    </a:ext>
                  </a:extLst>
                </a:gridCol>
              </a:tblGrid>
              <a:tr h="214376">
                <a:tc>
                  <a:txBody>
                    <a:bodyPr/>
                    <a:lstStyle/>
                    <a:p>
                      <a:pPr marL="0" indent="0" algn="l">
                        <a:buNone/>
                      </a:pPr>
                      <a:r>
                        <a:rPr lang="en-US" sz="1800" b="1" dirty="0">
                          <a:solidFill>
                            <a:srgbClr val="FFFFFF"/>
                          </a:solidFill>
                        </a:rPr>
                        <a:t>Model</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800" b="1" dirty="0">
                          <a:solidFill>
                            <a:srgbClr val="FFFFFF"/>
                          </a:solidFill>
                        </a:rPr>
                        <a:t>Mean F1</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800" b="1" dirty="0">
                          <a:solidFill>
                            <a:srgbClr val="FFFFFF"/>
                          </a:solidFill>
                        </a:rPr>
                        <a:t>Std F1</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800" b="1" dirty="0">
                          <a:solidFill>
                            <a:srgbClr val="FFFFFF"/>
                          </a:solidFill>
                        </a:rPr>
                        <a:t>Min F1</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800" b="1" dirty="0">
                          <a:solidFill>
                            <a:srgbClr val="FFFFFF"/>
                          </a:solidFill>
                        </a:rPr>
                        <a:t>Max F1</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214376">
                <a:tc>
                  <a:txBody>
                    <a:bodyPr/>
                    <a:lstStyle/>
                    <a:p>
                      <a:pPr marL="0" indent="0" algn="l">
                        <a:buNone/>
                      </a:pPr>
                      <a:r>
                        <a:rPr lang="en-US" sz="1800" dirty="0">
                          <a:solidFill>
                            <a:srgbClr val="0A1628"/>
                          </a:solidFill>
                        </a:rPr>
                        <a:t>XGBoost</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0.9925</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0.0018</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0.9895</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0.9944</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4376">
                <a:tc>
                  <a:txBody>
                    <a:bodyPr/>
                    <a:lstStyle/>
                    <a:p>
                      <a:pPr marL="0" indent="0" algn="l">
                        <a:buNone/>
                      </a:pPr>
                      <a:r>
                        <a:rPr lang="en-US" sz="1800" dirty="0">
                          <a:solidFill>
                            <a:srgbClr val="0A1628"/>
                          </a:solidFill>
                        </a:rPr>
                        <a:t>Random Forest</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0A1628"/>
                          </a:solidFill>
                        </a:rPr>
                        <a:t>0.9930</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0A1628"/>
                          </a:solidFill>
                        </a:rPr>
                        <a:t>0.0016</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0A1628"/>
                          </a:solidFill>
                        </a:rPr>
                        <a:t>0.9908</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0A1628"/>
                          </a:solidFill>
                        </a:rPr>
                        <a:t>0.9948</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14376">
                <a:tc>
                  <a:txBody>
                    <a:bodyPr/>
                    <a:lstStyle/>
                    <a:p>
                      <a:pPr marL="0" indent="0" algn="l">
                        <a:buNone/>
                      </a:pPr>
                      <a:r>
                        <a:rPr lang="en-US" sz="1800" dirty="0">
                          <a:solidFill>
                            <a:srgbClr val="0A1628"/>
                          </a:solidFill>
                        </a:rPr>
                        <a:t>Logistic Regression</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0.9020</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0.0035</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0.8975</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A1628"/>
                          </a:solidFill>
                        </a:rPr>
                        <a:t>0.9063</a:t>
                      </a:r>
                      <a:endParaRPr lang="en-US" sz="18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2"/>
          <p:cNvSpPr/>
          <p:nvPr/>
        </p:nvSpPr>
        <p:spPr>
          <a:xfrm>
            <a:off x="6126480" y="3497580"/>
            <a:ext cx="5486400" cy="502920"/>
          </a:xfrm>
          <a:prstGeom prst="rect">
            <a:avLst/>
          </a:prstGeom>
          <a:noFill/>
          <a:ln/>
        </p:spPr>
        <p:txBody>
          <a:bodyPr wrap="square" rtlCol="0" anchor="ctr"/>
          <a:lstStyle/>
          <a:p>
            <a:pPr marL="0" indent="0">
              <a:lnSpc>
                <a:spcPct val="135000"/>
              </a:lnSpc>
              <a:buNone/>
            </a:pPr>
            <a:r>
              <a:rPr lang="en-US" sz="1600" dirty="0">
                <a:solidFill>
                  <a:srgbClr val="334155"/>
                </a:solidFill>
              </a:rPr>
              <a:t>Low standard deviation (0.0016–0.0018) across folds confirms models generalise well — results are not due to one lucky train/test split.</a:t>
            </a:r>
            <a:endParaRPr lang="en-US" sz="1600" dirty="0"/>
          </a:p>
        </p:txBody>
      </p:sp>
      <p:graphicFrame>
        <p:nvGraphicFramePr>
          <p:cNvPr id="17" name="Chart 0"/>
          <p:cNvGraphicFramePr/>
          <p:nvPr/>
        </p:nvGraphicFramePr>
        <p:xfrm>
          <a:off x="5989320" y="4343400"/>
          <a:ext cx="5806440" cy="22402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09 · RESULTS</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False Positive &amp; False Negative Analysis</a:t>
            </a:r>
            <a:endParaRPr lang="en-US" sz="2600" dirty="0"/>
          </a:p>
        </p:txBody>
      </p:sp>
      <p:sp>
        <p:nvSpPr>
          <p:cNvPr id="5" name="Text 3"/>
          <p:cNvSpPr/>
          <p:nvPr/>
        </p:nvSpPr>
        <p:spPr>
          <a:xfrm>
            <a:off x="365760" y="1188720"/>
            <a:ext cx="11430000" cy="256032"/>
          </a:xfrm>
          <a:prstGeom prst="rect">
            <a:avLst/>
          </a:prstGeom>
          <a:noFill/>
          <a:ln/>
        </p:spPr>
        <p:txBody>
          <a:bodyPr wrap="square" rtlCol="0" anchor="ctr"/>
          <a:lstStyle/>
          <a:p>
            <a:pPr marL="0" indent="0">
              <a:buNone/>
            </a:pPr>
            <a:r>
              <a:rPr lang="en-US" sz="1100" i="1" dirty="0">
                <a:solidFill>
                  <a:srgbClr val="475569"/>
                </a:solidFill>
              </a:rPr>
              <a:t>Understanding where each model makes mistakes is as important as knowing its overall accuracy.</a:t>
            </a:r>
            <a:endParaRPr lang="en-US" sz="1100" dirty="0"/>
          </a:p>
        </p:txBody>
      </p:sp>
      <p:sp>
        <p:nvSpPr>
          <p:cNvPr id="6" name="Shape 4"/>
          <p:cNvSpPr/>
          <p:nvPr/>
        </p:nvSpPr>
        <p:spPr>
          <a:xfrm>
            <a:off x="365760" y="1536192"/>
            <a:ext cx="11430000" cy="228600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365760" y="1536192"/>
            <a:ext cx="11430000" cy="320040"/>
          </a:xfrm>
          <a:prstGeom prst="rect">
            <a:avLst/>
          </a:prstGeom>
          <a:solidFill>
            <a:srgbClr val="10B981"/>
          </a:solidFill>
          <a:ln/>
        </p:spPr>
      </p:sp>
      <p:sp>
        <p:nvSpPr>
          <p:cNvPr id="8" name="Text 6"/>
          <p:cNvSpPr/>
          <p:nvPr/>
        </p:nvSpPr>
        <p:spPr>
          <a:xfrm>
            <a:off x="502920" y="1536192"/>
            <a:ext cx="11155680" cy="320040"/>
          </a:xfrm>
          <a:prstGeom prst="rect">
            <a:avLst/>
          </a:prstGeom>
          <a:noFill/>
          <a:ln/>
        </p:spPr>
        <p:txBody>
          <a:bodyPr wrap="square" rtlCol="0" anchor="ctr"/>
          <a:lstStyle/>
          <a:p>
            <a:pPr marL="0" indent="0">
              <a:buNone/>
            </a:pPr>
            <a:r>
              <a:rPr lang="en-US" b="1" dirty="0">
                <a:solidFill>
                  <a:srgbClr val="FFFFFF"/>
                </a:solidFill>
              </a:rPr>
              <a:t>Random Forest — FP / FN Rates per Class (Test Set)</a:t>
            </a:r>
            <a:endParaRPr lang="en-US" dirty="0"/>
          </a:p>
        </p:txBody>
      </p:sp>
      <p:graphicFrame>
        <p:nvGraphicFramePr>
          <p:cNvPr id="14" name="Table 0"/>
          <p:cNvGraphicFramePr>
            <a:graphicFrameLocks noGrp="1"/>
          </p:cNvGraphicFramePr>
          <p:nvPr>
            <p:extLst>
              <p:ext uri="{D42A27DB-BD31-4B8C-83A1-F6EECF244321}">
                <p14:modId xmlns:p14="http://schemas.microsoft.com/office/powerpoint/2010/main" val="87619309"/>
              </p:ext>
            </p:extLst>
          </p:nvPr>
        </p:nvGraphicFramePr>
        <p:xfrm>
          <a:off x="502920" y="1901952"/>
          <a:ext cx="10058400" cy="1889760"/>
        </p:xfrm>
        <a:graphic>
          <a:graphicData uri="http://schemas.openxmlformats.org/drawingml/2006/table">
            <a:tbl>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tblGrid>
              <a:tr h="0">
                <a:tc>
                  <a:txBody>
                    <a:bodyPr/>
                    <a:lstStyle/>
                    <a:p>
                      <a:pPr marL="0" indent="0" algn="l">
                        <a:buNone/>
                      </a:pPr>
                      <a:r>
                        <a:rPr lang="en-US" sz="1400" b="1" dirty="0">
                          <a:solidFill>
                            <a:srgbClr val="FFFFFF"/>
                          </a:solidFill>
                        </a:rPr>
                        <a:t>Class</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400" b="1" dirty="0">
                          <a:solidFill>
                            <a:srgbClr val="FFFFFF"/>
                          </a:solidFill>
                        </a:rPr>
                        <a:t>True Pos (TP)</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400" b="1" dirty="0">
                          <a:solidFill>
                            <a:srgbClr val="FFFFFF"/>
                          </a:solidFill>
                        </a:rPr>
                        <a:t>False Pos (FP)</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400" b="1" dirty="0">
                          <a:solidFill>
                            <a:srgbClr val="FFFFFF"/>
                          </a:solidFill>
                        </a:rPr>
                        <a:t>False Neg (FN)</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400" b="1" dirty="0">
                          <a:solidFill>
                            <a:srgbClr val="FFFFFF"/>
                          </a:solidFill>
                        </a:rPr>
                        <a:t>True Neg (TN)</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400" b="1" dirty="0">
                          <a:solidFill>
                            <a:srgbClr val="FFFFFF"/>
                          </a:solidFill>
                        </a:rPr>
                        <a:t>FP Rate</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tc>
                  <a:txBody>
                    <a:bodyPr/>
                    <a:lstStyle/>
                    <a:p>
                      <a:pPr marL="0" indent="0" algn="ctr">
                        <a:buNone/>
                      </a:pPr>
                      <a:r>
                        <a:rPr lang="en-US" sz="1400" b="1" dirty="0">
                          <a:solidFill>
                            <a:srgbClr val="FFFFFF"/>
                          </a:solidFill>
                        </a:rPr>
                        <a:t>FN Rate</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A1628"/>
                          </a:solidFill>
                        </a:rPr>
                        <a:t>DoS</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7,443</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51</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13</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13,037</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0B981"/>
                          </a:solidFill>
                        </a:rPr>
                        <a:t>0.0039</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0B981"/>
                          </a:solidFill>
                        </a:rPr>
                        <a:t>0.0017</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A1628"/>
                          </a:solidFill>
                        </a:rPr>
                        <a:t>Normal</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9,696</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15</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15</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12,818</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10B981"/>
                          </a:solidFill>
                        </a:rPr>
                        <a:t>0.0012</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10B981"/>
                          </a:solidFill>
                        </a:rPr>
                        <a:t>0.0015</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A1628"/>
                          </a:solidFill>
                        </a:rPr>
                        <a:t>Probe</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2,370</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54</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51</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20,069</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0B981"/>
                          </a:solidFill>
                        </a:rPr>
                        <a:t>0.0026</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0B981"/>
                          </a:solidFill>
                        </a:rPr>
                        <a:t>0.0211</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A1628"/>
                          </a:solidFill>
                        </a:rPr>
                        <a:t>R2L</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2,533</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56</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356</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0A1628"/>
                          </a:solidFill>
                        </a:rPr>
                        <a:t>19,599</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10B981"/>
                          </a:solidFill>
                        </a:rPr>
                        <a:t>0.0028</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dirty="0">
                          <a:solidFill>
                            <a:srgbClr val="EF4444"/>
                          </a:solidFill>
                        </a:rPr>
                        <a:t>0.1233</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A1628"/>
                          </a:solidFill>
                        </a:rPr>
                        <a:t>U2R</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65</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3</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2</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A1628"/>
                          </a:solidFill>
                        </a:rPr>
                        <a:t>22,474</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0B981"/>
                          </a:solidFill>
                        </a:rPr>
                        <a:t>0.0001</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0B981"/>
                          </a:solidFill>
                        </a:rPr>
                        <a:t>0.0299</a:t>
                      </a:r>
                      <a:endParaRPr lang="en-US" sz="14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p:nvPr/>
        </p:nvSpPr>
        <p:spPr>
          <a:xfrm>
            <a:off x="502920" y="3886200"/>
            <a:ext cx="11155680" cy="237744"/>
          </a:xfrm>
          <a:prstGeom prst="rect">
            <a:avLst/>
          </a:prstGeom>
          <a:noFill/>
          <a:ln/>
        </p:spPr>
        <p:txBody>
          <a:bodyPr wrap="square" rtlCol="0" anchor="ctr"/>
          <a:lstStyle/>
          <a:p>
            <a:pPr marL="0" indent="0">
              <a:buNone/>
            </a:pPr>
            <a:r>
              <a:rPr lang="en-US" sz="1100" i="1" dirty="0">
                <a:solidFill>
                  <a:srgbClr val="94A3B8"/>
                </a:solidFill>
              </a:rPr>
              <a:t>FP Rate = FP / (FP + TN)  ·  FN Rate = FN / (FN + TP)  ·  Red = above 5% threshold</a:t>
            </a:r>
            <a:endParaRPr lang="en-US" sz="1100" dirty="0"/>
          </a:p>
        </p:txBody>
      </p:sp>
      <p:sp>
        <p:nvSpPr>
          <p:cNvPr id="11" name="Shape 8"/>
          <p:cNvSpPr/>
          <p:nvPr/>
        </p:nvSpPr>
        <p:spPr>
          <a:xfrm>
            <a:off x="365760" y="4206240"/>
            <a:ext cx="5486400" cy="1097280"/>
          </a:xfrm>
          <a:prstGeom prst="rect">
            <a:avLst/>
          </a:prstGeom>
          <a:solidFill>
            <a:srgbClr val="FFFFFF"/>
          </a:solidFill>
          <a:ln/>
          <a:effectLst>
            <a:outerShdw blurRad="101600" dist="38100" dir="8100000" algn="bl" rotWithShape="0">
              <a:srgbClr val="000000">
                <a:alpha val="12000"/>
              </a:srgbClr>
            </a:outerShdw>
          </a:effectLst>
        </p:spPr>
      </p:sp>
      <p:sp>
        <p:nvSpPr>
          <p:cNvPr id="12" name="Shape 9"/>
          <p:cNvSpPr/>
          <p:nvPr/>
        </p:nvSpPr>
        <p:spPr>
          <a:xfrm>
            <a:off x="365760" y="4206240"/>
            <a:ext cx="64008" cy="1097280"/>
          </a:xfrm>
          <a:prstGeom prst="rect">
            <a:avLst/>
          </a:prstGeom>
          <a:solidFill>
            <a:srgbClr val="10B981"/>
          </a:solidFill>
          <a:ln/>
        </p:spPr>
      </p:sp>
      <p:sp>
        <p:nvSpPr>
          <p:cNvPr id="13" name="Text 10"/>
          <p:cNvSpPr/>
          <p:nvPr/>
        </p:nvSpPr>
        <p:spPr>
          <a:xfrm>
            <a:off x="566928" y="4297680"/>
            <a:ext cx="5120640" cy="256032"/>
          </a:xfrm>
          <a:prstGeom prst="rect">
            <a:avLst/>
          </a:prstGeom>
          <a:noFill/>
          <a:ln/>
        </p:spPr>
        <p:txBody>
          <a:bodyPr wrap="square" rtlCol="0" anchor="ctr"/>
          <a:lstStyle/>
          <a:p>
            <a:pPr marL="0" indent="0">
              <a:buNone/>
            </a:pPr>
            <a:r>
              <a:rPr lang="en-US" b="1" dirty="0">
                <a:solidFill>
                  <a:srgbClr val="0A1628"/>
                </a:solidFill>
              </a:rPr>
              <a:t>DoS &amp; Normal</a:t>
            </a:r>
            <a:endParaRPr lang="en-US" dirty="0"/>
          </a:p>
        </p:txBody>
      </p:sp>
      <p:sp>
        <p:nvSpPr>
          <p:cNvPr id="9" name="Text 11"/>
          <p:cNvSpPr/>
          <p:nvPr/>
        </p:nvSpPr>
        <p:spPr>
          <a:xfrm>
            <a:off x="566928" y="4608576"/>
            <a:ext cx="5120640" cy="621792"/>
          </a:xfrm>
          <a:prstGeom prst="rect">
            <a:avLst/>
          </a:prstGeom>
          <a:noFill/>
          <a:ln/>
        </p:spPr>
        <p:txBody>
          <a:bodyPr wrap="square" rtlCol="0" anchor="ctr"/>
          <a:lstStyle/>
          <a:p>
            <a:pPr marL="0" indent="0">
              <a:lnSpc>
                <a:spcPct val="125000"/>
              </a:lnSpc>
              <a:buNone/>
            </a:pPr>
            <a:r>
              <a:rPr lang="en-US" sz="1200" dirty="0">
                <a:solidFill>
                  <a:srgbClr val="475569"/>
                </a:solidFill>
              </a:rPr>
              <a:t>Near-perfect FP and FN rates. The model almost never misclassifies these large, well-represented classes. DoS patterns (high count, high serror_rate) are very distinct.</a:t>
            </a:r>
            <a:endParaRPr lang="en-US" sz="1200" dirty="0"/>
          </a:p>
        </p:txBody>
      </p:sp>
      <p:sp>
        <p:nvSpPr>
          <p:cNvPr id="15" name="Shape 12"/>
          <p:cNvSpPr/>
          <p:nvPr/>
        </p:nvSpPr>
        <p:spPr>
          <a:xfrm>
            <a:off x="6263640" y="4206240"/>
            <a:ext cx="5486400" cy="1097280"/>
          </a:xfrm>
          <a:prstGeom prst="rect">
            <a:avLst/>
          </a:prstGeom>
          <a:solidFill>
            <a:srgbClr val="FFFFFF"/>
          </a:solidFill>
          <a:ln/>
          <a:effectLst>
            <a:outerShdw blurRad="101600" dist="38100" dir="8100000" algn="bl" rotWithShape="0">
              <a:srgbClr val="000000">
                <a:alpha val="12000"/>
              </a:srgbClr>
            </a:outerShdw>
          </a:effectLst>
        </p:spPr>
      </p:sp>
      <p:sp>
        <p:nvSpPr>
          <p:cNvPr id="16" name="Shape 13"/>
          <p:cNvSpPr/>
          <p:nvPr/>
        </p:nvSpPr>
        <p:spPr>
          <a:xfrm>
            <a:off x="6263640" y="4206240"/>
            <a:ext cx="64008" cy="1097280"/>
          </a:xfrm>
          <a:prstGeom prst="rect">
            <a:avLst/>
          </a:prstGeom>
          <a:solidFill>
            <a:srgbClr val="F59E0B"/>
          </a:solidFill>
          <a:ln/>
        </p:spPr>
      </p:sp>
      <p:sp>
        <p:nvSpPr>
          <p:cNvPr id="17" name="Text 14"/>
          <p:cNvSpPr/>
          <p:nvPr/>
        </p:nvSpPr>
        <p:spPr>
          <a:xfrm>
            <a:off x="6464808" y="4297680"/>
            <a:ext cx="5120640" cy="256032"/>
          </a:xfrm>
          <a:prstGeom prst="rect">
            <a:avLst/>
          </a:prstGeom>
          <a:noFill/>
          <a:ln/>
        </p:spPr>
        <p:txBody>
          <a:bodyPr wrap="square" rtlCol="0" anchor="ctr"/>
          <a:lstStyle/>
          <a:p>
            <a:pPr marL="0" indent="0">
              <a:buNone/>
            </a:pPr>
            <a:r>
              <a:rPr lang="en-US" b="1" dirty="0">
                <a:solidFill>
                  <a:srgbClr val="0A1628"/>
                </a:solidFill>
              </a:rPr>
              <a:t>R2L — FN=12.3%</a:t>
            </a:r>
            <a:endParaRPr lang="en-US" dirty="0"/>
          </a:p>
        </p:txBody>
      </p:sp>
      <p:sp>
        <p:nvSpPr>
          <p:cNvPr id="18" name="Text 15"/>
          <p:cNvSpPr/>
          <p:nvPr/>
        </p:nvSpPr>
        <p:spPr>
          <a:xfrm>
            <a:off x="6464808" y="4608576"/>
            <a:ext cx="5120640" cy="621792"/>
          </a:xfrm>
          <a:prstGeom prst="rect">
            <a:avLst/>
          </a:prstGeom>
          <a:noFill/>
          <a:ln/>
        </p:spPr>
        <p:txBody>
          <a:bodyPr wrap="square" rtlCol="0" anchor="ctr"/>
          <a:lstStyle/>
          <a:p>
            <a:pPr marL="0" indent="0">
              <a:lnSpc>
                <a:spcPct val="125000"/>
              </a:lnSpc>
              <a:buNone/>
            </a:pPr>
            <a:r>
              <a:rPr lang="en-US" sz="1200" dirty="0">
                <a:solidFill>
                  <a:srgbClr val="475569"/>
                </a:solidFill>
              </a:rPr>
              <a:t>Highest false negative rate. 356 R2L connections were missed. This reflects the distribution shift: 2,889 test records vs only 995 training records, with subtypes the model barely saw.</a:t>
            </a:r>
            <a:endParaRPr lang="en-US" sz="1200" dirty="0"/>
          </a:p>
        </p:txBody>
      </p:sp>
      <p:sp>
        <p:nvSpPr>
          <p:cNvPr id="19" name="Shape 16"/>
          <p:cNvSpPr/>
          <p:nvPr/>
        </p:nvSpPr>
        <p:spPr>
          <a:xfrm>
            <a:off x="365760" y="5413248"/>
            <a:ext cx="5486400" cy="1097280"/>
          </a:xfrm>
          <a:prstGeom prst="rect">
            <a:avLst/>
          </a:prstGeom>
          <a:solidFill>
            <a:srgbClr val="FFFFFF"/>
          </a:solidFill>
          <a:ln/>
          <a:effectLst>
            <a:outerShdw blurRad="101600" dist="38100" dir="8100000" algn="bl" rotWithShape="0">
              <a:srgbClr val="000000">
                <a:alpha val="12000"/>
              </a:srgbClr>
            </a:outerShdw>
          </a:effectLst>
        </p:spPr>
      </p:sp>
      <p:sp>
        <p:nvSpPr>
          <p:cNvPr id="20" name="Shape 17"/>
          <p:cNvSpPr/>
          <p:nvPr/>
        </p:nvSpPr>
        <p:spPr>
          <a:xfrm>
            <a:off x="365760" y="5413248"/>
            <a:ext cx="64008" cy="1097280"/>
          </a:xfrm>
          <a:prstGeom prst="rect">
            <a:avLst/>
          </a:prstGeom>
          <a:solidFill>
            <a:srgbClr val="0EA5E9"/>
          </a:solidFill>
          <a:ln/>
        </p:spPr>
      </p:sp>
      <p:sp>
        <p:nvSpPr>
          <p:cNvPr id="21" name="Text 18"/>
          <p:cNvSpPr/>
          <p:nvPr/>
        </p:nvSpPr>
        <p:spPr>
          <a:xfrm>
            <a:off x="566928" y="5504688"/>
            <a:ext cx="5120640" cy="256032"/>
          </a:xfrm>
          <a:prstGeom prst="rect">
            <a:avLst/>
          </a:prstGeom>
          <a:noFill/>
          <a:ln/>
        </p:spPr>
        <p:txBody>
          <a:bodyPr wrap="square" rtlCol="0" anchor="ctr"/>
          <a:lstStyle/>
          <a:p>
            <a:pPr marL="0" indent="0">
              <a:buNone/>
            </a:pPr>
            <a:r>
              <a:rPr lang="en-US" b="1" dirty="0">
                <a:solidFill>
                  <a:srgbClr val="0A1628"/>
                </a:solidFill>
              </a:rPr>
              <a:t>U2R — rare class</a:t>
            </a:r>
            <a:endParaRPr lang="en-US" dirty="0"/>
          </a:p>
        </p:txBody>
      </p:sp>
      <p:sp>
        <p:nvSpPr>
          <p:cNvPr id="22" name="Text 19"/>
          <p:cNvSpPr/>
          <p:nvPr/>
        </p:nvSpPr>
        <p:spPr>
          <a:xfrm>
            <a:off x="566928" y="5815584"/>
            <a:ext cx="5120640" cy="621792"/>
          </a:xfrm>
          <a:prstGeom prst="rect">
            <a:avLst/>
          </a:prstGeom>
          <a:noFill/>
          <a:ln/>
        </p:spPr>
        <p:txBody>
          <a:bodyPr wrap="square" rtlCol="0" anchor="ctr"/>
          <a:lstStyle/>
          <a:p>
            <a:pPr marL="0" indent="0">
              <a:lnSpc>
                <a:spcPct val="125000"/>
              </a:lnSpc>
              <a:buNone/>
            </a:pPr>
            <a:r>
              <a:rPr lang="en-US" sz="1200" dirty="0">
                <a:solidFill>
                  <a:srgbClr val="475569"/>
                </a:solidFill>
              </a:rPr>
              <a:t>Only 67 test records. FP rate is near zero (3 false positives). FN rate of 3% means 2 U2R events were missed — good performance given extreme rarity during training.</a:t>
            </a:r>
            <a:endParaRPr lang="en-US" sz="1200" dirty="0"/>
          </a:p>
        </p:txBody>
      </p:sp>
      <p:sp>
        <p:nvSpPr>
          <p:cNvPr id="23" name="Shape 20"/>
          <p:cNvSpPr/>
          <p:nvPr/>
        </p:nvSpPr>
        <p:spPr>
          <a:xfrm>
            <a:off x="6263640" y="5413248"/>
            <a:ext cx="5486400" cy="1097280"/>
          </a:xfrm>
          <a:prstGeom prst="rect">
            <a:avLst/>
          </a:prstGeom>
          <a:solidFill>
            <a:srgbClr val="FFFFFF"/>
          </a:solidFill>
          <a:ln/>
          <a:effectLst>
            <a:outerShdw blurRad="101600" dist="38100" dir="8100000" algn="bl" rotWithShape="0">
              <a:srgbClr val="000000">
                <a:alpha val="12000"/>
              </a:srgbClr>
            </a:outerShdw>
          </a:effectLst>
        </p:spPr>
      </p:sp>
      <p:sp>
        <p:nvSpPr>
          <p:cNvPr id="24" name="Shape 21"/>
          <p:cNvSpPr/>
          <p:nvPr/>
        </p:nvSpPr>
        <p:spPr>
          <a:xfrm>
            <a:off x="6263640" y="5413248"/>
            <a:ext cx="64008" cy="1097280"/>
          </a:xfrm>
          <a:prstGeom prst="rect">
            <a:avLst/>
          </a:prstGeom>
          <a:solidFill>
            <a:srgbClr val="EF4444"/>
          </a:solidFill>
          <a:ln/>
        </p:spPr>
      </p:sp>
      <p:sp>
        <p:nvSpPr>
          <p:cNvPr id="25" name="Text 22"/>
          <p:cNvSpPr/>
          <p:nvPr/>
        </p:nvSpPr>
        <p:spPr>
          <a:xfrm>
            <a:off x="6464808" y="5504688"/>
            <a:ext cx="5120640" cy="256032"/>
          </a:xfrm>
          <a:prstGeom prst="rect">
            <a:avLst/>
          </a:prstGeom>
          <a:noFill/>
          <a:ln/>
        </p:spPr>
        <p:txBody>
          <a:bodyPr wrap="square" rtlCol="0" anchor="ctr"/>
          <a:lstStyle/>
          <a:p>
            <a:pPr marL="0" indent="0">
              <a:buNone/>
            </a:pPr>
            <a:r>
              <a:rPr lang="en-US" b="1" dirty="0">
                <a:solidFill>
                  <a:srgbClr val="0A1628"/>
                </a:solidFill>
              </a:rPr>
              <a:t>Probe — FN=2.1%</a:t>
            </a:r>
            <a:endParaRPr lang="en-US" dirty="0"/>
          </a:p>
        </p:txBody>
      </p:sp>
      <p:sp>
        <p:nvSpPr>
          <p:cNvPr id="26" name="Text 23"/>
          <p:cNvSpPr/>
          <p:nvPr/>
        </p:nvSpPr>
        <p:spPr>
          <a:xfrm>
            <a:off x="6464808" y="5815584"/>
            <a:ext cx="5120640" cy="621792"/>
          </a:xfrm>
          <a:prstGeom prst="rect">
            <a:avLst/>
          </a:prstGeom>
          <a:noFill/>
          <a:ln/>
        </p:spPr>
        <p:txBody>
          <a:bodyPr wrap="square" rtlCol="0" anchor="ctr"/>
          <a:lstStyle/>
          <a:p>
            <a:pPr marL="0" indent="0">
              <a:lnSpc>
                <a:spcPct val="125000"/>
              </a:lnSpc>
              <a:buNone/>
            </a:pPr>
            <a:r>
              <a:rPr lang="en-US" sz="1200" dirty="0">
                <a:solidFill>
                  <a:srgbClr val="475569"/>
                </a:solidFill>
              </a:rPr>
              <a:t>51 probe connections were misclassified. Probe attacks share some features with normal traffic (lower error rates, moderate counts) making boundary cases harder.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09 · RESULTS — REAL-TIME INFERENCE</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Live Event Processing — Hybrid Pipeline per Event</a:t>
            </a:r>
            <a:endParaRPr lang="en-US" sz="2600" dirty="0"/>
          </a:p>
        </p:txBody>
      </p:sp>
      <p:sp>
        <p:nvSpPr>
          <p:cNvPr id="5" name="Shape 3"/>
          <p:cNvSpPr/>
          <p:nvPr/>
        </p:nvSpPr>
        <p:spPr>
          <a:xfrm>
            <a:off x="365760" y="1261872"/>
            <a:ext cx="11430000" cy="2331720"/>
          </a:xfrm>
          <a:prstGeom prst="rect">
            <a:avLst/>
          </a:prstGeom>
          <a:solidFill>
            <a:srgbClr val="0F1D2E"/>
          </a:solidFill>
          <a:ln/>
        </p:spPr>
      </p:sp>
      <p:sp>
        <p:nvSpPr>
          <p:cNvPr id="6" name="Text 4"/>
          <p:cNvSpPr/>
          <p:nvPr/>
        </p:nvSpPr>
        <p:spPr>
          <a:xfrm>
            <a:off x="475488" y="1335024"/>
            <a:ext cx="11210544" cy="2185416"/>
          </a:xfrm>
          <a:prstGeom prst="rect">
            <a:avLst/>
          </a:prstGeom>
          <a:noFill/>
          <a:ln/>
        </p:spPr>
        <p:txBody>
          <a:bodyPr wrap="square" rtlCol="0" anchor="t"/>
          <a:lstStyle/>
          <a:p>
            <a:pPr marL="0" indent="0">
              <a:buNone/>
            </a:pPr>
            <a:r>
              <a:rPr lang="en-US" sz="850" dirty="0">
                <a:solidFill>
                  <a:srgbClr val="7DD3FC"/>
                </a:solidFill>
                <a:latin typeface="Consolas" pitchFamily="34" charset="0"/>
                <a:ea typeface="Consolas" pitchFamily="34" charset="-122"/>
                <a:cs typeface="Consolas" pitchFamily="34" charset="-120"/>
              </a:rPr>
              <a:t>def predict_event(event_dict, iso_model, sup_model, le, scaler_obj, feat_cols, top_idx):</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vec     = np.array([[event_dict.get(f, 0) for f in feat_cols]])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vec_sc  = scaler_obj.transform(vec)       # scale feature values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vec_top = vec_sc[:, top_idx]               # select top 20 features</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iso_flag  = int(iso_model.predict(vec_top)[0] == -1)   # anomaly check</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probs     = sup_model.predict_proba(vec_top)[0]          # class probabilities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sup_cls   = le.inverse_transform([np.argmax(probs)])[0]  # predicted class</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 Hybrid fusion</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final_cls = 'Unknown (Zero-Day)' if iso_flag and sup_cls=='Normal' else sup_cls</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score = compute_risk({'predicted_class':final_cls,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'anomaly_score':anm_norm, 'hybrid_confidence':fused_conf})</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return {'detected_class':final_cls, 'risk_score':score, 'risk_level':risk_level(score)}</a:t>
            </a:r>
            <a:endParaRPr lang="en-US" sz="850" dirty="0"/>
          </a:p>
        </p:txBody>
      </p:sp>
      <p:sp>
        <p:nvSpPr>
          <p:cNvPr id="7" name="Text 5"/>
          <p:cNvSpPr/>
          <p:nvPr/>
        </p:nvSpPr>
        <p:spPr>
          <a:xfrm>
            <a:off x="365760" y="3703320"/>
            <a:ext cx="11430000" cy="292608"/>
          </a:xfrm>
          <a:prstGeom prst="rect">
            <a:avLst/>
          </a:prstGeom>
          <a:noFill/>
          <a:ln/>
        </p:spPr>
        <p:txBody>
          <a:bodyPr wrap="square" rtlCol="0" anchor="ctr"/>
          <a:lstStyle/>
          <a:p>
            <a:pPr marL="0" indent="0">
              <a:buNone/>
            </a:pPr>
            <a:r>
              <a:rPr lang="en-US" sz="2000" b="1" dirty="0">
                <a:solidFill>
                  <a:srgbClr val="0A1628"/>
                </a:solidFill>
              </a:rPr>
              <a:t>Live Inference Simulator — 6 Demo Events</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19751920"/>
              </p:ext>
            </p:extLst>
          </p:nvPr>
        </p:nvGraphicFramePr>
        <p:xfrm>
          <a:off x="365760" y="4041648"/>
          <a:ext cx="10664791" cy="1991360"/>
        </p:xfrm>
        <a:graphic>
          <a:graphicData uri="http://schemas.openxmlformats.org/drawingml/2006/table">
            <a:tbl>
              <a:tblPr/>
              <a:tblGrid>
                <a:gridCol w="2714674">
                  <a:extLst>
                    <a:ext uri="{9D8B030D-6E8A-4147-A177-3AD203B41FA5}">
                      <a16:colId xmlns:a16="http://schemas.microsoft.com/office/drawing/2014/main" val="20000"/>
                    </a:ext>
                  </a:extLst>
                </a:gridCol>
                <a:gridCol w="2714674">
                  <a:extLst>
                    <a:ext uri="{9D8B030D-6E8A-4147-A177-3AD203B41FA5}">
                      <a16:colId xmlns:a16="http://schemas.microsoft.com/office/drawing/2014/main" val="20001"/>
                    </a:ext>
                  </a:extLst>
                </a:gridCol>
                <a:gridCol w="1357337">
                  <a:extLst>
                    <a:ext uri="{9D8B030D-6E8A-4147-A177-3AD203B41FA5}">
                      <a16:colId xmlns:a16="http://schemas.microsoft.com/office/drawing/2014/main" val="20002"/>
                    </a:ext>
                  </a:extLst>
                </a:gridCol>
                <a:gridCol w="1357337">
                  <a:extLst>
                    <a:ext uri="{9D8B030D-6E8A-4147-A177-3AD203B41FA5}">
                      <a16:colId xmlns:a16="http://schemas.microsoft.com/office/drawing/2014/main" val="20003"/>
                    </a:ext>
                  </a:extLst>
                </a:gridCol>
                <a:gridCol w="1163432">
                  <a:extLst>
                    <a:ext uri="{9D8B030D-6E8A-4147-A177-3AD203B41FA5}">
                      <a16:colId xmlns:a16="http://schemas.microsoft.com/office/drawing/2014/main" val="20004"/>
                    </a:ext>
                  </a:extLst>
                </a:gridCol>
                <a:gridCol w="1357337">
                  <a:extLst>
                    <a:ext uri="{9D8B030D-6E8A-4147-A177-3AD203B41FA5}">
                      <a16:colId xmlns:a16="http://schemas.microsoft.com/office/drawing/2014/main" val="20005"/>
                    </a:ext>
                  </a:extLst>
                </a:gridCol>
              </a:tblGrid>
              <a:tr h="0">
                <a:tc>
                  <a:txBody>
                    <a:bodyPr/>
                    <a:lstStyle/>
                    <a:p>
                      <a:pPr marL="0" indent="0" algn="l">
                        <a:buNone/>
                      </a:pPr>
                      <a:r>
                        <a:rPr lang="en-US" sz="1200" b="1" dirty="0">
                          <a:solidFill>
                            <a:srgbClr val="FFFFFF"/>
                          </a:solidFill>
                        </a:rPr>
                        <a:t>Network Event</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Detected As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Risk Level</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Score/100</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Anomaly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rPr>
                        <a:t>Latency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0A1628"/>
                          </a:solidFill>
                        </a:rPr>
                        <a:t>DoS (neptune-style)</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67.9</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F59E0B"/>
                          </a:solidFill>
                        </a:rPr>
                        <a:t>YES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333 ms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0A1628"/>
                          </a:solidFill>
                        </a:rPr>
                        <a:t>Normal HTTP Session</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63.1</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F59E0B"/>
                          </a:solidFill>
                        </a:rPr>
                        <a:t>YES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528 ms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0A1628"/>
                          </a:solidFill>
                        </a:rPr>
                        <a:t>Probe (portsweep)</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63.9</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F59E0B"/>
                          </a:solidFill>
                        </a:rPr>
                        <a:t>YES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220 ms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0A1628"/>
                          </a:solidFill>
                        </a:rPr>
                        <a:t>R2L (guess_passwd)</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62.9</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F59E0B"/>
                          </a:solidFill>
                        </a:rPr>
                        <a:t>YES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164 ms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0A1628"/>
                          </a:solidFill>
                        </a:rPr>
                        <a:t>U2R (buffer_overflow)</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62.8</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F59E0B"/>
                          </a:solidFill>
                        </a:rPr>
                        <a:t>YES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A1628"/>
                          </a:solidFill>
                        </a:rPr>
                        <a:t>169 ms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0A1628"/>
                          </a:solidFill>
                        </a:rPr>
                        <a:t>Unusual Traffic</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Unknown (Zero-Day)</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EF4444"/>
                          </a:solidFill>
                        </a:rPr>
                        <a:t>High</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64.6</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F59E0B"/>
                          </a:solidFill>
                        </a:rPr>
                        <a:t>YES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tc>
                  <a:txBody>
                    <a:bodyPr/>
                    <a:lstStyle/>
                    <a:p>
                      <a:pPr marL="0" indent="0" algn="ctr">
                        <a:buNone/>
                      </a:pPr>
                      <a:r>
                        <a:rPr lang="en-US" sz="1200" dirty="0">
                          <a:solidFill>
                            <a:srgbClr val="0A1628"/>
                          </a:solidFill>
                        </a:rPr>
                        <a:t>179 ms</a:t>
                      </a:r>
                      <a:endParaRPr lang="en-US" sz="1200" dirty="0"/>
                    </a:p>
                  </a:txBody>
                  <a:tcPr marL="50800" marR="508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F7"/>
                    </a:solidFill>
                  </a:tcPr>
                </a:tc>
                <a:extLst>
                  <a:ext uri="{0D108BD9-81ED-4DB2-BD59-A6C34878D82A}">
                    <a16:rowId xmlns:a16="http://schemas.microsoft.com/office/drawing/2014/main" val="10006"/>
                  </a:ext>
                </a:extLst>
              </a:tr>
            </a:tbl>
          </a:graphicData>
        </a:graphic>
      </p:graphicFrame>
      <p:sp>
        <p:nvSpPr>
          <p:cNvPr id="9" name="Shape 6"/>
          <p:cNvSpPr/>
          <p:nvPr/>
        </p:nvSpPr>
        <p:spPr>
          <a:xfrm>
            <a:off x="365760" y="5989320"/>
            <a:ext cx="11430000" cy="621792"/>
          </a:xfrm>
          <a:prstGeom prst="rect">
            <a:avLst/>
          </a:prstGeom>
          <a:solidFill>
            <a:srgbClr val="FFFFFF"/>
          </a:solidFill>
          <a:ln/>
          <a:effectLst>
            <a:outerShdw blurRad="101600" dist="38100" dir="8100000" algn="bl" rotWithShape="0">
              <a:srgbClr val="000000">
                <a:alpha val="12000"/>
              </a:srgbClr>
            </a:outerShdw>
          </a:effectLst>
        </p:spPr>
      </p:sp>
      <p:sp>
        <p:nvSpPr>
          <p:cNvPr id="10" name="Shape 7"/>
          <p:cNvSpPr/>
          <p:nvPr/>
        </p:nvSpPr>
        <p:spPr>
          <a:xfrm>
            <a:off x="365760" y="5989320"/>
            <a:ext cx="64008" cy="621792"/>
          </a:xfrm>
          <a:prstGeom prst="rect">
            <a:avLst/>
          </a:prstGeom>
          <a:solidFill>
            <a:srgbClr val="F59E0B"/>
          </a:solidFill>
          <a:ln/>
        </p:spPr>
      </p:sp>
      <p:sp>
        <p:nvSpPr>
          <p:cNvPr id="11" name="Text 8"/>
          <p:cNvSpPr/>
          <p:nvPr/>
        </p:nvSpPr>
        <p:spPr>
          <a:xfrm>
            <a:off x="521208" y="6035040"/>
            <a:ext cx="11155680" cy="530352"/>
          </a:xfrm>
          <a:prstGeom prst="rect">
            <a:avLst/>
          </a:prstGeom>
          <a:noFill/>
          <a:ln/>
        </p:spPr>
        <p:txBody>
          <a:bodyPr wrap="square" rtlCol="0" anchor="ctr"/>
          <a:lstStyle/>
          <a:p>
            <a:pPr marL="0" indent="0">
              <a:lnSpc>
                <a:spcPct val="125000"/>
              </a:lnSpc>
              <a:buNone/>
            </a:pPr>
            <a:r>
              <a:rPr lang="en-US" sz="1200" dirty="0">
                <a:solidFill>
                  <a:srgbClr val="475569"/>
                </a:solidFill>
              </a:rPr>
              <a:t>Note: All 6 demo events were flagged as Zero-Day because all 6 triggered Isolation Forest's anomaly detector. This reflects the conservative contamination=0.46 setting — the system prioritises high recall (catch everything suspicious) over precision in the unsupervised layer. In production, tuning contamination would reduce false positives.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50000"/>
            </a:avLst>
          </a:prstGeom>
          <a:solidFill>
            <a:srgbClr val="0EA5E9"/>
          </a:solidFill>
          <a:ln/>
        </p:spPr>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10 · MODEL EXPLAINABILITY</a:t>
            </a:r>
            <a:endParaRPr lang="en-US" sz="900" dirty="0"/>
          </a:p>
        </p:txBody>
      </p:sp>
      <p:sp>
        <p:nvSpPr>
          <p:cNvPr id="4" name="Text 2"/>
          <p:cNvSpPr/>
          <p:nvPr/>
        </p:nvSpPr>
        <p:spPr>
          <a:xfrm>
            <a:off x="365760" y="566928"/>
            <a:ext cx="11430000" cy="50292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Feature Importance &amp; Per-Class Feature Signatures</a:t>
            </a:r>
            <a:endParaRPr lang="en-US" sz="2600" dirty="0"/>
          </a:p>
        </p:txBody>
      </p:sp>
      <p:sp>
        <p:nvSpPr>
          <p:cNvPr id="5" name="Shape 3"/>
          <p:cNvSpPr/>
          <p:nvPr/>
        </p:nvSpPr>
        <p:spPr>
          <a:xfrm>
            <a:off x="365760" y="1261872"/>
            <a:ext cx="5577840" cy="51206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1261872"/>
            <a:ext cx="5577840" cy="320040"/>
          </a:xfrm>
          <a:prstGeom prst="rect">
            <a:avLst/>
          </a:prstGeom>
          <a:solidFill>
            <a:srgbClr val="0D2447"/>
          </a:solidFill>
          <a:ln/>
        </p:spPr>
      </p:sp>
      <p:sp>
        <p:nvSpPr>
          <p:cNvPr id="7" name="Text 5"/>
          <p:cNvSpPr/>
          <p:nvPr/>
        </p:nvSpPr>
        <p:spPr>
          <a:xfrm>
            <a:off x="502920" y="1261872"/>
            <a:ext cx="5303520" cy="320040"/>
          </a:xfrm>
          <a:prstGeom prst="rect">
            <a:avLst/>
          </a:prstGeom>
          <a:noFill/>
          <a:ln/>
        </p:spPr>
        <p:txBody>
          <a:bodyPr wrap="square" rtlCol="0" anchor="ctr"/>
          <a:lstStyle/>
          <a:p>
            <a:pPr marL="0" indent="0">
              <a:buNone/>
            </a:pPr>
            <a:r>
              <a:rPr lang="en-US" sz="1200" b="1" dirty="0">
                <a:solidFill>
                  <a:srgbClr val="FFFFFF"/>
                </a:solidFill>
              </a:rPr>
              <a:t>Random Forest — Top 12 Feature Importances</a:t>
            </a:r>
            <a:endParaRPr lang="en-US" sz="1200" dirty="0"/>
          </a:p>
        </p:txBody>
      </p:sp>
      <p:sp>
        <p:nvSpPr>
          <p:cNvPr id="8" name="Text 6"/>
          <p:cNvSpPr/>
          <p:nvPr/>
        </p:nvSpPr>
        <p:spPr>
          <a:xfrm>
            <a:off x="502920" y="1664208"/>
            <a:ext cx="5303520" cy="411480"/>
          </a:xfrm>
          <a:prstGeom prst="rect">
            <a:avLst/>
          </a:prstGeom>
          <a:noFill/>
          <a:ln/>
        </p:spPr>
        <p:txBody>
          <a:bodyPr wrap="square" rtlCol="0" anchor="ctr"/>
          <a:lstStyle/>
          <a:p>
            <a:pPr marL="0" indent="0">
              <a:lnSpc>
                <a:spcPct val="130000"/>
              </a:lnSpc>
              <a:buNone/>
            </a:pPr>
            <a:r>
              <a:rPr lang="en-US" sz="1000" dirty="0">
                <a:solidFill>
                  <a:srgbClr val="334155"/>
                </a:solidFill>
              </a:rPr>
              <a:t>Feature importance = average information gain across all 200 trees. Higher score = more useful for distinguishing attack categories.</a:t>
            </a:r>
            <a:endParaRPr lang="en-US" sz="1000" dirty="0"/>
          </a:p>
        </p:txBody>
      </p:sp>
      <p:graphicFrame>
        <p:nvGraphicFramePr>
          <p:cNvPr id="9" name="Chart 0"/>
          <p:cNvGraphicFramePr/>
          <p:nvPr/>
        </p:nvGraphicFramePr>
        <p:xfrm>
          <a:off x="411480" y="2176272"/>
          <a:ext cx="539496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6217920" y="1261872"/>
            <a:ext cx="5577840" cy="5120640"/>
          </a:xfrm>
          <a:prstGeom prst="rect">
            <a:avLst/>
          </a:prstGeom>
          <a:solidFill>
            <a:srgbClr val="FFFFFF"/>
          </a:solidFill>
          <a:ln/>
          <a:effectLst>
            <a:outerShdw blurRad="101600" dist="38100" dir="8100000" algn="bl" rotWithShape="0">
              <a:srgbClr val="000000">
                <a:alpha val="12000"/>
              </a:srgbClr>
            </a:outerShdw>
          </a:effectLst>
        </p:spPr>
      </p:sp>
      <p:sp>
        <p:nvSpPr>
          <p:cNvPr id="11" name="Shape 8"/>
          <p:cNvSpPr/>
          <p:nvPr/>
        </p:nvSpPr>
        <p:spPr>
          <a:xfrm>
            <a:off x="6217920" y="1261872"/>
            <a:ext cx="5577840" cy="320040"/>
          </a:xfrm>
          <a:prstGeom prst="rect">
            <a:avLst/>
          </a:prstGeom>
          <a:solidFill>
            <a:srgbClr val="0D2447"/>
          </a:solidFill>
          <a:ln/>
        </p:spPr>
      </p:sp>
      <p:sp>
        <p:nvSpPr>
          <p:cNvPr id="12" name="Text 9"/>
          <p:cNvSpPr/>
          <p:nvPr/>
        </p:nvSpPr>
        <p:spPr>
          <a:xfrm>
            <a:off x="6355080" y="1261872"/>
            <a:ext cx="5303520" cy="320040"/>
          </a:xfrm>
          <a:prstGeom prst="rect">
            <a:avLst/>
          </a:prstGeom>
          <a:noFill/>
          <a:ln/>
        </p:spPr>
        <p:txBody>
          <a:bodyPr wrap="square" rtlCol="0" anchor="ctr"/>
          <a:lstStyle/>
          <a:p>
            <a:pPr marL="0" indent="0">
              <a:buNone/>
            </a:pPr>
            <a:r>
              <a:rPr lang="en-US" sz="1200" b="1" dirty="0">
                <a:solidFill>
                  <a:srgbClr val="FFFFFF"/>
                </a:solidFill>
              </a:rPr>
              <a:t>Per-Class Feature Signatures</a:t>
            </a:r>
            <a:endParaRPr lang="en-US" sz="1200" dirty="0"/>
          </a:p>
        </p:txBody>
      </p:sp>
      <p:sp>
        <p:nvSpPr>
          <p:cNvPr id="13" name="Text 10"/>
          <p:cNvSpPr/>
          <p:nvPr/>
        </p:nvSpPr>
        <p:spPr>
          <a:xfrm>
            <a:off x="6355080" y="1664208"/>
            <a:ext cx="5303520" cy="411480"/>
          </a:xfrm>
          <a:prstGeom prst="rect">
            <a:avLst/>
          </a:prstGeom>
          <a:noFill/>
          <a:ln/>
        </p:spPr>
        <p:txBody>
          <a:bodyPr wrap="square" rtlCol="0" anchor="ctr"/>
          <a:lstStyle/>
          <a:p>
            <a:pPr marL="0" indent="0">
              <a:lnSpc>
                <a:spcPct val="130000"/>
              </a:lnSpc>
              <a:buNone/>
            </a:pPr>
            <a:r>
              <a:rPr lang="en-US" sz="1400" dirty="0">
                <a:solidFill>
                  <a:srgbClr val="334155"/>
                </a:solidFill>
              </a:rPr>
              <a:t>Each attack category is identified by distinct feature deviations from the dataset mean. This is how the model separates classes:</a:t>
            </a:r>
            <a:endParaRPr lang="en-US" sz="1400" dirty="0"/>
          </a:p>
        </p:txBody>
      </p:sp>
      <p:sp>
        <p:nvSpPr>
          <p:cNvPr id="14" name="Shape 11"/>
          <p:cNvSpPr/>
          <p:nvPr/>
        </p:nvSpPr>
        <p:spPr>
          <a:xfrm>
            <a:off x="6355080" y="2249424"/>
            <a:ext cx="731520" cy="502920"/>
          </a:xfrm>
          <a:prstGeom prst="roundRect">
            <a:avLst>
              <a:gd name="adj" fmla="val 14545"/>
            </a:avLst>
          </a:prstGeom>
          <a:solidFill>
            <a:srgbClr val="EF4444"/>
          </a:solidFill>
          <a:ln/>
        </p:spPr>
      </p:sp>
      <p:sp>
        <p:nvSpPr>
          <p:cNvPr id="15" name="Text 12"/>
          <p:cNvSpPr/>
          <p:nvPr/>
        </p:nvSpPr>
        <p:spPr>
          <a:xfrm>
            <a:off x="6355080" y="2249424"/>
            <a:ext cx="731520" cy="502920"/>
          </a:xfrm>
          <a:prstGeom prst="rect">
            <a:avLst/>
          </a:prstGeom>
          <a:noFill/>
          <a:ln/>
        </p:spPr>
        <p:txBody>
          <a:bodyPr wrap="square" lIns="0" tIns="0" rIns="0" bIns="0" rtlCol="0" anchor="ctr"/>
          <a:lstStyle/>
          <a:p>
            <a:pPr marL="0" indent="0" algn="ctr">
              <a:buNone/>
            </a:pPr>
            <a:r>
              <a:rPr lang="en-US" sz="1200" b="1" dirty="0">
                <a:solidFill>
                  <a:srgbClr val="FFFFFF"/>
                </a:solidFill>
              </a:rPr>
              <a:t>DoS</a:t>
            </a:r>
            <a:endParaRPr lang="en-US" sz="1200" dirty="0"/>
          </a:p>
        </p:txBody>
      </p:sp>
      <p:sp>
        <p:nvSpPr>
          <p:cNvPr id="16" name="Text 13"/>
          <p:cNvSpPr/>
          <p:nvPr/>
        </p:nvSpPr>
        <p:spPr>
          <a:xfrm>
            <a:off x="7178040" y="2249424"/>
            <a:ext cx="4480560" cy="594360"/>
          </a:xfrm>
          <a:prstGeom prst="rect">
            <a:avLst/>
          </a:prstGeom>
          <a:noFill/>
          <a:ln/>
        </p:spPr>
        <p:txBody>
          <a:bodyPr wrap="square" rtlCol="0" anchor="ctr"/>
          <a:lstStyle/>
          <a:p>
            <a:pPr marL="0" indent="0">
              <a:lnSpc>
                <a:spcPct val="125000"/>
              </a:lnSpc>
              <a:buNone/>
            </a:pPr>
            <a:r>
              <a:rPr lang="en-US" sz="1200" dirty="0">
                <a:solidFill>
                  <a:srgbClr val="334155"/>
                </a:solidFill>
              </a:rPr>
              <a:t>count ↑ (flood of connections), serror_rate ↑ (SYN errors near 1.0), same_srv_rate ↑, dst_bytes ↓ (no response data returned)</a:t>
            </a:r>
            <a:endParaRPr lang="en-US" sz="1200" dirty="0"/>
          </a:p>
        </p:txBody>
      </p:sp>
      <p:sp>
        <p:nvSpPr>
          <p:cNvPr id="17" name="Shape 14"/>
          <p:cNvSpPr/>
          <p:nvPr/>
        </p:nvSpPr>
        <p:spPr>
          <a:xfrm>
            <a:off x="6355080" y="3145536"/>
            <a:ext cx="731520" cy="502920"/>
          </a:xfrm>
          <a:prstGeom prst="roundRect">
            <a:avLst>
              <a:gd name="adj" fmla="val 14545"/>
            </a:avLst>
          </a:prstGeom>
          <a:solidFill>
            <a:srgbClr val="F59E0B"/>
          </a:solidFill>
          <a:ln/>
        </p:spPr>
      </p:sp>
      <p:sp>
        <p:nvSpPr>
          <p:cNvPr id="18" name="Text 15"/>
          <p:cNvSpPr/>
          <p:nvPr/>
        </p:nvSpPr>
        <p:spPr>
          <a:xfrm>
            <a:off x="6355080" y="3145536"/>
            <a:ext cx="731520" cy="502920"/>
          </a:xfrm>
          <a:prstGeom prst="rect">
            <a:avLst/>
          </a:prstGeom>
          <a:noFill/>
          <a:ln/>
        </p:spPr>
        <p:txBody>
          <a:bodyPr wrap="square" lIns="0" tIns="0" rIns="0" bIns="0" rtlCol="0" anchor="ctr"/>
          <a:lstStyle/>
          <a:p>
            <a:pPr marL="0" indent="0" algn="ctr">
              <a:buNone/>
            </a:pPr>
            <a:r>
              <a:rPr lang="en-US" sz="1200" b="1" dirty="0">
                <a:solidFill>
                  <a:srgbClr val="FFFFFF"/>
                </a:solidFill>
              </a:rPr>
              <a:t>Probe</a:t>
            </a:r>
            <a:endParaRPr lang="en-US" sz="1200" dirty="0"/>
          </a:p>
        </p:txBody>
      </p:sp>
      <p:sp>
        <p:nvSpPr>
          <p:cNvPr id="19" name="Text 16"/>
          <p:cNvSpPr/>
          <p:nvPr/>
        </p:nvSpPr>
        <p:spPr>
          <a:xfrm>
            <a:off x="7178040" y="3145536"/>
            <a:ext cx="4480560" cy="594360"/>
          </a:xfrm>
          <a:prstGeom prst="rect">
            <a:avLst/>
          </a:prstGeom>
          <a:noFill/>
          <a:ln/>
        </p:spPr>
        <p:txBody>
          <a:bodyPr wrap="square" rtlCol="0" anchor="ctr"/>
          <a:lstStyle/>
          <a:p>
            <a:pPr marL="0" indent="0">
              <a:lnSpc>
                <a:spcPct val="125000"/>
              </a:lnSpc>
              <a:buNone/>
            </a:pPr>
            <a:r>
              <a:rPr lang="en-US" sz="1200" dirty="0">
                <a:solidFill>
                  <a:srgbClr val="334155"/>
                </a:solidFill>
              </a:rPr>
              <a:t>diff_srv_rate ↑ (scanning many ports/services), same_srv_rate ↓, dst_host_srv_count ↑, serror_rate near 0 (completed scans)</a:t>
            </a:r>
            <a:endParaRPr lang="en-US" sz="1200" dirty="0"/>
          </a:p>
        </p:txBody>
      </p:sp>
      <p:sp>
        <p:nvSpPr>
          <p:cNvPr id="20" name="Shape 17"/>
          <p:cNvSpPr/>
          <p:nvPr/>
        </p:nvSpPr>
        <p:spPr>
          <a:xfrm>
            <a:off x="6355080" y="4041648"/>
            <a:ext cx="731520" cy="502920"/>
          </a:xfrm>
          <a:prstGeom prst="roundRect">
            <a:avLst>
              <a:gd name="adj" fmla="val 14545"/>
            </a:avLst>
          </a:prstGeom>
          <a:solidFill>
            <a:srgbClr val="F59E0B"/>
          </a:solidFill>
          <a:ln/>
        </p:spPr>
      </p:sp>
      <p:sp>
        <p:nvSpPr>
          <p:cNvPr id="21" name="Text 18"/>
          <p:cNvSpPr/>
          <p:nvPr/>
        </p:nvSpPr>
        <p:spPr>
          <a:xfrm>
            <a:off x="6355080" y="4041648"/>
            <a:ext cx="731520" cy="502920"/>
          </a:xfrm>
          <a:prstGeom prst="rect">
            <a:avLst/>
          </a:prstGeom>
          <a:noFill/>
          <a:ln/>
        </p:spPr>
        <p:txBody>
          <a:bodyPr wrap="square" lIns="0" tIns="0" rIns="0" bIns="0" rtlCol="0" anchor="ctr"/>
          <a:lstStyle/>
          <a:p>
            <a:pPr marL="0" indent="0" algn="ctr">
              <a:buNone/>
            </a:pPr>
            <a:r>
              <a:rPr lang="en-US" sz="1200" b="1" dirty="0">
                <a:solidFill>
                  <a:srgbClr val="FFFFFF"/>
                </a:solidFill>
              </a:rPr>
              <a:t>R2L</a:t>
            </a:r>
            <a:endParaRPr lang="en-US" sz="1200" dirty="0"/>
          </a:p>
        </p:txBody>
      </p:sp>
      <p:sp>
        <p:nvSpPr>
          <p:cNvPr id="22" name="Text 19"/>
          <p:cNvSpPr/>
          <p:nvPr/>
        </p:nvSpPr>
        <p:spPr>
          <a:xfrm>
            <a:off x="7178040" y="4041648"/>
            <a:ext cx="4480560" cy="594360"/>
          </a:xfrm>
          <a:prstGeom prst="rect">
            <a:avLst/>
          </a:prstGeom>
          <a:noFill/>
          <a:ln/>
        </p:spPr>
        <p:txBody>
          <a:bodyPr wrap="square" rtlCol="0" anchor="ctr"/>
          <a:lstStyle/>
          <a:p>
            <a:pPr marL="0" indent="0">
              <a:lnSpc>
                <a:spcPct val="125000"/>
              </a:lnSpc>
              <a:buNone/>
            </a:pPr>
            <a:r>
              <a:rPr lang="en-US" sz="1200" dirty="0">
                <a:solidFill>
                  <a:srgbClr val="334155"/>
                </a:solidFill>
              </a:rPr>
              <a:t>num_failed_logins ↑ (brute-force), logged_in=0 (not authenticated), src_bytes moderate, count low (targeted, not flood)</a:t>
            </a:r>
            <a:endParaRPr lang="en-US" sz="1200" dirty="0"/>
          </a:p>
        </p:txBody>
      </p:sp>
      <p:sp>
        <p:nvSpPr>
          <p:cNvPr id="23" name="Shape 20"/>
          <p:cNvSpPr/>
          <p:nvPr/>
        </p:nvSpPr>
        <p:spPr>
          <a:xfrm>
            <a:off x="6355080" y="4937760"/>
            <a:ext cx="731520" cy="502920"/>
          </a:xfrm>
          <a:prstGeom prst="roundRect">
            <a:avLst>
              <a:gd name="adj" fmla="val 14545"/>
            </a:avLst>
          </a:prstGeom>
          <a:solidFill>
            <a:srgbClr val="9333EA"/>
          </a:solidFill>
          <a:ln/>
        </p:spPr>
      </p:sp>
      <p:sp>
        <p:nvSpPr>
          <p:cNvPr id="24" name="Text 21"/>
          <p:cNvSpPr/>
          <p:nvPr/>
        </p:nvSpPr>
        <p:spPr>
          <a:xfrm>
            <a:off x="6355080" y="4937760"/>
            <a:ext cx="731520" cy="502920"/>
          </a:xfrm>
          <a:prstGeom prst="rect">
            <a:avLst/>
          </a:prstGeom>
          <a:noFill/>
          <a:ln/>
        </p:spPr>
        <p:txBody>
          <a:bodyPr wrap="square" lIns="0" tIns="0" rIns="0" bIns="0" rtlCol="0" anchor="ctr"/>
          <a:lstStyle/>
          <a:p>
            <a:pPr marL="0" indent="0" algn="ctr">
              <a:buNone/>
            </a:pPr>
            <a:r>
              <a:rPr lang="en-US" sz="1200" b="1" dirty="0">
                <a:solidFill>
                  <a:srgbClr val="FFFFFF"/>
                </a:solidFill>
              </a:rPr>
              <a:t>U2R</a:t>
            </a:r>
            <a:endParaRPr lang="en-US" sz="1200" dirty="0"/>
          </a:p>
        </p:txBody>
      </p:sp>
      <p:sp>
        <p:nvSpPr>
          <p:cNvPr id="25" name="Text 22"/>
          <p:cNvSpPr/>
          <p:nvPr/>
        </p:nvSpPr>
        <p:spPr>
          <a:xfrm>
            <a:off x="7178040" y="4937760"/>
            <a:ext cx="4480560" cy="594360"/>
          </a:xfrm>
          <a:prstGeom prst="rect">
            <a:avLst/>
          </a:prstGeom>
          <a:noFill/>
          <a:ln/>
        </p:spPr>
        <p:txBody>
          <a:bodyPr wrap="square" rtlCol="0" anchor="ctr"/>
          <a:lstStyle/>
          <a:p>
            <a:pPr marL="0" indent="0">
              <a:lnSpc>
                <a:spcPct val="125000"/>
              </a:lnSpc>
              <a:buNone/>
            </a:pPr>
            <a:r>
              <a:rPr lang="en-US" sz="1200" dirty="0">
                <a:solidFill>
                  <a:srgbClr val="334155"/>
                </a:solidFill>
              </a:rPr>
              <a:t>root_shell=1 (root obtained), num_compromised ↑, num_root ↑, hot ↑ (sensitive file accesses), logged_in=1</a:t>
            </a:r>
            <a:endParaRPr lang="en-US" sz="1200" dirty="0"/>
          </a:p>
        </p:txBody>
      </p:sp>
      <p:sp>
        <p:nvSpPr>
          <p:cNvPr id="26" name="Shape 23"/>
          <p:cNvSpPr/>
          <p:nvPr/>
        </p:nvSpPr>
        <p:spPr>
          <a:xfrm>
            <a:off x="6355080" y="5833872"/>
            <a:ext cx="731520" cy="502920"/>
          </a:xfrm>
          <a:prstGeom prst="roundRect">
            <a:avLst>
              <a:gd name="adj" fmla="val 14545"/>
            </a:avLst>
          </a:prstGeom>
          <a:solidFill>
            <a:srgbClr val="10B981"/>
          </a:solidFill>
          <a:ln/>
        </p:spPr>
      </p:sp>
      <p:sp>
        <p:nvSpPr>
          <p:cNvPr id="27" name="Text 24"/>
          <p:cNvSpPr/>
          <p:nvPr/>
        </p:nvSpPr>
        <p:spPr>
          <a:xfrm>
            <a:off x="6355080" y="5833872"/>
            <a:ext cx="731520" cy="502920"/>
          </a:xfrm>
          <a:prstGeom prst="rect">
            <a:avLst/>
          </a:prstGeom>
          <a:noFill/>
          <a:ln/>
        </p:spPr>
        <p:txBody>
          <a:bodyPr wrap="square" lIns="0" tIns="0" rIns="0" bIns="0" rtlCol="0" anchor="ctr"/>
          <a:lstStyle/>
          <a:p>
            <a:pPr marL="0" indent="0" algn="ctr">
              <a:buNone/>
            </a:pPr>
            <a:r>
              <a:rPr lang="en-US" sz="1050" b="1" dirty="0">
                <a:solidFill>
                  <a:srgbClr val="FFFFFF"/>
                </a:solidFill>
              </a:rPr>
              <a:t>Normal</a:t>
            </a:r>
            <a:endParaRPr lang="en-US" sz="1050" dirty="0"/>
          </a:p>
        </p:txBody>
      </p:sp>
      <p:sp>
        <p:nvSpPr>
          <p:cNvPr id="28" name="Text 25"/>
          <p:cNvSpPr/>
          <p:nvPr/>
        </p:nvSpPr>
        <p:spPr>
          <a:xfrm>
            <a:off x="7178040" y="5833872"/>
            <a:ext cx="4480560" cy="594360"/>
          </a:xfrm>
          <a:prstGeom prst="rect">
            <a:avLst/>
          </a:prstGeom>
          <a:noFill/>
          <a:ln/>
        </p:spPr>
        <p:txBody>
          <a:bodyPr wrap="square" rtlCol="0" anchor="ctr"/>
          <a:lstStyle/>
          <a:p>
            <a:pPr marL="0" indent="0">
              <a:lnSpc>
                <a:spcPct val="125000"/>
              </a:lnSpc>
              <a:buNone/>
            </a:pPr>
            <a:r>
              <a:rPr lang="en-US" sz="1050" dirty="0">
                <a:solidFill>
                  <a:srgbClr val="334155"/>
                </a:solidFill>
              </a:rPr>
              <a:t>logged_in=1, count moderate, error rates near 0, src_bytes and dst_bytes both present (bidirectional communication)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0B981"/>
          </a:solidFill>
          <a:ln/>
        </p:spPr>
      </p:sp>
      <p:sp>
        <p:nvSpPr>
          <p:cNvPr id="3" name="Shape 1"/>
          <p:cNvSpPr/>
          <p:nvPr/>
        </p:nvSpPr>
        <p:spPr>
          <a:xfrm>
            <a:off x="365760" y="164592"/>
            <a:ext cx="2377440" cy="292608"/>
          </a:xfrm>
          <a:prstGeom prst="roundRect">
            <a:avLst>
              <a:gd name="adj" fmla="val 50000"/>
            </a:avLst>
          </a:prstGeom>
          <a:solidFill>
            <a:srgbClr val="0EA5E9"/>
          </a:solidFill>
          <a:ln/>
        </p:spPr>
      </p:sp>
      <p:sp>
        <p:nvSpPr>
          <p:cNvPr id="4" name="Text 2"/>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10 · CONCLUSION</a:t>
            </a:r>
            <a:endParaRPr lang="en-US" sz="900" dirty="0"/>
          </a:p>
        </p:txBody>
      </p:sp>
      <p:sp>
        <p:nvSpPr>
          <p:cNvPr id="5" name="Text 3"/>
          <p:cNvSpPr/>
          <p:nvPr/>
        </p:nvSpPr>
        <p:spPr>
          <a:xfrm>
            <a:off x="365760" y="566928"/>
            <a:ext cx="11430000" cy="4572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Findings &amp; Summary</a:t>
            </a:r>
            <a:endParaRPr lang="en-US" sz="2600" dirty="0"/>
          </a:p>
        </p:txBody>
      </p:sp>
      <p:sp>
        <p:nvSpPr>
          <p:cNvPr id="6" name="Shape 4"/>
          <p:cNvSpPr/>
          <p:nvPr/>
        </p:nvSpPr>
        <p:spPr>
          <a:xfrm>
            <a:off x="365760" y="1207008"/>
            <a:ext cx="3657600" cy="1325880"/>
          </a:xfrm>
          <a:prstGeom prst="rect">
            <a:avLst/>
          </a:prstGeom>
          <a:solidFill>
            <a:srgbClr val="0D2447"/>
          </a:solidFill>
          <a:ln/>
          <a:effectLst>
            <a:outerShdw blurRad="101600" dist="38100" dir="8100000" algn="bl" rotWithShape="0">
              <a:srgbClr val="000000">
                <a:alpha val="12000"/>
              </a:srgbClr>
            </a:outerShdw>
          </a:effectLst>
        </p:spPr>
      </p:sp>
      <p:sp>
        <p:nvSpPr>
          <p:cNvPr id="7" name="Shape 5"/>
          <p:cNvSpPr/>
          <p:nvPr/>
        </p:nvSpPr>
        <p:spPr>
          <a:xfrm>
            <a:off x="365760" y="1207008"/>
            <a:ext cx="3657600" cy="45720"/>
          </a:xfrm>
          <a:prstGeom prst="rect">
            <a:avLst/>
          </a:prstGeom>
          <a:solidFill>
            <a:srgbClr val="0EA5E9"/>
          </a:solidFill>
          <a:ln/>
        </p:spPr>
      </p:sp>
      <p:sp>
        <p:nvSpPr>
          <p:cNvPr id="8" name="Text 6"/>
          <p:cNvSpPr/>
          <p:nvPr/>
        </p:nvSpPr>
        <p:spPr>
          <a:xfrm>
            <a:off x="502920" y="1344168"/>
            <a:ext cx="3383280" cy="292608"/>
          </a:xfrm>
          <a:prstGeom prst="rect">
            <a:avLst/>
          </a:prstGeom>
          <a:noFill/>
          <a:ln/>
        </p:spPr>
        <p:txBody>
          <a:bodyPr wrap="square" rtlCol="0" anchor="ctr"/>
          <a:lstStyle/>
          <a:p>
            <a:pPr marL="0" indent="0">
              <a:buNone/>
            </a:pPr>
            <a:r>
              <a:rPr lang="en-US" sz="1400" b="1" dirty="0">
                <a:solidFill>
                  <a:srgbClr val="0EA5E9"/>
                </a:solidFill>
              </a:rPr>
              <a:t>XGBoost — Best Model</a:t>
            </a:r>
            <a:endParaRPr lang="en-US" sz="1400" dirty="0"/>
          </a:p>
        </p:txBody>
      </p:sp>
      <p:sp>
        <p:nvSpPr>
          <p:cNvPr id="9" name="Text 7"/>
          <p:cNvSpPr/>
          <p:nvPr/>
        </p:nvSpPr>
        <p:spPr>
          <a:xfrm>
            <a:off x="502920" y="1682496"/>
            <a:ext cx="3383280" cy="777240"/>
          </a:xfrm>
          <a:prstGeom prst="rect">
            <a:avLst/>
          </a:prstGeom>
          <a:noFill/>
          <a:ln/>
        </p:spPr>
        <p:txBody>
          <a:bodyPr wrap="square" rtlCol="0" anchor="ctr"/>
          <a:lstStyle/>
          <a:p>
            <a:pPr marL="0" indent="0">
              <a:lnSpc>
                <a:spcPct val="130000"/>
              </a:lnSpc>
              <a:buNone/>
            </a:pPr>
            <a:r>
              <a:rPr lang="en-US" sz="1050" dirty="0">
                <a:solidFill>
                  <a:srgbClr val="94A3B8"/>
                </a:solidFill>
              </a:rPr>
              <a:t>99.88% validation accuracy · F1-W=0.9989 · Selected for hybrid engine. Best generalisation across all 5 attack classes.</a:t>
            </a:r>
            <a:endParaRPr lang="en-US" sz="1050" dirty="0"/>
          </a:p>
        </p:txBody>
      </p:sp>
      <p:sp>
        <p:nvSpPr>
          <p:cNvPr id="10" name="Shape 8"/>
          <p:cNvSpPr/>
          <p:nvPr/>
        </p:nvSpPr>
        <p:spPr>
          <a:xfrm>
            <a:off x="4343400" y="1207008"/>
            <a:ext cx="3657600" cy="1325880"/>
          </a:xfrm>
          <a:prstGeom prst="rect">
            <a:avLst/>
          </a:prstGeom>
          <a:solidFill>
            <a:srgbClr val="0D2447"/>
          </a:solidFill>
          <a:ln/>
          <a:effectLst>
            <a:outerShdw blurRad="101600" dist="38100" dir="8100000" algn="bl" rotWithShape="0">
              <a:srgbClr val="000000">
                <a:alpha val="12000"/>
              </a:srgbClr>
            </a:outerShdw>
          </a:effectLst>
        </p:spPr>
      </p:sp>
      <p:sp>
        <p:nvSpPr>
          <p:cNvPr id="11" name="Shape 9"/>
          <p:cNvSpPr/>
          <p:nvPr/>
        </p:nvSpPr>
        <p:spPr>
          <a:xfrm>
            <a:off x="4343400" y="1207008"/>
            <a:ext cx="3657600" cy="45720"/>
          </a:xfrm>
          <a:prstGeom prst="rect">
            <a:avLst/>
          </a:prstGeom>
          <a:solidFill>
            <a:srgbClr val="10B981"/>
          </a:solidFill>
          <a:ln/>
        </p:spPr>
      </p:sp>
      <p:sp>
        <p:nvSpPr>
          <p:cNvPr id="12" name="Text 10"/>
          <p:cNvSpPr/>
          <p:nvPr/>
        </p:nvSpPr>
        <p:spPr>
          <a:xfrm>
            <a:off x="4480560" y="1344168"/>
            <a:ext cx="3383280" cy="292608"/>
          </a:xfrm>
          <a:prstGeom prst="rect">
            <a:avLst/>
          </a:prstGeom>
          <a:noFill/>
          <a:ln/>
        </p:spPr>
        <p:txBody>
          <a:bodyPr wrap="square" rtlCol="0" anchor="ctr"/>
          <a:lstStyle/>
          <a:p>
            <a:pPr marL="0" indent="0">
              <a:buNone/>
            </a:pPr>
            <a:r>
              <a:rPr lang="en-US" sz="1400" b="1" dirty="0">
                <a:solidFill>
                  <a:srgbClr val="10B981"/>
                </a:solidFill>
              </a:rPr>
              <a:t>Random Forest — Strong #2</a:t>
            </a:r>
            <a:endParaRPr lang="en-US" sz="1400" dirty="0"/>
          </a:p>
        </p:txBody>
      </p:sp>
      <p:sp>
        <p:nvSpPr>
          <p:cNvPr id="13" name="Text 11"/>
          <p:cNvSpPr/>
          <p:nvPr/>
        </p:nvSpPr>
        <p:spPr>
          <a:xfrm>
            <a:off x="4480560" y="1682496"/>
            <a:ext cx="3383280" cy="777240"/>
          </a:xfrm>
          <a:prstGeom prst="rect">
            <a:avLst/>
          </a:prstGeom>
          <a:noFill/>
          <a:ln/>
        </p:spPr>
        <p:txBody>
          <a:bodyPr wrap="square" rtlCol="0" anchor="ctr"/>
          <a:lstStyle/>
          <a:p>
            <a:pPr marL="0" indent="0">
              <a:lnSpc>
                <a:spcPct val="130000"/>
              </a:lnSpc>
              <a:buNone/>
            </a:pPr>
            <a:r>
              <a:rPr lang="en-US" sz="1050" dirty="0">
                <a:solidFill>
                  <a:srgbClr val="94A3B8"/>
                </a:solidFill>
              </a:rPr>
              <a:t>99.82% accuracy · F1-W=0.9982 · Strong across all 5 classes including rare U2R (F1=0.96). Used for explainability.</a:t>
            </a:r>
            <a:endParaRPr lang="en-US" sz="1050" dirty="0"/>
          </a:p>
        </p:txBody>
      </p:sp>
      <p:sp>
        <p:nvSpPr>
          <p:cNvPr id="14" name="Shape 12"/>
          <p:cNvSpPr/>
          <p:nvPr/>
        </p:nvSpPr>
        <p:spPr>
          <a:xfrm>
            <a:off x="8321040" y="1207008"/>
            <a:ext cx="3657600" cy="1325880"/>
          </a:xfrm>
          <a:prstGeom prst="rect">
            <a:avLst/>
          </a:prstGeom>
          <a:solidFill>
            <a:srgbClr val="0D2447"/>
          </a:solidFill>
          <a:ln/>
          <a:effectLst>
            <a:outerShdw blurRad="101600" dist="38100" dir="8100000" algn="bl" rotWithShape="0">
              <a:srgbClr val="000000">
                <a:alpha val="12000"/>
              </a:srgbClr>
            </a:outerShdw>
          </a:effectLst>
        </p:spPr>
      </p:sp>
      <p:sp>
        <p:nvSpPr>
          <p:cNvPr id="15" name="Shape 13"/>
          <p:cNvSpPr/>
          <p:nvPr/>
        </p:nvSpPr>
        <p:spPr>
          <a:xfrm>
            <a:off x="8321040" y="1207008"/>
            <a:ext cx="3657600" cy="45720"/>
          </a:xfrm>
          <a:prstGeom prst="rect">
            <a:avLst/>
          </a:prstGeom>
          <a:solidFill>
            <a:srgbClr val="F59E0B"/>
          </a:solidFill>
          <a:ln/>
        </p:spPr>
      </p:sp>
      <p:sp>
        <p:nvSpPr>
          <p:cNvPr id="16" name="Text 14"/>
          <p:cNvSpPr/>
          <p:nvPr/>
        </p:nvSpPr>
        <p:spPr>
          <a:xfrm>
            <a:off x="8458200" y="1344168"/>
            <a:ext cx="3383280" cy="292608"/>
          </a:xfrm>
          <a:prstGeom prst="rect">
            <a:avLst/>
          </a:prstGeom>
          <a:noFill/>
          <a:ln/>
        </p:spPr>
        <p:txBody>
          <a:bodyPr wrap="square" rtlCol="0" anchor="ctr"/>
          <a:lstStyle/>
          <a:p>
            <a:pPr marL="0" indent="0">
              <a:buNone/>
            </a:pPr>
            <a:r>
              <a:rPr lang="en-US" sz="1400" b="1" dirty="0">
                <a:solidFill>
                  <a:srgbClr val="F59E0B"/>
                </a:solidFill>
              </a:rPr>
              <a:t>Isolation Forest — Zero-Day</a:t>
            </a:r>
            <a:endParaRPr lang="en-US" sz="1400" dirty="0"/>
          </a:p>
        </p:txBody>
      </p:sp>
      <p:sp>
        <p:nvSpPr>
          <p:cNvPr id="17" name="Text 15"/>
          <p:cNvSpPr/>
          <p:nvPr/>
        </p:nvSpPr>
        <p:spPr>
          <a:xfrm>
            <a:off x="8458200" y="1682496"/>
            <a:ext cx="3383280" cy="777240"/>
          </a:xfrm>
          <a:prstGeom prst="rect">
            <a:avLst/>
          </a:prstGeom>
          <a:noFill/>
          <a:ln/>
        </p:spPr>
        <p:txBody>
          <a:bodyPr wrap="square" rtlCol="0" anchor="ctr"/>
          <a:lstStyle/>
          <a:p>
            <a:pPr marL="0" indent="0">
              <a:lnSpc>
                <a:spcPct val="130000"/>
              </a:lnSpc>
              <a:buNone/>
            </a:pPr>
            <a:r>
              <a:rPr lang="en-US" sz="1050" dirty="0">
                <a:solidFill>
                  <a:srgbClr val="94A3B8"/>
                </a:solidFill>
              </a:rPr>
              <a:t>Flagged 4,813 zero-day events on the test set that the supervised layer classified as Normal and would have missed entirely.</a:t>
            </a:r>
            <a:endParaRPr lang="en-US" sz="1050" dirty="0"/>
          </a:p>
        </p:txBody>
      </p:sp>
      <p:sp>
        <p:nvSpPr>
          <p:cNvPr id="18" name="Shape 16"/>
          <p:cNvSpPr/>
          <p:nvPr/>
        </p:nvSpPr>
        <p:spPr>
          <a:xfrm>
            <a:off x="365760" y="2670048"/>
            <a:ext cx="3657600" cy="1325880"/>
          </a:xfrm>
          <a:prstGeom prst="rect">
            <a:avLst/>
          </a:prstGeom>
          <a:solidFill>
            <a:srgbClr val="0D2447"/>
          </a:solidFill>
          <a:ln/>
          <a:effectLst>
            <a:outerShdw blurRad="101600" dist="38100" dir="8100000" algn="bl" rotWithShape="0">
              <a:srgbClr val="000000">
                <a:alpha val="12000"/>
              </a:srgbClr>
            </a:outerShdw>
          </a:effectLst>
        </p:spPr>
      </p:sp>
      <p:sp>
        <p:nvSpPr>
          <p:cNvPr id="19" name="Shape 17"/>
          <p:cNvSpPr/>
          <p:nvPr/>
        </p:nvSpPr>
        <p:spPr>
          <a:xfrm>
            <a:off x="365760" y="2670048"/>
            <a:ext cx="3657600" cy="45720"/>
          </a:xfrm>
          <a:prstGeom prst="rect">
            <a:avLst/>
          </a:prstGeom>
          <a:solidFill>
            <a:srgbClr val="6366F1"/>
          </a:solidFill>
          <a:ln/>
        </p:spPr>
      </p:sp>
      <p:sp>
        <p:nvSpPr>
          <p:cNvPr id="20" name="Text 18"/>
          <p:cNvSpPr/>
          <p:nvPr/>
        </p:nvSpPr>
        <p:spPr>
          <a:xfrm>
            <a:off x="502920" y="2807208"/>
            <a:ext cx="3383280" cy="292608"/>
          </a:xfrm>
          <a:prstGeom prst="rect">
            <a:avLst/>
          </a:prstGeom>
          <a:noFill/>
          <a:ln/>
        </p:spPr>
        <p:txBody>
          <a:bodyPr wrap="square" rtlCol="0" anchor="ctr"/>
          <a:lstStyle/>
          <a:p>
            <a:pPr marL="0" indent="0">
              <a:buNone/>
            </a:pPr>
            <a:r>
              <a:rPr lang="en-US" sz="1400" b="1" dirty="0">
                <a:solidFill>
                  <a:srgbClr val="6366F1"/>
                </a:solidFill>
              </a:rPr>
              <a:t>Hybrid Engine — Key Innovation</a:t>
            </a:r>
            <a:endParaRPr lang="en-US" sz="1400" dirty="0"/>
          </a:p>
        </p:txBody>
      </p:sp>
      <p:sp>
        <p:nvSpPr>
          <p:cNvPr id="21" name="Text 19"/>
          <p:cNvSpPr/>
          <p:nvPr/>
        </p:nvSpPr>
        <p:spPr>
          <a:xfrm>
            <a:off x="502920" y="3145536"/>
            <a:ext cx="3383280" cy="777240"/>
          </a:xfrm>
          <a:prstGeom prst="rect">
            <a:avLst/>
          </a:prstGeom>
          <a:noFill/>
          <a:ln/>
        </p:spPr>
        <p:txBody>
          <a:bodyPr wrap="square" rtlCol="0" anchor="ctr"/>
          <a:lstStyle/>
          <a:p>
            <a:pPr marL="0" indent="0">
              <a:lnSpc>
                <a:spcPct val="130000"/>
              </a:lnSpc>
              <a:buNone/>
            </a:pPr>
            <a:r>
              <a:rPr lang="en-US" sz="1050" dirty="0">
                <a:solidFill>
                  <a:srgbClr val="94A3B8"/>
                </a:solidFill>
              </a:rPr>
              <a:t>Combined approach is more effective than either layer alone. Known attacks classified; unknown threats flagged for analyst review.</a:t>
            </a:r>
            <a:endParaRPr lang="en-US" sz="1050" dirty="0"/>
          </a:p>
        </p:txBody>
      </p:sp>
      <p:sp>
        <p:nvSpPr>
          <p:cNvPr id="22" name="Shape 20"/>
          <p:cNvSpPr/>
          <p:nvPr/>
        </p:nvSpPr>
        <p:spPr>
          <a:xfrm>
            <a:off x="4343400" y="2670048"/>
            <a:ext cx="3657600" cy="1325880"/>
          </a:xfrm>
          <a:prstGeom prst="rect">
            <a:avLst/>
          </a:prstGeom>
          <a:solidFill>
            <a:srgbClr val="0D2447"/>
          </a:solidFill>
          <a:ln/>
          <a:effectLst>
            <a:outerShdw blurRad="101600" dist="38100" dir="8100000" algn="bl" rotWithShape="0">
              <a:srgbClr val="000000">
                <a:alpha val="12000"/>
              </a:srgbClr>
            </a:outerShdw>
          </a:effectLst>
        </p:spPr>
      </p:sp>
      <p:sp>
        <p:nvSpPr>
          <p:cNvPr id="23" name="Shape 21"/>
          <p:cNvSpPr/>
          <p:nvPr/>
        </p:nvSpPr>
        <p:spPr>
          <a:xfrm>
            <a:off x="4343400" y="2670048"/>
            <a:ext cx="3657600" cy="45720"/>
          </a:xfrm>
          <a:prstGeom prst="rect">
            <a:avLst/>
          </a:prstGeom>
          <a:solidFill>
            <a:srgbClr val="EF4444"/>
          </a:solidFill>
          <a:ln/>
        </p:spPr>
      </p:sp>
      <p:sp>
        <p:nvSpPr>
          <p:cNvPr id="24" name="Text 22"/>
          <p:cNvSpPr/>
          <p:nvPr/>
        </p:nvSpPr>
        <p:spPr>
          <a:xfrm>
            <a:off x="4480560" y="2807208"/>
            <a:ext cx="3383280" cy="292608"/>
          </a:xfrm>
          <a:prstGeom prst="rect">
            <a:avLst/>
          </a:prstGeom>
          <a:noFill/>
          <a:ln/>
        </p:spPr>
        <p:txBody>
          <a:bodyPr wrap="square" rtlCol="0" anchor="ctr"/>
          <a:lstStyle/>
          <a:p>
            <a:pPr marL="0" indent="0">
              <a:buNone/>
            </a:pPr>
            <a:r>
              <a:rPr lang="en-US" sz="1400" b="1" dirty="0">
                <a:solidFill>
                  <a:srgbClr val="EF4444"/>
                </a:solidFill>
              </a:rPr>
              <a:t>Risk Scoring Module</a:t>
            </a:r>
            <a:endParaRPr lang="en-US" sz="1400" dirty="0"/>
          </a:p>
        </p:txBody>
      </p:sp>
      <p:sp>
        <p:nvSpPr>
          <p:cNvPr id="25" name="Text 23"/>
          <p:cNvSpPr/>
          <p:nvPr/>
        </p:nvSpPr>
        <p:spPr>
          <a:xfrm>
            <a:off x="4480560" y="3145536"/>
            <a:ext cx="3383280" cy="777240"/>
          </a:xfrm>
          <a:prstGeom prst="rect">
            <a:avLst/>
          </a:prstGeom>
          <a:noFill/>
          <a:ln/>
        </p:spPr>
        <p:txBody>
          <a:bodyPr wrap="square" rtlCol="0" anchor="ctr"/>
          <a:lstStyle/>
          <a:p>
            <a:pPr marL="0" indent="0">
              <a:lnSpc>
                <a:spcPct val="130000"/>
              </a:lnSpc>
              <a:buNone/>
            </a:pPr>
            <a:r>
              <a:rPr lang="en-US" sz="1050" dirty="0">
                <a:solidFill>
                  <a:srgbClr val="94A3B8"/>
                </a:solidFill>
              </a:rPr>
              <a:t>44.9% High · 42.3% Low · 12.9% Medium across 22,544 events. Enables prioritised response — most dangerous events first.</a:t>
            </a:r>
            <a:endParaRPr lang="en-US" sz="1050" dirty="0"/>
          </a:p>
        </p:txBody>
      </p:sp>
      <p:sp>
        <p:nvSpPr>
          <p:cNvPr id="26" name="Shape 24"/>
          <p:cNvSpPr/>
          <p:nvPr/>
        </p:nvSpPr>
        <p:spPr>
          <a:xfrm>
            <a:off x="8321040" y="2670048"/>
            <a:ext cx="3657600" cy="1325880"/>
          </a:xfrm>
          <a:prstGeom prst="rect">
            <a:avLst/>
          </a:prstGeom>
          <a:solidFill>
            <a:srgbClr val="0D2447"/>
          </a:solidFill>
          <a:ln/>
          <a:effectLst>
            <a:outerShdw blurRad="101600" dist="38100" dir="8100000" algn="bl" rotWithShape="0">
              <a:srgbClr val="000000">
                <a:alpha val="12000"/>
              </a:srgbClr>
            </a:outerShdw>
          </a:effectLst>
        </p:spPr>
      </p:sp>
      <p:sp>
        <p:nvSpPr>
          <p:cNvPr id="27" name="Shape 25"/>
          <p:cNvSpPr/>
          <p:nvPr/>
        </p:nvSpPr>
        <p:spPr>
          <a:xfrm>
            <a:off x="8321040" y="2670048"/>
            <a:ext cx="3657600" cy="45720"/>
          </a:xfrm>
          <a:prstGeom prst="rect">
            <a:avLst/>
          </a:prstGeom>
          <a:solidFill>
            <a:srgbClr val="A855F7"/>
          </a:solidFill>
          <a:ln/>
        </p:spPr>
      </p:sp>
      <p:sp>
        <p:nvSpPr>
          <p:cNvPr id="28" name="Text 26"/>
          <p:cNvSpPr/>
          <p:nvPr/>
        </p:nvSpPr>
        <p:spPr>
          <a:xfrm>
            <a:off x="8458200" y="2807208"/>
            <a:ext cx="3383280" cy="292608"/>
          </a:xfrm>
          <a:prstGeom prst="rect">
            <a:avLst/>
          </a:prstGeom>
          <a:noFill/>
          <a:ln/>
        </p:spPr>
        <p:txBody>
          <a:bodyPr wrap="square" rtlCol="0" anchor="ctr"/>
          <a:lstStyle/>
          <a:p>
            <a:pPr marL="0" indent="0">
              <a:buNone/>
            </a:pPr>
            <a:r>
              <a:rPr lang="en-US" sz="1400" b="1" dirty="0">
                <a:solidFill>
                  <a:srgbClr val="A855F7"/>
                </a:solidFill>
              </a:rPr>
              <a:t>Cross-Validation Confirmed</a:t>
            </a:r>
            <a:endParaRPr lang="en-US" sz="1400" dirty="0"/>
          </a:p>
        </p:txBody>
      </p:sp>
      <p:sp>
        <p:nvSpPr>
          <p:cNvPr id="29" name="Text 27"/>
          <p:cNvSpPr/>
          <p:nvPr/>
        </p:nvSpPr>
        <p:spPr>
          <a:xfrm>
            <a:off x="8458200" y="3145536"/>
            <a:ext cx="3383280" cy="777240"/>
          </a:xfrm>
          <a:prstGeom prst="rect">
            <a:avLst/>
          </a:prstGeom>
          <a:noFill/>
          <a:ln/>
        </p:spPr>
        <p:txBody>
          <a:bodyPr wrap="square" rtlCol="0" anchor="ctr"/>
          <a:lstStyle/>
          <a:p>
            <a:pPr marL="0" indent="0">
              <a:lnSpc>
                <a:spcPct val="130000"/>
              </a:lnSpc>
              <a:buNone/>
            </a:pPr>
            <a:r>
              <a:rPr lang="en-US" sz="1050" dirty="0">
                <a:solidFill>
                  <a:srgbClr val="94A3B8"/>
                </a:solidFill>
              </a:rPr>
              <a:t>XGBoost mean F1=0.9925 (std=0.0018) · RF mean F1=0.9930. Consistent across all 5 folds — robust, not a lucky split.</a:t>
            </a:r>
            <a:endParaRPr lang="en-US" sz="1050" dirty="0"/>
          </a:p>
        </p:txBody>
      </p:sp>
      <p:sp>
        <p:nvSpPr>
          <p:cNvPr id="30" name="Shape 28"/>
          <p:cNvSpPr/>
          <p:nvPr/>
        </p:nvSpPr>
        <p:spPr>
          <a:xfrm>
            <a:off x="365760" y="4251960"/>
            <a:ext cx="11430000" cy="36576"/>
          </a:xfrm>
          <a:prstGeom prst="rect">
            <a:avLst/>
          </a:prstGeom>
          <a:solidFill>
            <a:srgbClr val="1E3A5F"/>
          </a:solidFill>
          <a:ln/>
        </p:spPr>
      </p:sp>
      <p:sp>
        <p:nvSpPr>
          <p:cNvPr id="31" name="Text 29"/>
          <p:cNvSpPr/>
          <p:nvPr/>
        </p:nvSpPr>
        <p:spPr>
          <a:xfrm>
            <a:off x="365760" y="4370832"/>
            <a:ext cx="11430000" cy="731520"/>
          </a:xfrm>
          <a:prstGeom prst="rect">
            <a:avLst/>
          </a:prstGeom>
          <a:noFill/>
          <a:ln/>
        </p:spPr>
        <p:txBody>
          <a:bodyPr wrap="square" rtlCol="0" anchor="ctr"/>
          <a:lstStyle/>
          <a:p>
            <a:pPr marL="0" indent="0">
              <a:lnSpc>
                <a:spcPct val="150000"/>
              </a:lnSpc>
              <a:buNone/>
            </a:pPr>
            <a:r>
              <a:rPr lang="en-US" sz="1400" dirty="0">
                <a:solidFill>
                  <a:srgbClr val="94A3B8"/>
                </a:solidFill>
              </a:rPr>
              <a:t>These results confirm that hybrid machine learning combining supervised classification and unsupervised anomaly detection is more effective for network intrusion detection than either approach used in isolation. The system successfully detected all major categories of network intrusion on the NSL-KDD benchmark with high accuracy, strong per-class F1 scores, and meaningful risk-level prioritisation.</a:t>
            </a:r>
            <a:endParaRPr lang="en-US" sz="1400" dirty="0"/>
          </a:p>
        </p:txBody>
      </p:sp>
      <p:sp>
        <p:nvSpPr>
          <p:cNvPr id="32" name="Text 30"/>
          <p:cNvSpPr/>
          <p:nvPr/>
        </p:nvSpPr>
        <p:spPr>
          <a:xfrm>
            <a:off x="685800" y="5257800"/>
            <a:ext cx="2286000" cy="548640"/>
          </a:xfrm>
          <a:prstGeom prst="rect">
            <a:avLst/>
          </a:prstGeom>
          <a:noFill/>
          <a:ln/>
        </p:spPr>
        <p:txBody>
          <a:bodyPr wrap="square" rtlCol="0" anchor="ctr"/>
          <a:lstStyle/>
          <a:p>
            <a:pPr marL="0" indent="0" algn="ctr">
              <a:buNone/>
            </a:pPr>
            <a:r>
              <a:rPr lang="en-US" sz="2600" b="1" dirty="0">
                <a:solidFill>
                  <a:srgbClr val="0EA5E9"/>
                </a:solidFill>
                <a:latin typeface="Calibri" pitchFamily="34" charset="0"/>
                <a:ea typeface="Calibri" pitchFamily="34" charset="-122"/>
                <a:cs typeface="Calibri" pitchFamily="34" charset="-120"/>
              </a:rPr>
              <a:t>6</a:t>
            </a:r>
            <a:endParaRPr lang="en-US" sz="2600" dirty="0"/>
          </a:p>
        </p:txBody>
      </p:sp>
      <p:sp>
        <p:nvSpPr>
          <p:cNvPr id="33" name="Text 31"/>
          <p:cNvSpPr/>
          <p:nvPr/>
        </p:nvSpPr>
        <p:spPr>
          <a:xfrm>
            <a:off x="685800" y="5806440"/>
            <a:ext cx="2286000" cy="256032"/>
          </a:xfrm>
          <a:prstGeom prst="rect">
            <a:avLst/>
          </a:prstGeom>
          <a:noFill/>
          <a:ln/>
        </p:spPr>
        <p:txBody>
          <a:bodyPr wrap="square" rtlCol="0" anchor="ctr"/>
          <a:lstStyle/>
          <a:p>
            <a:pPr marL="0" indent="0" algn="ctr">
              <a:buNone/>
            </a:pPr>
            <a:r>
              <a:rPr lang="en-US" sz="950" dirty="0">
                <a:solidFill>
                  <a:srgbClr val="94A3B8"/>
                </a:solidFill>
              </a:rPr>
              <a:t>ML Models Trained</a:t>
            </a:r>
            <a:endParaRPr lang="en-US" sz="950" dirty="0"/>
          </a:p>
        </p:txBody>
      </p:sp>
      <p:sp>
        <p:nvSpPr>
          <p:cNvPr id="34" name="Text 32"/>
          <p:cNvSpPr/>
          <p:nvPr/>
        </p:nvSpPr>
        <p:spPr>
          <a:xfrm>
            <a:off x="3538728" y="5257800"/>
            <a:ext cx="2286000" cy="548640"/>
          </a:xfrm>
          <a:prstGeom prst="rect">
            <a:avLst/>
          </a:prstGeom>
          <a:noFill/>
          <a:ln/>
        </p:spPr>
        <p:txBody>
          <a:bodyPr wrap="square" rtlCol="0" anchor="ctr"/>
          <a:lstStyle/>
          <a:p>
            <a:pPr marL="0" indent="0" algn="ctr">
              <a:buNone/>
            </a:pPr>
            <a:r>
              <a:rPr lang="en-US" sz="2600" b="1" dirty="0">
                <a:solidFill>
                  <a:srgbClr val="0EA5E9"/>
                </a:solidFill>
                <a:latin typeface="Calibri" pitchFamily="34" charset="0"/>
                <a:ea typeface="Calibri" pitchFamily="34" charset="-122"/>
                <a:cs typeface="Calibri" pitchFamily="34" charset="-120"/>
              </a:rPr>
              <a:t>99.88%</a:t>
            </a:r>
            <a:endParaRPr lang="en-US" sz="2600" dirty="0"/>
          </a:p>
        </p:txBody>
      </p:sp>
      <p:sp>
        <p:nvSpPr>
          <p:cNvPr id="35" name="Text 33"/>
          <p:cNvSpPr/>
          <p:nvPr/>
        </p:nvSpPr>
        <p:spPr>
          <a:xfrm>
            <a:off x="3538728" y="5806440"/>
            <a:ext cx="2286000" cy="256032"/>
          </a:xfrm>
          <a:prstGeom prst="rect">
            <a:avLst/>
          </a:prstGeom>
          <a:noFill/>
          <a:ln/>
        </p:spPr>
        <p:txBody>
          <a:bodyPr wrap="square" rtlCol="0" anchor="ctr"/>
          <a:lstStyle/>
          <a:p>
            <a:pPr marL="0" indent="0" algn="ctr">
              <a:buNone/>
            </a:pPr>
            <a:r>
              <a:rPr lang="en-US" sz="950" dirty="0">
                <a:solidFill>
                  <a:srgbClr val="94A3B8"/>
                </a:solidFill>
              </a:rPr>
              <a:t>Best Val Accuracy</a:t>
            </a:r>
            <a:endParaRPr lang="en-US" sz="950" dirty="0"/>
          </a:p>
        </p:txBody>
      </p:sp>
      <p:sp>
        <p:nvSpPr>
          <p:cNvPr id="36" name="Text 34"/>
          <p:cNvSpPr/>
          <p:nvPr/>
        </p:nvSpPr>
        <p:spPr>
          <a:xfrm>
            <a:off x="6391656" y="5257800"/>
            <a:ext cx="2286000" cy="548640"/>
          </a:xfrm>
          <a:prstGeom prst="rect">
            <a:avLst/>
          </a:prstGeom>
          <a:noFill/>
          <a:ln/>
        </p:spPr>
        <p:txBody>
          <a:bodyPr wrap="square" rtlCol="0" anchor="ctr"/>
          <a:lstStyle/>
          <a:p>
            <a:pPr marL="0" indent="0" algn="ctr">
              <a:buNone/>
            </a:pPr>
            <a:r>
              <a:rPr lang="en-US" sz="2600" b="1" dirty="0">
                <a:solidFill>
                  <a:srgbClr val="0EA5E9"/>
                </a:solidFill>
                <a:latin typeface="Calibri" pitchFamily="34" charset="0"/>
                <a:ea typeface="Calibri" pitchFamily="34" charset="-122"/>
                <a:cs typeface="Calibri" pitchFamily="34" charset="-120"/>
              </a:rPr>
              <a:t>4,813</a:t>
            </a:r>
            <a:endParaRPr lang="en-US" sz="2600" dirty="0"/>
          </a:p>
        </p:txBody>
      </p:sp>
      <p:sp>
        <p:nvSpPr>
          <p:cNvPr id="37" name="Text 35"/>
          <p:cNvSpPr/>
          <p:nvPr/>
        </p:nvSpPr>
        <p:spPr>
          <a:xfrm>
            <a:off x="6391656" y="5806440"/>
            <a:ext cx="2286000" cy="256032"/>
          </a:xfrm>
          <a:prstGeom prst="rect">
            <a:avLst/>
          </a:prstGeom>
          <a:noFill/>
          <a:ln/>
        </p:spPr>
        <p:txBody>
          <a:bodyPr wrap="square" rtlCol="0" anchor="ctr"/>
          <a:lstStyle/>
          <a:p>
            <a:pPr marL="0" indent="0" algn="ctr">
              <a:buNone/>
            </a:pPr>
            <a:r>
              <a:rPr lang="en-US" sz="950" dirty="0">
                <a:solidFill>
                  <a:srgbClr val="94A3B8"/>
                </a:solidFill>
              </a:rPr>
              <a:t>Zero-Days Flagged</a:t>
            </a:r>
            <a:endParaRPr lang="en-US" sz="950" dirty="0"/>
          </a:p>
        </p:txBody>
      </p:sp>
      <p:sp>
        <p:nvSpPr>
          <p:cNvPr id="38" name="Text 36"/>
          <p:cNvSpPr/>
          <p:nvPr/>
        </p:nvSpPr>
        <p:spPr>
          <a:xfrm>
            <a:off x="9244584" y="5257800"/>
            <a:ext cx="2286000" cy="548640"/>
          </a:xfrm>
          <a:prstGeom prst="rect">
            <a:avLst/>
          </a:prstGeom>
          <a:noFill/>
          <a:ln/>
        </p:spPr>
        <p:txBody>
          <a:bodyPr wrap="square" rtlCol="0" anchor="ctr"/>
          <a:lstStyle/>
          <a:p>
            <a:pPr marL="0" indent="0" algn="ctr">
              <a:buNone/>
            </a:pPr>
            <a:r>
              <a:rPr lang="en-US" sz="2600" b="1" dirty="0">
                <a:solidFill>
                  <a:srgbClr val="0EA5E9"/>
                </a:solidFill>
                <a:latin typeface="Calibri" pitchFamily="34" charset="0"/>
                <a:ea typeface="Calibri" pitchFamily="34" charset="-122"/>
                <a:cs typeface="Calibri" pitchFamily="34" charset="-120"/>
              </a:rPr>
              <a:t>22,544</a:t>
            </a:r>
            <a:endParaRPr lang="en-US" sz="2600" dirty="0"/>
          </a:p>
        </p:txBody>
      </p:sp>
      <p:sp>
        <p:nvSpPr>
          <p:cNvPr id="39" name="Text 37"/>
          <p:cNvSpPr/>
          <p:nvPr/>
        </p:nvSpPr>
        <p:spPr>
          <a:xfrm>
            <a:off x="9244584" y="5806440"/>
            <a:ext cx="2286000" cy="256032"/>
          </a:xfrm>
          <a:prstGeom prst="rect">
            <a:avLst/>
          </a:prstGeom>
          <a:noFill/>
          <a:ln/>
        </p:spPr>
        <p:txBody>
          <a:bodyPr wrap="square" rtlCol="0" anchor="ctr"/>
          <a:lstStyle/>
          <a:p>
            <a:pPr marL="0" indent="0" algn="ctr">
              <a:buNone/>
            </a:pPr>
            <a:r>
              <a:rPr lang="en-US" sz="950" dirty="0">
                <a:solidFill>
                  <a:srgbClr val="94A3B8"/>
                </a:solidFill>
              </a:rPr>
              <a:t>Events Risk-Scored</a:t>
            </a:r>
            <a:endParaRPr lang="en-US" sz="950" dirty="0"/>
          </a:p>
        </p:txBody>
      </p:sp>
      <p:sp>
        <p:nvSpPr>
          <p:cNvPr id="40" name="Text 38"/>
          <p:cNvSpPr/>
          <p:nvPr/>
        </p:nvSpPr>
        <p:spPr>
          <a:xfrm>
            <a:off x="365760" y="6400800"/>
            <a:ext cx="11430000" cy="256032"/>
          </a:xfrm>
          <a:prstGeom prst="rect">
            <a:avLst/>
          </a:prstGeom>
          <a:noFill/>
          <a:ln/>
        </p:spPr>
        <p:txBody>
          <a:bodyPr wrap="square" rtlCol="0" anchor="ctr"/>
          <a:lstStyle/>
          <a:p>
            <a:pPr marL="0" indent="0" algn="ctr">
              <a:buNone/>
            </a:pPr>
            <a:r>
              <a:rPr lang="en-US" sz="950" dirty="0">
                <a:solidFill>
                  <a:srgbClr val="1E3A5F"/>
                </a:solidFill>
              </a:rPr>
              <a:t>Dataset: NSL-KDD  ·  Makerere University, College of Computing and Information Sciences  ·  May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4412</Words>
  <Application>Microsoft Office PowerPoint</Application>
  <PresentationFormat>Widescreen</PresentationFormat>
  <Paragraphs>747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15</cp:revision>
  <dcterms:created xsi:type="dcterms:W3CDTF">2026-05-31T05:52:44Z</dcterms:created>
  <dcterms:modified xsi:type="dcterms:W3CDTF">2026-06-01T20:45:33Z</dcterms:modified>
</cp:coreProperties>
</file>